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4522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Opening: the cloud bill is ₹68.1 L a month and rising. This plan targets 15–20% savings within 90 days, and is explicit about how firm each number 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September spend was ₹68.11 L: Azure ₹29.81 L and WebberStop ₹38.30 L. The goal is 15–20% (₹10.2 L to ₹13.6 L). The plan ceiling is up to ₹14.7 L, 22% of spend, but only ₹24.8K is proven by bills and measured load today. Everything else needs an owner to say yes.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Total spend moved from ₹62.4 L in April to ₹68.1 L in September, up 9%. WebberStop rose 24% while Azure fell 5%. Kubernetes usage went from ₹1.9K in June to ₹2.66 L in September, and GPU servers from ₹67.5K to ₹2.12 L; together they are 64% of the ₹7.4 L WebberStop increase. The September bill understates the run-rate because servers were added during the month.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On 134 monitored WebberStop servers, average CPU in use is 8% of the vCPU paid for, and 21% in busy hours. Averages hide spikes, so only servers that also pass a spike test are proposed for a smaller size. 36 servers peaked below 15% CPU even in their busiest hours; 59 servers hold large disks that never passed half full. 19 other servers are the opposite: 12 have disks 99% full or more, and the audit logged 5,627 alerts on them in 30 days.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Proven means backed by the bills or 30 days of hourly server load. To confirm means real but needing an owner’s yes; it is a ceiling that covers the old Azure side, silent and idle servers, the missing discount, disks and further right-sizing. Estimate or target rests on an assumed price or percentage: Azure and backup tuning, the first moves to WebberStop and curbing Kubernetes growth. Only the first two count as saved. Azure figures are net of an assumed 15% partner discount, and the ₹2.64 L Kubernetes growth is not in the ceiling.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seven largest actions by monthly saving. Moving workloads (₹3.26 L) and reserving and trimming Azure (₹2.95 L) are estimates. Switching off idle servers (₹2.34 L), stopping the old Azure side of moved servers (₹2.01 L), silent servers (₹1.26 L) and the missing 40% discount (₹89.3K) need an owner to confirm. The Kubernetes figure is half of the ₹2.64 L growth, a target rather than evidence. Actions overlap slightly, so the bars are not added together.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Cumulative saving: Step 1 gives up to ₹4.29 L by day 30, Step 2 takes it to ₹10.85 L by day 90 (16%), the first three moves to WebberStop add ₹2.52 L (estimate) and a Kubernetes curb adds about ₹1.3 L (target), reaching ₹14.7 L or 22%. The goal band is 15% (₹10.2 L) to 20% (₹13.6 L). Evidence mix of the ceiling: ₹24.8K proven, ₹7.7 L needs owners to say yes, ₹6.8 L rests on assumed percentages or targets. To reach 15%, about 70% of the ceiling has to land.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Step 1 (days 0–30): silent servers, the old Azure side, the discount claim, capacity fixes, monitoring and the Kubernetes breakdown. Step 2 (days 30–90): switch off, right-size, shrink disks, reserve and trim. Step 3 (day 60 to month 6): the first three workloads move by day 90, the rest by month 6. Step 4 is a monthly re-run. Days count from approval of the plan.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Step total is approximately ₹4.29 L a month; lines overlap slightly. The capacity fixes come first so that resizing elsewhere never puts a stressed server at risk: 12 of the 19 servers have a disk 99% full or more. The 70 unmeasured servers cost ₹9.15 L a month, about a quarter of the bill, and include the new ProdSQL server and both GPU servers. The old Azure side of ProdSQL is 95% of the ₹2.01 L figure. Two of the 40% discount lines are GPU servers (₹84.8K of the ₹89.3K). Only ₹3.4K of the ₹12.4K clean-up is proven by the bill.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Step total is approximately ₹6.56 L a month. The 36 idle servers peaked below 15% CPU even in their busiest hours and averaged under 5% for 30 days. Owners answer by day 40; we snapshot and stop, then delete after two weeks. GPU load is not measured, so the two GPU servers cannot be judged yet. Right-sizing starts in week 5 with the 12 proven servers, one per maintenance window. Reservations are bought only for servers that stay, once the move list is firm at day 60. The 10–25% trim percentages are assumptions, so the ₹2.95 L is an estimate until owners review the biggest resources.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Six Azure workloads cost ₹4.61 L a month for servers, disks and network items; the same sizes at WebberStop’s current prices are about ₹1.35 L. WebberStop has no ingress or egress charges and cheaper Windows and SQL Server licences than Azure, which are not counted here. Quote and compliance review start in days 0–30, the pilot lands by day 60 and the first three workloads (₹2.52 L) by day 90. Legal and security must confirm the data may sit with WebberStop, Windows and SQL Server licence terms must allow the move, and the pilot measures latency to users and databases.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ABHA looks cheaper at WebberStop, but only if Legal and Security approve data location, certifications and customer contracts; the review starts in week 1. Azure SQL and App Service cannot be copied to WebberStop as they are; get a quote in Step 1. Seven Azure servers are not in Zabbix, so their size is unknown; install the agent or list the sizes in Step 1.</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Each action in the plan carries a verify-before-acting list. Common rules: check the backup is restorable and nothing still connects before stopping a server; match old and new sides by workload, not just name; check month-end peaks fall inside the 30-day window before resizing; confirm licence terms for core-based software; and get WebberStop’s discount answer in writing before claiming the saving. The high-risk items are the capacity fixes and the compliance review.</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Infra lead: old Azure side of four servers, backups of retired servers and backup retention (retention by day 90). Procurement: the missing 40% discount, whether stopped test servers bill less, and the WebberStop quote for the moves. DevOps with app owners: silent servers, IPs, capacity fixes, monitoring and the Kubernetes breakdown by day 30; idle servers, right-sizing and disks by day 90. DBA: SQL memory cap, database right-sizing and hot database servers, with re-platforming by month 6. Legal and Security: review starts in week 1 and clears by day 45. Cloud lead: reservations, trims and the first three moves by day 90, remaining moves by month 6, then monthly tuning.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After the big moves, the remaining Azure services (Azure SQL, NAT gateways, application gateways, Log Analytics, public IPs, VPN gateways) add up to ₹44.3K a month at an assumed 15%. More valuable is the cycle itself: every month, new Zabbix data decides the next switch-off, resize or move. Only proven and owner-confirmed savings count as saved.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Close with the five asks. Proven today is ₹24.8K a month; up to ₹7.7 L more depends on owners’ answers within 14 days. Authorise the discount request and the quote for the six workloads that could move, with the first three by day 90. Start the legal and security review now. Ask DevOps and DBA to size the capacity-fix budget in week 1. Review progress at day 30 and day 90 against the 15–20% goal.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109"/>
            <a:ext cx="10566400" cy="398264"/>
          </a:xfrm>
          <a:prstGeom prst="rect">
            <a:avLst/>
          </a:prstGeom>
          <a:noFill/>
          <a:ln/>
        </p:spPr>
        <p:txBody>
          <a:bodyPr wrap="square" lIns="0" tIns="0" rIns="0" bIns="0" rtlCol="0" anchor="t"/>
          <a:lstStyle>
            <a:lvl1pPr marL="0" indent="0" algn="l">
              <a:lnSpc>
                <a:spcPct val="115000"/>
              </a:lnSpc>
              <a:buNone/>
              <a:defRPr lang="en-US" sz="2800" dirty="0">
                <a:solidFill>
                  <a:srgbClr val="14324A"/>
                </a:solidFill>
                <a:latin typeface="Caladea" pitchFamily="34" charset="0"/>
                <a:ea typeface="Caladea" pitchFamily="34" charset="-122"/>
                <a:cs typeface="Caladea"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917173"/>
            <a:ext cx="10566400" cy="4128027"/>
          </a:xfrm>
          <a:prstGeom prst="rect">
            <a:avLst/>
          </a:prstGeom>
          <a:noFill/>
          <a:ln/>
        </p:spPr>
        <p:txBody>
          <a:bodyPr wrap="square" lIns="0" tIns="0" rIns="0" bIns="0" rtlCol="0" anchor="t"/>
          <a:lstStyle>
            <a:lvl1pPr marL="0" indent="0" algn="l">
              <a:lnSpc>
                <a:spcPct val="140000"/>
              </a:lnSpc>
              <a:buNone/>
              <a:defRPr lang="en-US" sz="1600" dirty="0">
                <a:solidFill>
                  <a:srgbClr val="14324A"/>
                </a:solidFill>
                <a:latin typeface="Carlito" pitchFamily="34" charset="0"/>
                <a:ea typeface="Carlito" pitchFamily="34" charset="-122"/>
                <a:cs typeface="Carlit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109"/>
            <a:ext cx="10566400" cy="398264"/>
          </a:xfrm>
          <a:prstGeom prst="rect">
            <a:avLst/>
          </a:prstGeom>
          <a:noFill/>
          <a:ln/>
        </p:spPr>
        <p:txBody>
          <a:bodyPr wrap="square" lIns="0" tIns="0" rIns="0" bIns="0" rtlCol="0" anchor="t"/>
          <a:lstStyle>
            <a:lvl1pPr marL="0" indent="0" algn="l">
              <a:lnSpc>
                <a:spcPct val="115000"/>
              </a:lnSpc>
              <a:buNone/>
              <a:defRPr lang="en-US" sz="2800" dirty="0">
                <a:solidFill>
                  <a:srgbClr val="14324A"/>
                </a:solidFill>
                <a:latin typeface="Caladea" pitchFamily="34" charset="0"/>
                <a:ea typeface="Caladea" pitchFamily="34" charset="-122"/>
                <a:cs typeface="Caladea"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917173"/>
            <a:ext cx="10566400" cy="4128027"/>
          </a:xfrm>
          <a:prstGeom prst="rect">
            <a:avLst/>
          </a:prstGeom>
          <a:noFill/>
          <a:ln/>
        </p:spPr>
        <p:txBody>
          <a:bodyPr wrap="square" lIns="0" tIns="0" rIns="0" bIns="0" rtlCol="0" anchor="t"/>
          <a:lstStyle>
            <a:lvl1pPr marL="0" indent="0" algn="l">
              <a:lnSpc>
                <a:spcPct val="140000"/>
              </a:lnSpc>
              <a:buNone/>
              <a:defRPr lang="en-US" sz="1600" dirty="0">
                <a:solidFill>
                  <a:srgbClr val="14324A"/>
                </a:solidFill>
                <a:latin typeface="Carlito" pitchFamily="34" charset="0"/>
                <a:ea typeface="Carlito" pitchFamily="34" charset="-122"/>
                <a:cs typeface="Carlit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55600" cy="6858000"/>
          </a:xfrm>
          <a:prstGeom prst="rect">
            <a:avLst/>
          </a:prstGeom>
          <a:solidFill>
            <a:srgbClr val="1F7AB8"/>
          </a:solidFill>
          <a:ln/>
        </p:spPr>
        <p:txBody>
          <a:bodyPr/>
          <a:lstStyle/>
          <a:p>
            <a:endParaRPr lang="en-IN"/>
          </a:p>
        </p:txBody>
      </p:sp>
      <p:sp>
        <p:nvSpPr>
          <p:cNvPr id="3" name="Text 1"/>
          <p:cNvSpPr/>
          <p:nvPr/>
        </p:nvSpPr>
        <p:spPr>
          <a:xfrm>
            <a:off x="1219200" y="812800"/>
            <a:ext cx="2657078" cy="375907"/>
          </a:xfrm>
          <a:prstGeom prst="roundRect">
            <a:avLst>
              <a:gd name="adj" fmla="val 10135"/>
            </a:avLst>
          </a:prstGeom>
          <a:solidFill>
            <a:srgbClr val="1F7AB8"/>
          </a:solidFill>
          <a:ln/>
        </p:spPr>
        <p:txBody>
          <a:bodyPr wrap="none" lIns="0" tIns="0" rIns="0" bIns="0" rtlCol="0" anchor="ctr">
            <a:normAutofit/>
          </a:bodyPr>
          <a:lstStyle/>
          <a:p>
            <a:pPr marL="0" indent="0" algn="ctr">
              <a:lnSpc>
                <a:spcPts val="1960"/>
              </a:lnSpc>
              <a:buNone/>
            </a:pPr>
            <a:r>
              <a:rPr lang="en-US" sz="1400" b="1" kern="0" spc="150" dirty="0">
                <a:solidFill>
                  <a:srgbClr val="FFFFFF"/>
                </a:solidFill>
                <a:latin typeface="Caladea" pitchFamily="18" charset="0"/>
                <a:ea typeface="Caladea" pitchFamily="18" charset="-122"/>
                <a:cs typeface="Caladea" pitchFamily="18" charset="-120"/>
              </a:rPr>
              <a:t>MANAGEMENT BRIEFING</a:t>
            </a:r>
            <a:endParaRPr lang="en-US" sz="1400" dirty="0"/>
          </a:p>
        </p:txBody>
      </p:sp>
      <p:sp>
        <p:nvSpPr>
          <p:cNvPr id="4" name="Text 2"/>
          <p:cNvSpPr>
            <a:spLocks noGrp="1"/>
          </p:cNvSpPr>
          <p:nvPr>
            <p:ph type="title"/>
          </p:nvPr>
        </p:nvSpPr>
        <p:spPr>
          <a:xfrm>
            <a:off x="1219200" y="2184003"/>
            <a:ext cx="10464800" cy="1616340"/>
          </a:xfrm>
          <a:prstGeom prst="rect">
            <a:avLst/>
          </a:prstGeom>
          <a:noFill/>
          <a:ln/>
        </p:spPr>
        <p:txBody>
          <a:bodyPr wrap="square" lIns="0" tIns="0" rIns="0" bIns="0" rtlCol="0" anchor="t">
            <a:normAutofit/>
          </a:bodyPr>
          <a:lstStyle/>
          <a:p>
            <a:pPr marL="0" indent="0" algn="l">
              <a:lnSpc>
                <a:spcPts val="6264"/>
              </a:lnSpc>
              <a:buNone/>
            </a:pPr>
            <a:r>
              <a:rPr lang="en-US" sz="5800" b="1" i="0" dirty="0">
                <a:solidFill>
                  <a:srgbClr val="14324A"/>
                </a:solidFill>
                <a:latin typeface="Caladea" pitchFamily="18" charset="0"/>
                <a:ea typeface="Caladea" pitchFamily="18" charset="-122"/>
                <a:cs typeface="Caladea" pitchFamily="18" charset="-120"/>
              </a:rPr>
              <a:t>Cut MARG’s cloud bill by 15–20% in 90 days</a:t>
            </a:r>
            <a:endParaRPr lang="en-US" sz="5800" dirty="0"/>
          </a:p>
        </p:txBody>
      </p:sp>
      <p:sp>
        <p:nvSpPr>
          <p:cNvPr id="5" name="Text 3"/>
          <p:cNvSpPr/>
          <p:nvPr/>
        </p:nvSpPr>
        <p:spPr>
          <a:xfrm>
            <a:off x="1219200" y="4028943"/>
            <a:ext cx="10464800" cy="779727"/>
          </a:xfrm>
          <a:prstGeom prst="rect">
            <a:avLst/>
          </a:prstGeom>
          <a:noFill/>
          <a:ln/>
        </p:spPr>
        <p:txBody>
          <a:bodyPr wrap="square" lIns="0" tIns="0" rIns="0" bIns="0" rtlCol="0" anchor="t">
            <a:normAutofit/>
          </a:bodyPr>
          <a:lstStyle/>
          <a:p>
            <a:pPr marL="0" indent="0" algn="l">
              <a:lnSpc>
                <a:spcPts val="2970"/>
              </a:lnSpc>
              <a:buNone/>
            </a:pPr>
            <a:r>
              <a:rPr lang="en-US" sz="2200" dirty="0">
                <a:solidFill>
                  <a:srgbClr val="4A6479"/>
                </a:solidFill>
                <a:latin typeface="Carlito" pitchFamily="34" charset="0"/>
                <a:ea typeface="Carlito" pitchFamily="34" charset="-122"/>
                <a:cs typeface="Carlito" pitchFamily="34" charset="-120"/>
              </a:rPr>
              <a:t>A 90-day action plan for Azure and WebberStop, then a monthly cycle that keeps the savings coming.</a:t>
            </a:r>
            <a:endParaRPr lang="en-US" sz="2200" dirty="0"/>
          </a:p>
        </p:txBody>
      </p:sp>
      <p:sp>
        <p:nvSpPr>
          <p:cNvPr id="6" name="Text 4"/>
          <p:cNvSpPr/>
          <p:nvPr/>
        </p:nvSpPr>
        <p:spPr>
          <a:xfrm>
            <a:off x="1219200" y="5778500"/>
            <a:ext cx="104648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6479"/>
                </a:solidFill>
                <a:latin typeface="Carlito" pitchFamily="34" charset="0"/>
                <a:ea typeface="Carlito" pitchFamily="34" charset="-122"/>
                <a:cs typeface="Carlito" pitchFamily="34" charset="-120"/>
              </a:rPr>
              <a:t>Prepared for MARG management · 20 October 2026 · Based on April–September 2026 bills and server monitoring</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35000"/>
            <a:ext cx="1793015" cy="375907"/>
          </a:xfrm>
          <a:prstGeom prst="roundRect">
            <a:avLst>
              <a:gd name="adj" fmla="val 10135"/>
            </a:avLst>
          </a:prstGeom>
          <a:solidFill>
            <a:srgbClr val="1F7AB8"/>
          </a:solidFill>
          <a:ln/>
        </p:spPr>
        <p:txBody>
          <a:bodyPr wrap="none" lIns="0" tIns="0" rIns="0" bIns="0" rtlCol="0" anchor="ctr">
            <a:normAutofit/>
          </a:bodyPr>
          <a:lstStyle/>
          <a:p>
            <a:pPr marL="0" indent="0" algn="ctr">
              <a:lnSpc>
                <a:spcPts val="1960"/>
              </a:lnSpc>
              <a:buNone/>
            </a:pPr>
            <a:r>
              <a:rPr lang="en-US" sz="1400" b="1" kern="0" spc="150" dirty="0">
                <a:solidFill>
                  <a:srgbClr val="FFFFFF"/>
                </a:solidFill>
                <a:latin typeface="Caladea" pitchFamily="18" charset="0"/>
                <a:ea typeface="Caladea" pitchFamily="18" charset="-122"/>
                <a:cs typeface="Caladea" pitchFamily="18" charset="-120"/>
              </a:rPr>
              <a:t>THE SITUATION</a:t>
            </a:r>
            <a:endParaRPr lang="en-US" sz="1400" dirty="0"/>
          </a:p>
        </p:txBody>
      </p:sp>
      <p:sp>
        <p:nvSpPr>
          <p:cNvPr id="3" name="Text 1"/>
          <p:cNvSpPr>
            <a:spLocks noGrp="1"/>
          </p:cNvSpPr>
          <p:nvPr>
            <p:ph type="title"/>
          </p:nvPr>
        </p:nvSpPr>
        <p:spPr>
          <a:xfrm>
            <a:off x="812800" y="1214107"/>
            <a:ext cx="10883392" cy="423664"/>
          </a:xfrm>
          <a:prstGeom prst="rect">
            <a:avLst/>
          </a:prstGeom>
          <a:noFill/>
          <a:ln/>
        </p:spPr>
        <p:txBody>
          <a:bodyPr wrap="square" lIns="0" tIns="0" rIns="0" bIns="0" rtlCol="0" anchor="t">
            <a:normAutofit/>
          </a:bodyPr>
          <a:lstStyle/>
          <a:p>
            <a:pPr marL="0" indent="0" algn="l">
              <a:lnSpc>
                <a:spcPts val="3136"/>
              </a:lnSpc>
              <a:buNone/>
            </a:pPr>
            <a:r>
              <a:rPr lang="en-US" sz="2800" b="1" i="0" dirty="0">
                <a:solidFill>
                  <a:srgbClr val="14324A"/>
                </a:solidFill>
                <a:latin typeface="Caladea" pitchFamily="18" charset="0"/>
                <a:ea typeface="Caladea" pitchFamily="18" charset="-122"/>
                <a:cs typeface="Caladea" pitchFamily="18" charset="-120"/>
              </a:rPr>
              <a:t>₹68.1 L a month today; up to ₹14.7 L* can be saved</a:t>
            </a:r>
            <a:endParaRPr lang="en-US" sz="2800" dirty="0"/>
          </a:p>
        </p:txBody>
      </p:sp>
      <p:sp>
        <p:nvSpPr>
          <p:cNvPr id="4" name="Shape 2"/>
          <p:cNvSpPr/>
          <p:nvPr/>
        </p:nvSpPr>
        <p:spPr>
          <a:xfrm>
            <a:off x="812800" y="1815571"/>
            <a:ext cx="3386667" cy="2269398"/>
          </a:xfrm>
          <a:prstGeom prst="roundRect">
            <a:avLst>
              <a:gd name="adj" fmla="val 2238"/>
            </a:avLst>
          </a:prstGeom>
          <a:solidFill>
            <a:srgbClr val="E6F3FB"/>
          </a:solidFill>
          <a:ln/>
        </p:spPr>
        <p:txBody>
          <a:bodyPr/>
          <a:lstStyle/>
          <a:p>
            <a:endParaRPr lang="en-IN"/>
          </a:p>
        </p:txBody>
      </p:sp>
      <p:sp>
        <p:nvSpPr>
          <p:cNvPr id="5" name="Shape 3"/>
          <p:cNvSpPr/>
          <p:nvPr/>
        </p:nvSpPr>
        <p:spPr>
          <a:xfrm>
            <a:off x="812800" y="1815571"/>
            <a:ext cx="3386667" cy="2269398"/>
          </a:xfrm>
          <a:custGeom>
            <a:avLst/>
            <a:gdLst/>
            <a:ahLst/>
            <a:cxnLst/>
            <a:rect l="l" t="t" r="r" b="b"/>
            <a:pathLst>
              <a:path w="3386667" h="2269398">
                <a:moveTo>
                  <a:pt x="0" y="50800"/>
                </a:moveTo>
                <a:lnTo>
                  <a:pt x="0" y="50800"/>
                </a:lnTo>
                <a:arcTo wR="50800" hR="50800" stAng="10800000" swAng="5400000"/>
                <a:lnTo>
                  <a:pt x="3335867" y="0"/>
                </a:lnTo>
                <a:arcTo wR="50800" hR="50800" stAng="16200000" swAng="5400000"/>
                <a:lnTo>
                  <a:pt x="3386667" y="50800"/>
                </a:lnTo>
                <a:lnTo>
                  <a:pt x="0" y="50800"/>
                </a:lnTo>
                <a:close/>
              </a:path>
            </a:pathLst>
          </a:custGeom>
          <a:solidFill>
            <a:srgbClr val="1F7AB8"/>
          </a:solidFill>
          <a:ln/>
        </p:spPr>
        <p:txBody>
          <a:bodyPr/>
          <a:lstStyle/>
          <a:p>
            <a:endParaRPr lang="en-IN"/>
          </a:p>
        </p:txBody>
      </p:sp>
      <p:sp>
        <p:nvSpPr>
          <p:cNvPr id="6" name="Text 4"/>
          <p:cNvSpPr/>
          <p:nvPr/>
        </p:nvSpPr>
        <p:spPr>
          <a:xfrm>
            <a:off x="1066800" y="2120371"/>
            <a:ext cx="2965027" cy="274307"/>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4A6479"/>
                </a:solidFill>
                <a:latin typeface="Carlito" pitchFamily="34" charset="0"/>
                <a:ea typeface="Carlito" pitchFamily="34" charset="-122"/>
                <a:cs typeface="Carlito" pitchFamily="34" charset="-120"/>
              </a:rPr>
              <a:t>SPEND TODAY</a:t>
            </a:r>
            <a:endParaRPr lang="en-US" sz="1400" dirty="0"/>
          </a:p>
        </p:txBody>
      </p:sp>
      <p:sp>
        <p:nvSpPr>
          <p:cNvPr id="7" name="Text 5"/>
          <p:cNvSpPr/>
          <p:nvPr/>
        </p:nvSpPr>
        <p:spPr>
          <a:xfrm>
            <a:off x="1066800" y="2445478"/>
            <a:ext cx="2965027" cy="751814"/>
          </a:xfrm>
          <a:prstGeom prst="rect">
            <a:avLst/>
          </a:prstGeom>
          <a:noFill/>
          <a:ln/>
        </p:spPr>
        <p:txBody>
          <a:bodyPr wrap="square" lIns="0" tIns="0" rIns="0" bIns="0" rtlCol="0" anchor="t">
            <a:normAutofit/>
          </a:bodyPr>
          <a:lstStyle/>
          <a:p>
            <a:pPr marL="0" indent="0" algn="l">
              <a:lnSpc>
                <a:spcPts val="5720"/>
              </a:lnSpc>
              <a:buNone/>
            </a:pPr>
            <a:r>
              <a:rPr lang="en-US" sz="5200" b="1" dirty="0">
                <a:solidFill>
                  <a:srgbClr val="14324A"/>
                </a:solidFill>
                <a:latin typeface="Caladea" pitchFamily="18" charset="0"/>
                <a:ea typeface="Caladea" pitchFamily="18" charset="-122"/>
                <a:cs typeface="Caladea" pitchFamily="18" charset="-120"/>
              </a:rPr>
              <a:t>₹68.1 L</a:t>
            </a:r>
            <a:endParaRPr lang="en-US" sz="5200" dirty="0"/>
          </a:p>
        </p:txBody>
      </p:sp>
      <p:sp>
        <p:nvSpPr>
          <p:cNvPr id="8" name="Text 6"/>
          <p:cNvSpPr/>
          <p:nvPr/>
        </p:nvSpPr>
        <p:spPr>
          <a:xfrm>
            <a:off x="1066800" y="3248092"/>
            <a:ext cx="2965027" cy="608277"/>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4324A"/>
                </a:solidFill>
                <a:latin typeface="Carlito" pitchFamily="34" charset="0"/>
                <a:ea typeface="Carlito" pitchFamily="34" charset="-122"/>
                <a:cs typeface="Carlito" pitchFamily="34" charset="-120"/>
              </a:rPr>
              <a:t>a month in September, up 9% since April</a:t>
            </a:r>
            <a:endParaRPr lang="en-US" sz="1700" dirty="0"/>
          </a:p>
        </p:txBody>
      </p:sp>
      <p:sp>
        <p:nvSpPr>
          <p:cNvPr id="9" name="Shape 7"/>
          <p:cNvSpPr/>
          <p:nvPr/>
        </p:nvSpPr>
        <p:spPr>
          <a:xfrm>
            <a:off x="4402667" y="1815571"/>
            <a:ext cx="3386667" cy="2269398"/>
          </a:xfrm>
          <a:prstGeom prst="roundRect">
            <a:avLst>
              <a:gd name="adj" fmla="val 2238"/>
            </a:avLst>
          </a:prstGeom>
          <a:solidFill>
            <a:srgbClr val="E6F3FB"/>
          </a:solidFill>
          <a:ln/>
        </p:spPr>
        <p:txBody>
          <a:bodyPr/>
          <a:lstStyle/>
          <a:p>
            <a:endParaRPr lang="en-IN"/>
          </a:p>
        </p:txBody>
      </p:sp>
      <p:sp>
        <p:nvSpPr>
          <p:cNvPr id="10" name="Shape 8"/>
          <p:cNvSpPr/>
          <p:nvPr/>
        </p:nvSpPr>
        <p:spPr>
          <a:xfrm>
            <a:off x="4402667" y="1815571"/>
            <a:ext cx="3386667" cy="2269398"/>
          </a:xfrm>
          <a:custGeom>
            <a:avLst/>
            <a:gdLst/>
            <a:ahLst/>
            <a:cxnLst/>
            <a:rect l="l" t="t" r="r" b="b"/>
            <a:pathLst>
              <a:path w="3386667" h="2269398">
                <a:moveTo>
                  <a:pt x="0" y="50800"/>
                </a:moveTo>
                <a:lnTo>
                  <a:pt x="0" y="50800"/>
                </a:lnTo>
                <a:arcTo wR="50800" hR="50800" stAng="10800000" swAng="5400000"/>
                <a:lnTo>
                  <a:pt x="3335867" y="0"/>
                </a:lnTo>
                <a:arcTo wR="50800" hR="50800" stAng="16200000" swAng="5400000"/>
                <a:lnTo>
                  <a:pt x="3386667" y="50800"/>
                </a:lnTo>
                <a:lnTo>
                  <a:pt x="0" y="50800"/>
                </a:lnTo>
                <a:close/>
              </a:path>
            </a:pathLst>
          </a:custGeom>
          <a:solidFill>
            <a:srgbClr val="1F7AB8"/>
          </a:solidFill>
          <a:ln/>
        </p:spPr>
        <p:txBody>
          <a:bodyPr/>
          <a:lstStyle/>
          <a:p>
            <a:endParaRPr lang="en-IN"/>
          </a:p>
        </p:txBody>
      </p:sp>
      <p:sp>
        <p:nvSpPr>
          <p:cNvPr id="11" name="Text 9"/>
          <p:cNvSpPr/>
          <p:nvPr/>
        </p:nvSpPr>
        <p:spPr>
          <a:xfrm>
            <a:off x="4656667" y="2120371"/>
            <a:ext cx="2965027" cy="274307"/>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4A6479"/>
                </a:solidFill>
                <a:latin typeface="Carlito" pitchFamily="34" charset="0"/>
                <a:ea typeface="Carlito" pitchFamily="34" charset="-122"/>
                <a:cs typeface="Carlito" pitchFamily="34" charset="-120"/>
              </a:rPr>
              <a:t>MANAGEMENT GOAL</a:t>
            </a:r>
            <a:endParaRPr lang="en-US" sz="1400" dirty="0"/>
          </a:p>
        </p:txBody>
      </p:sp>
      <p:sp>
        <p:nvSpPr>
          <p:cNvPr id="12" name="Text 10"/>
          <p:cNvSpPr/>
          <p:nvPr/>
        </p:nvSpPr>
        <p:spPr>
          <a:xfrm>
            <a:off x="4656667" y="2445478"/>
            <a:ext cx="2965027" cy="751814"/>
          </a:xfrm>
          <a:prstGeom prst="rect">
            <a:avLst/>
          </a:prstGeom>
          <a:noFill/>
          <a:ln/>
        </p:spPr>
        <p:txBody>
          <a:bodyPr wrap="square" lIns="0" tIns="0" rIns="0" bIns="0" rtlCol="0" anchor="t">
            <a:normAutofit/>
          </a:bodyPr>
          <a:lstStyle/>
          <a:p>
            <a:pPr marL="0" indent="0" algn="l">
              <a:lnSpc>
                <a:spcPts val="5720"/>
              </a:lnSpc>
              <a:buNone/>
            </a:pPr>
            <a:r>
              <a:rPr lang="en-US" sz="5200" b="1" dirty="0">
                <a:solidFill>
                  <a:srgbClr val="14324A"/>
                </a:solidFill>
                <a:latin typeface="Caladea" pitchFamily="18" charset="0"/>
                <a:ea typeface="Caladea" pitchFamily="18" charset="-122"/>
                <a:cs typeface="Caladea" pitchFamily="18" charset="-120"/>
              </a:rPr>
              <a:t>15–20%</a:t>
            </a:r>
            <a:endParaRPr lang="en-US" sz="5200" dirty="0"/>
          </a:p>
        </p:txBody>
      </p:sp>
      <p:sp>
        <p:nvSpPr>
          <p:cNvPr id="13" name="Text 11"/>
          <p:cNvSpPr/>
          <p:nvPr/>
        </p:nvSpPr>
        <p:spPr>
          <a:xfrm>
            <a:off x="4656667" y="3248092"/>
            <a:ext cx="2965027" cy="608277"/>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4324A"/>
                </a:solidFill>
                <a:latin typeface="Carlito" pitchFamily="34" charset="0"/>
                <a:ea typeface="Carlito" pitchFamily="34" charset="-122"/>
                <a:cs typeface="Carlito" pitchFamily="34" charset="-120"/>
              </a:rPr>
              <a:t>₹10.2 L to ₹13.6 L a month, within 90 days</a:t>
            </a:r>
            <a:endParaRPr lang="en-US" sz="1700" dirty="0"/>
          </a:p>
        </p:txBody>
      </p:sp>
      <p:sp>
        <p:nvSpPr>
          <p:cNvPr id="14" name="Shape 12"/>
          <p:cNvSpPr/>
          <p:nvPr/>
        </p:nvSpPr>
        <p:spPr>
          <a:xfrm>
            <a:off x="7992534" y="1815571"/>
            <a:ext cx="3386667" cy="2269398"/>
          </a:xfrm>
          <a:prstGeom prst="roundRect">
            <a:avLst>
              <a:gd name="adj" fmla="val 2238"/>
            </a:avLst>
          </a:prstGeom>
          <a:solidFill>
            <a:srgbClr val="E6F3FB"/>
          </a:solidFill>
          <a:ln/>
        </p:spPr>
        <p:txBody>
          <a:bodyPr/>
          <a:lstStyle/>
          <a:p>
            <a:endParaRPr lang="en-IN"/>
          </a:p>
        </p:txBody>
      </p:sp>
      <p:sp>
        <p:nvSpPr>
          <p:cNvPr id="15" name="Shape 13"/>
          <p:cNvSpPr/>
          <p:nvPr/>
        </p:nvSpPr>
        <p:spPr>
          <a:xfrm>
            <a:off x="7992534" y="1815571"/>
            <a:ext cx="3386667" cy="2269398"/>
          </a:xfrm>
          <a:custGeom>
            <a:avLst/>
            <a:gdLst/>
            <a:ahLst/>
            <a:cxnLst/>
            <a:rect l="l" t="t" r="r" b="b"/>
            <a:pathLst>
              <a:path w="3386667" h="2269398">
                <a:moveTo>
                  <a:pt x="0" y="50800"/>
                </a:moveTo>
                <a:lnTo>
                  <a:pt x="0" y="50800"/>
                </a:lnTo>
                <a:arcTo wR="50800" hR="50800" stAng="10800000" swAng="5400000"/>
                <a:lnTo>
                  <a:pt x="3335867" y="0"/>
                </a:lnTo>
                <a:arcTo wR="50800" hR="50800" stAng="16200000" swAng="5400000"/>
                <a:lnTo>
                  <a:pt x="3386667" y="50800"/>
                </a:lnTo>
                <a:lnTo>
                  <a:pt x="0" y="50800"/>
                </a:lnTo>
                <a:close/>
              </a:path>
            </a:pathLst>
          </a:custGeom>
          <a:solidFill>
            <a:srgbClr val="1F7AB8"/>
          </a:solidFill>
          <a:ln/>
        </p:spPr>
        <p:txBody>
          <a:bodyPr/>
          <a:lstStyle/>
          <a:p>
            <a:endParaRPr lang="en-IN"/>
          </a:p>
        </p:txBody>
      </p:sp>
      <p:sp>
        <p:nvSpPr>
          <p:cNvPr id="16" name="Text 14"/>
          <p:cNvSpPr/>
          <p:nvPr/>
        </p:nvSpPr>
        <p:spPr>
          <a:xfrm>
            <a:off x="8246534" y="2120371"/>
            <a:ext cx="2965027" cy="274307"/>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4A6479"/>
                </a:solidFill>
                <a:latin typeface="Carlito" pitchFamily="34" charset="0"/>
                <a:ea typeface="Carlito" pitchFamily="34" charset="-122"/>
                <a:cs typeface="Carlito" pitchFamily="34" charset="-120"/>
              </a:rPr>
              <a:t>PLAN CEILING</a:t>
            </a:r>
            <a:endParaRPr lang="en-US" sz="1400" dirty="0"/>
          </a:p>
        </p:txBody>
      </p:sp>
      <p:sp>
        <p:nvSpPr>
          <p:cNvPr id="17" name="Text 15"/>
          <p:cNvSpPr/>
          <p:nvPr/>
        </p:nvSpPr>
        <p:spPr>
          <a:xfrm>
            <a:off x="8246534" y="2445478"/>
            <a:ext cx="2965027" cy="751814"/>
          </a:xfrm>
          <a:prstGeom prst="rect">
            <a:avLst/>
          </a:prstGeom>
          <a:noFill/>
          <a:ln/>
        </p:spPr>
        <p:txBody>
          <a:bodyPr wrap="square" lIns="0" tIns="0" rIns="0" bIns="0" rtlCol="0" anchor="t">
            <a:normAutofit/>
          </a:bodyPr>
          <a:lstStyle/>
          <a:p>
            <a:pPr marL="0" indent="0" algn="l">
              <a:lnSpc>
                <a:spcPts val="5720"/>
              </a:lnSpc>
              <a:buNone/>
            </a:pPr>
            <a:r>
              <a:rPr lang="en-US" sz="5200" b="1" dirty="0">
                <a:solidFill>
                  <a:srgbClr val="14324A"/>
                </a:solidFill>
                <a:latin typeface="Caladea" pitchFamily="18" charset="0"/>
                <a:ea typeface="Caladea" pitchFamily="18" charset="-122"/>
                <a:cs typeface="Caladea" pitchFamily="18" charset="-120"/>
              </a:rPr>
              <a:t>₹14.7 L*</a:t>
            </a:r>
            <a:endParaRPr lang="en-US" sz="5200" dirty="0"/>
          </a:p>
        </p:txBody>
      </p:sp>
      <p:sp>
        <p:nvSpPr>
          <p:cNvPr id="18" name="Text 16"/>
          <p:cNvSpPr/>
          <p:nvPr/>
        </p:nvSpPr>
        <p:spPr>
          <a:xfrm>
            <a:off x="8246534" y="3248092"/>
            <a:ext cx="2965027" cy="608277"/>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4324A"/>
                </a:solidFill>
                <a:latin typeface="Carlito" pitchFamily="34" charset="0"/>
                <a:ea typeface="Carlito" pitchFamily="34" charset="-122"/>
                <a:cs typeface="Carlito" pitchFamily="34" charset="-120"/>
              </a:rPr>
              <a:t>a month by day 90, or 22% of spend, if every owner says yes</a:t>
            </a:r>
            <a:endParaRPr lang="en-US" sz="1700" dirty="0"/>
          </a:p>
        </p:txBody>
      </p:sp>
      <p:sp>
        <p:nvSpPr>
          <p:cNvPr id="19" name="Text 17"/>
          <p:cNvSpPr/>
          <p:nvPr/>
        </p:nvSpPr>
        <p:spPr>
          <a:xfrm>
            <a:off x="812800" y="4389769"/>
            <a:ext cx="10566400" cy="723779"/>
          </a:xfrm>
          <a:prstGeom prst="roundRect">
            <a:avLst>
              <a:gd name="adj" fmla="val 5348"/>
            </a:avLst>
          </a:prstGeom>
          <a:solidFill>
            <a:schemeClr val="bg1"/>
          </a:solidFill>
          <a:ln>
            <a:solidFill>
              <a:schemeClr val="accent1"/>
            </a:solidFill>
          </a:ln>
        </p:spPr>
        <p:txBody>
          <a:bodyPr wrap="square" lIns="239121" tIns="162921" rIns="0" bIns="137521" rtlCol="0" anchor="t">
            <a:normAutofit/>
          </a:bodyPr>
          <a:lstStyle/>
          <a:p>
            <a:pPr marL="0" indent="0" algn="l">
              <a:lnSpc>
                <a:spcPts val="2340"/>
              </a:lnSpc>
              <a:buNone/>
            </a:pPr>
            <a:r>
              <a:rPr lang="en-US" sz="1600" b="1" dirty="0">
                <a:solidFill>
                  <a:schemeClr val="bg2">
                    <a:lumMod val="10000"/>
                  </a:schemeClr>
                </a:solidFill>
                <a:latin typeface="Carlito" pitchFamily="34" charset="0"/>
                <a:ea typeface="Carlito" pitchFamily="34" charset="-122"/>
                <a:cs typeface="Carlito" pitchFamily="34" charset="-120"/>
              </a:rPr>
              <a:t>We need owners’ decisions for validating and confirming analysis, so we ask for answers within 14 days.</a:t>
            </a:r>
            <a:endParaRPr lang="en-US" sz="1600" b="1" dirty="0">
              <a:solidFill>
                <a:schemeClr val="bg2">
                  <a:lumMod val="10000"/>
                </a:schemeClr>
              </a:solidFill>
            </a:endParaRPr>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7388"/>
                </a:solidFill>
                <a:latin typeface="Carlito" pitchFamily="34" charset="0"/>
                <a:ea typeface="Carlito" pitchFamily="34" charset="-122"/>
                <a:cs typeface="Carlito" pitchFamily="34" charset="-120"/>
              </a:rPr>
              <a:t>MARG cloud cost plan · 90 days</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7388"/>
                </a:solidFill>
                <a:latin typeface="Carlito" pitchFamily="34" charset="0"/>
                <a:ea typeface="Carlito" pitchFamily="34" charset="-122"/>
                <a:cs typeface="Carlito" pitchFamily="34" charset="-120"/>
              </a:rPr>
              <a:t>2</a:t>
            </a:r>
            <a:endParaRPr lang="en-US" sz="1200" dirty="0"/>
          </a:p>
        </p:txBody>
      </p:sp>
      <p:sp>
        <p:nvSpPr>
          <p:cNvPr id="23" name="Text 17">
            <a:extLst>
              <a:ext uri="{FF2B5EF4-FFF2-40B4-BE49-F238E27FC236}">
                <a16:creationId xmlns:a16="http://schemas.microsoft.com/office/drawing/2014/main" id="{F7D0ACED-2616-D110-D338-ACC646143E21}"/>
              </a:ext>
            </a:extLst>
          </p:cNvPr>
          <p:cNvSpPr/>
          <p:nvPr/>
        </p:nvSpPr>
        <p:spPr>
          <a:xfrm>
            <a:off x="812800" y="5354843"/>
            <a:ext cx="10566400" cy="723779"/>
          </a:xfrm>
          <a:prstGeom prst="roundRect">
            <a:avLst>
              <a:gd name="adj" fmla="val 5348"/>
            </a:avLst>
          </a:prstGeom>
          <a:solidFill>
            <a:schemeClr val="bg1"/>
          </a:solidFill>
          <a:ln>
            <a:solidFill>
              <a:schemeClr val="accent1"/>
            </a:solidFill>
          </a:ln>
        </p:spPr>
        <p:txBody>
          <a:bodyPr wrap="square" lIns="239121" tIns="162921" rIns="0" bIns="137521" rtlCol="0" anchor="t">
            <a:noAutofit/>
          </a:bodyPr>
          <a:lstStyle/>
          <a:p>
            <a:pPr>
              <a:lnSpc>
                <a:spcPts val="2080"/>
              </a:lnSpc>
            </a:pPr>
            <a:r>
              <a:rPr lang="en-US" sz="1600" b="1" dirty="0">
                <a:solidFill>
                  <a:schemeClr val="bg2">
                    <a:lumMod val="10000"/>
                  </a:schemeClr>
                </a:solidFill>
                <a:latin typeface="Carlito" pitchFamily="34" charset="0"/>
                <a:ea typeface="Carlito" pitchFamily="34" charset="-122"/>
                <a:cs typeface="Carlito" pitchFamily="34" charset="-120"/>
              </a:rPr>
              <a:t>* This does not include cost savings from MARG ERP Live Order Database Migration to WebberStop which will be approx. additional ~ ₹ 15.0 L per month.</a:t>
            </a:r>
            <a:endParaRPr lang="en-US" sz="1600" b="1" dirty="0">
              <a:solidFill>
                <a:schemeClr val="bg2">
                  <a:lumMod val="1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35000"/>
            <a:ext cx="2739430" cy="375907"/>
          </a:xfrm>
          <a:prstGeom prst="roundRect">
            <a:avLst>
              <a:gd name="adj" fmla="val 10135"/>
            </a:avLst>
          </a:prstGeom>
          <a:solidFill>
            <a:srgbClr val="1F7AB8"/>
          </a:solidFill>
          <a:ln/>
        </p:spPr>
        <p:txBody>
          <a:bodyPr wrap="none" lIns="0" tIns="0" rIns="0" bIns="0" rtlCol="0" anchor="ctr">
            <a:normAutofit/>
          </a:bodyPr>
          <a:lstStyle/>
          <a:p>
            <a:pPr marL="0" indent="0" algn="ctr">
              <a:lnSpc>
                <a:spcPts val="1960"/>
              </a:lnSpc>
              <a:buNone/>
            </a:pPr>
            <a:r>
              <a:rPr lang="en-US" sz="1400" b="1" kern="0" spc="150" dirty="0">
                <a:solidFill>
                  <a:srgbClr val="FFFFFF"/>
                </a:solidFill>
                <a:latin typeface="Caladea" pitchFamily="18" charset="0"/>
                <a:ea typeface="Caladea" pitchFamily="18" charset="-122"/>
                <a:cs typeface="Caladea" pitchFamily="18" charset="-120"/>
              </a:rPr>
              <a:t>WHERE THE MONEY GOES</a:t>
            </a:r>
            <a:endParaRPr lang="en-US" sz="1400" dirty="0"/>
          </a:p>
        </p:txBody>
      </p:sp>
      <p:sp>
        <p:nvSpPr>
          <p:cNvPr id="3" name="Text 1"/>
          <p:cNvSpPr>
            <a:spLocks noGrp="1"/>
          </p:cNvSpPr>
          <p:nvPr>
            <p:ph type="title"/>
          </p:nvPr>
        </p:nvSpPr>
        <p:spPr>
          <a:xfrm>
            <a:off x="812800" y="1214107"/>
            <a:ext cx="10883392" cy="423664"/>
          </a:xfrm>
          <a:prstGeom prst="rect">
            <a:avLst/>
          </a:prstGeom>
          <a:noFill/>
          <a:ln/>
        </p:spPr>
        <p:txBody>
          <a:bodyPr wrap="square" lIns="0" tIns="0" rIns="0" bIns="0" rtlCol="0" anchor="t">
            <a:normAutofit/>
          </a:bodyPr>
          <a:lstStyle/>
          <a:p>
            <a:pPr marL="0" indent="0" algn="l">
              <a:lnSpc>
                <a:spcPts val="3136"/>
              </a:lnSpc>
              <a:buNone/>
            </a:pPr>
            <a:r>
              <a:rPr lang="en-US" sz="2800" b="1" i="0" dirty="0">
                <a:solidFill>
                  <a:srgbClr val="14324A"/>
                </a:solidFill>
                <a:latin typeface="Caladea" pitchFamily="18" charset="0"/>
                <a:ea typeface="Caladea" pitchFamily="18" charset="-122"/>
                <a:cs typeface="Caladea" pitchFamily="18" charset="-120"/>
              </a:rPr>
              <a:t>Spend is up 9% since April, driven by WebberStop</a:t>
            </a:r>
            <a:endParaRPr lang="en-US" sz="2800" dirty="0"/>
          </a:p>
        </p:txBody>
      </p:sp>
      <p:sp>
        <p:nvSpPr>
          <p:cNvPr id="4" name="Text 2"/>
          <p:cNvSpPr/>
          <p:nvPr/>
        </p:nvSpPr>
        <p:spPr>
          <a:xfrm>
            <a:off x="812800" y="1815571"/>
            <a:ext cx="575564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6479"/>
                </a:solidFill>
                <a:latin typeface="Carlito" pitchFamily="34" charset="0"/>
                <a:ea typeface="Carlito" pitchFamily="34" charset="-122"/>
                <a:cs typeface="Carlito" pitchFamily="34" charset="-120"/>
              </a:rPr>
              <a:t>Spend per month, ₹ lakh. WebberStop +24%, Azure −5% since April</a:t>
            </a:r>
            <a:endParaRPr lang="en-US" sz="1500" dirty="0"/>
          </a:p>
        </p:txBody>
      </p:sp>
      <p:sp>
        <p:nvSpPr>
          <p:cNvPr id="5" name="Shape 3"/>
          <p:cNvSpPr/>
          <p:nvPr/>
        </p:nvSpPr>
        <p:spPr>
          <a:xfrm>
            <a:off x="812800" y="2223229"/>
            <a:ext cx="152400" cy="152400"/>
          </a:xfrm>
          <a:prstGeom prst="rect">
            <a:avLst/>
          </a:prstGeom>
          <a:solidFill>
            <a:srgbClr val="7CC0EA"/>
          </a:solidFill>
          <a:ln/>
        </p:spPr>
        <p:txBody>
          <a:bodyPr/>
          <a:lstStyle/>
          <a:p>
            <a:endParaRPr lang="en-IN"/>
          </a:p>
        </p:txBody>
      </p:sp>
      <p:sp>
        <p:nvSpPr>
          <p:cNvPr id="6" name="Text 4"/>
          <p:cNvSpPr/>
          <p:nvPr/>
        </p:nvSpPr>
        <p:spPr>
          <a:xfrm>
            <a:off x="1028700" y="2183871"/>
            <a:ext cx="894001"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324A"/>
                </a:solidFill>
                <a:latin typeface="Carlito" pitchFamily="34" charset="0"/>
                <a:ea typeface="Carlito" pitchFamily="34" charset="-122"/>
                <a:cs typeface="Carlito" pitchFamily="34" charset="-120"/>
              </a:rPr>
              <a:t>Azure (net)</a:t>
            </a:r>
            <a:endParaRPr lang="en-US" sz="1300" dirty="0"/>
          </a:p>
        </p:txBody>
      </p:sp>
      <p:sp>
        <p:nvSpPr>
          <p:cNvPr id="7" name="Shape 5"/>
          <p:cNvSpPr/>
          <p:nvPr/>
        </p:nvSpPr>
        <p:spPr>
          <a:xfrm>
            <a:off x="1976901" y="2223229"/>
            <a:ext cx="152400" cy="152400"/>
          </a:xfrm>
          <a:prstGeom prst="rect">
            <a:avLst/>
          </a:prstGeom>
          <a:solidFill>
            <a:srgbClr val="A4D3F0"/>
          </a:solidFill>
          <a:ln/>
        </p:spPr>
        <p:txBody>
          <a:bodyPr/>
          <a:lstStyle/>
          <a:p>
            <a:endParaRPr lang="en-IN"/>
          </a:p>
        </p:txBody>
      </p:sp>
      <p:sp>
        <p:nvSpPr>
          <p:cNvPr id="8" name="Text 6"/>
          <p:cNvSpPr/>
          <p:nvPr/>
        </p:nvSpPr>
        <p:spPr>
          <a:xfrm>
            <a:off x="2192801" y="2183871"/>
            <a:ext cx="1560314"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324A"/>
                </a:solidFill>
                <a:latin typeface="Carlito" pitchFamily="34" charset="0"/>
                <a:ea typeface="Carlito" pitchFamily="34" charset="-122"/>
                <a:cs typeface="Carlito" pitchFamily="34" charset="-120"/>
              </a:rPr>
              <a:t>WebberStop servers</a:t>
            </a:r>
            <a:endParaRPr lang="en-US" sz="1300" dirty="0"/>
          </a:p>
        </p:txBody>
      </p:sp>
      <p:sp>
        <p:nvSpPr>
          <p:cNvPr id="9" name="Shape 7"/>
          <p:cNvSpPr/>
          <p:nvPr/>
        </p:nvSpPr>
        <p:spPr>
          <a:xfrm>
            <a:off x="3753115" y="2223229"/>
            <a:ext cx="152400" cy="152400"/>
          </a:xfrm>
          <a:prstGeom prst="rect">
            <a:avLst/>
          </a:prstGeom>
          <a:solidFill>
            <a:srgbClr val="16578A"/>
          </a:solidFill>
          <a:ln/>
        </p:spPr>
        <p:txBody>
          <a:bodyPr/>
          <a:lstStyle/>
          <a:p>
            <a:endParaRPr lang="en-IN"/>
          </a:p>
        </p:txBody>
      </p:sp>
      <p:sp>
        <p:nvSpPr>
          <p:cNvPr id="10" name="Text 8"/>
          <p:cNvSpPr/>
          <p:nvPr/>
        </p:nvSpPr>
        <p:spPr>
          <a:xfrm>
            <a:off x="3969015" y="2183871"/>
            <a:ext cx="1597898"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324A"/>
                </a:solidFill>
                <a:latin typeface="Carlito" pitchFamily="34" charset="0"/>
                <a:ea typeface="Carlito" pitchFamily="34" charset="-122"/>
                <a:cs typeface="Carlito" pitchFamily="34" charset="-120"/>
              </a:rPr>
              <a:t>WebberStop shared</a:t>
            </a:r>
            <a:endParaRPr lang="en-US" sz="1300" dirty="0"/>
          </a:p>
        </p:txBody>
      </p:sp>
      <p:sp>
        <p:nvSpPr>
          <p:cNvPr id="11" name="Text 9"/>
          <p:cNvSpPr/>
          <p:nvPr/>
        </p:nvSpPr>
        <p:spPr>
          <a:xfrm>
            <a:off x="939562" y="2719784"/>
            <a:ext cx="381476"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4324A"/>
                </a:solidFill>
                <a:latin typeface="Carlito" pitchFamily="34" charset="0"/>
                <a:ea typeface="Carlito" pitchFamily="34" charset="-122"/>
                <a:cs typeface="Carlito" pitchFamily="34" charset="-120"/>
              </a:rPr>
              <a:t>62.4</a:t>
            </a:r>
            <a:endParaRPr lang="en-US" sz="1400" dirty="0"/>
          </a:p>
        </p:txBody>
      </p:sp>
      <p:sp>
        <p:nvSpPr>
          <p:cNvPr id="12" name="Shape 10"/>
          <p:cNvSpPr/>
          <p:nvPr/>
        </p:nvSpPr>
        <p:spPr>
          <a:xfrm>
            <a:off x="812800" y="3006792"/>
            <a:ext cx="635000" cy="203200"/>
          </a:xfrm>
          <a:prstGeom prst="rect">
            <a:avLst/>
          </a:prstGeom>
          <a:solidFill>
            <a:srgbClr val="16578A"/>
          </a:solidFill>
          <a:ln/>
        </p:spPr>
        <p:txBody>
          <a:bodyPr/>
          <a:lstStyle/>
          <a:p>
            <a:endParaRPr lang="en-IN"/>
          </a:p>
        </p:txBody>
      </p:sp>
      <p:sp>
        <p:nvSpPr>
          <p:cNvPr id="13" name="Shape 11"/>
          <p:cNvSpPr/>
          <p:nvPr/>
        </p:nvSpPr>
        <p:spPr>
          <a:xfrm>
            <a:off x="812800" y="3209992"/>
            <a:ext cx="635000" cy="895350"/>
          </a:xfrm>
          <a:prstGeom prst="rect">
            <a:avLst/>
          </a:prstGeom>
          <a:solidFill>
            <a:srgbClr val="A4D3F0"/>
          </a:solidFill>
          <a:ln/>
        </p:spPr>
        <p:txBody>
          <a:bodyPr/>
          <a:lstStyle/>
          <a:p>
            <a:endParaRPr lang="en-IN"/>
          </a:p>
        </p:txBody>
      </p:sp>
      <p:sp>
        <p:nvSpPr>
          <p:cNvPr id="14" name="Shape 12"/>
          <p:cNvSpPr/>
          <p:nvPr/>
        </p:nvSpPr>
        <p:spPr>
          <a:xfrm>
            <a:off x="812800" y="4105342"/>
            <a:ext cx="635000" cy="1123950"/>
          </a:xfrm>
          <a:prstGeom prst="rect">
            <a:avLst/>
          </a:prstGeom>
          <a:solidFill>
            <a:srgbClr val="7CC0EA"/>
          </a:solidFill>
          <a:ln/>
        </p:spPr>
        <p:txBody>
          <a:bodyPr/>
          <a:lstStyle/>
          <a:p>
            <a:endParaRPr lang="en-IN"/>
          </a:p>
        </p:txBody>
      </p:sp>
      <p:sp>
        <p:nvSpPr>
          <p:cNvPr id="15" name="Text 13"/>
          <p:cNvSpPr/>
          <p:nvPr/>
        </p:nvSpPr>
        <p:spPr>
          <a:xfrm>
            <a:off x="975287" y="5267392"/>
            <a:ext cx="309959" cy="27430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6479"/>
                </a:solidFill>
                <a:latin typeface="Carlito" pitchFamily="34" charset="0"/>
                <a:ea typeface="Carlito" pitchFamily="34" charset="-122"/>
                <a:cs typeface="Carlito" pitchFamily="34" charset="-120"/>
              </a:rPr>
              <a:t>Apr</a:t>
            </a:r>
            <a:endParaRPr lang="en-US" sz="1400" dirty="0"/>
          </a:p>
        </p:txBody>
      </p:sp>
      <p:sp>
        <p:nvSpPr>
          <p:cNvPr id="16" name="Text 14"/>
          <p:cNvSpPr/>
          <p:nvPr/>
        </p:nvSpPr>
        <p:spPr>
          <a:xfrm>
            <a:off x="1803162" y="2776934"/>
            <a:ext cx="381476"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4324A"/>
                </a:solidFill>
                <a:latin typeface="Carlito" pitchFamily="34" charset="0"/>
                <a:ea typeface="Carlito" pitchFamily="34" charset="-122"/>
                <a:cs typeface="Carlito" pitchFamily="34" charset="-120"/>
              </a:rPr>
              <a:t>60.9</a:t>
            </a:r>
            <a:endParaRPr lang="en-US" sz="1400" dirty="0"/>
          </a:p>
        </p:txBody>
      </p:sp>
      <p:sp>
        <p:nvSpPr>
          <p:cNvPr id="17" name="Shape 15"/>
          <p:cNvSpPr/>
          <p:nvPr/>
        </p:nvSpPr>
        <p:spPr>
          <a:xfrm>
            <a:off x="1676400" y="3063942"/>
            <a:ext cx="635000" cy="196850"/>
          </a:xfrm>
          <a:prstGeom prst="rect">
            <a:avLst/>
          </a:prstGeom>
          <a:solidFill>
            <a:srgbClr val="16578A"/>
          </a:solidFill>
          <a:ln/>
        </p:spPr>
        <p:txBody>
          <a:bodyPr/>
          <a:lstStyle/>
          <a:p>
            <a:endParaRPr lang="en-IN"/>
          </a:p>
        </p:txBody>
      </p:sp>
      <p:sp>
        <p:nvSpPr>
          <p:cNvPr id="18" name="Shape 16"/>
          <p:cNvSpPr/>
          <p:nvPr/>
        </p:nvSpPr>
        <p:spPr>
          <a:xfrm>
            <a:off x="1676400" y="3260792"/>
            <a:ext cx="635000" cy="914400"/>
          </a:xfrm>
          <a:prstGeom prst="rect">
            <a:avLst/>
          </a:prstGeom>
          <a:solidFill>
            <a:srgbClr val="A4D3F0"/>
          </a:solidFill>
          <a:ln/>
        </p:spPr>
        <p:txBody>
          <a:bodyPr/>
          <a:lstStyle/>
          <a:p>
            <a:endParaRPr lang="en-IN"/>
          </a:p>
        </p:txBody>
      </p:sp>
      <p:sp>
        <p:nvSpPr>
          <p:cNvPr id="19" name="Shape 17"/>
          <p:cNvSpPr/>
          <p:nvPr/>
        </p:nvSpPr>
        <p:spPr>
          <a:xfrm>
            <a:off x="1676400" y="4175192"/>
            <a:ext cx="635000" cy="1054100"/>
          </a:xfrm>
          <a:prstGeom prst="rect">
            <a:avLst/>
          </a:prstGeom>
          <a:solidFill>
            <a:srgbClr val="7CC0EA"/>
          </a:solidFill>
          <a:ln/>
        </p:spPr>
        <p:txBody>
          <a:bodyPr/>
          <a:lstStyle/>
          <a:p>
            <a:endParaRPr lang="en-IN"/>
          </a:p>
        </p:txBody>
      </p:sp>
      <p:sp>
        <p:nvSpPr>
          <p:cNvPr id="20" name="Text 18"/>
          <p:cNvSpPr/>
          <p:nvPr/>
        </p:nvSpPr>
        <p:spPr>
          <a:xfrm>
            <a:off x="1805232" y="5267392"/>
            <a:ext cx="377269" cy="27430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6479"/>
                </a:solidFill>
                <a:latin typeface="Carlito" pitchFamily="34" charset="0"/>
                <a:ea typeface="Carlito" pitchFamily="34" charset="-122"/>
                <a:cs typeface="Carlito" pitchFamily="34" charset="-120"/>
              </a:rPr>
              <a:t>May</a:t>
            </a:r>
            <a:endParaRPr lang="en-US" sz="1400" dirty="0"/>
          </a:p>
        </p:txBody>
      </p:sp>
      <p:sp>
        <p:nvSpPr>
          <p:cNvPr id="21" name="Text 19"/>
          <p:cNvSpPr/>
          <p:nvPr/>
        </p:nvSpPr>
        <p:spPr>
          <a:xfrm>
            <a:off x="2666762" y="3005534"/>
            <a:ext cx="381476"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4324A"/>
                </a:solidFill>
                <a:latin typeface="Carlito" pitchFamily="34" charset="0"/>
                <a:ea typeface="Carlito" pitchFamily="34" charset="-122"/>
                <a:cs typeface="Carlito" pitchFamily="34" charset="-120"/>
              </a:rPr>
              <a:t>54.4</a:t>
            </a:r>
            <a:endParaRPr lang="en-US" sz="1400" dirty="0"/>
          </a:p>
        </p:txBody>
      </p:sp>
      <p:sp>
        <p:nvSpPr>
          <p:cNvPr id="22" name="Shape 20"/>
          <p:cNvSpPr/>
          <p:nvPr/>
        </p:nvSpPr>
        <p:spPr>
          <a:xfrm>
            <a:off x="2540000" y="3292542"/>
            <a:ext cx="635000" cy="184150"/>
          </a:xfrm>
          <a:prstGeom prst="rect">
            <a:avLst/>
          </a:prstGeom>
          <a:solidFill>
            <a:srgbClr val="16578A"/>
          </a:solidFill>
          <a:ln/>
        </p:spPr>
        <p:txBody>
          <a:bodyPr/>
          <a:lstStyle/>
          <a:p>
            <a:endParaRPr lang="en-IN"/>
          </a:p>
        </p:txBody>
      </p:sp>
      <p:sp>
        <p:nvSpPr>
          <p:cNvPr id="23" name="Shape 21"/>
          <p:cNvSpPr/>
          <p:nvPr/>
        </p:nvSpPr>
        <p:spPr>
          <a:xfrm>
            <a:off x="2540000" y="3476692"/>
            <a:ext cx="635000" cy="882650"/>
          </a:xfrm>
          <a:prstGeom prst="rect">
            <a:avLst/>
          </a:prstGeom>
          <a:solidFill>
            <a:srgbClr val="A4D3F0"/>
          </a:solidFill>
          <a:ln/>
        </p:spPr>
        <p:txBody>
          <a:bodyPr/>
          <a:lstStyle/>
          <a:p>
            <a:endParaRPr lang="en-IN"/>
          </a:p>
        </p:txBody>
      </p:sp>
      <p:sp>
        <p:nvSpPr>
          <p:cNvPr id="24" name="Shape 22"/>
          <p:cNvSpPr/>
          <p:nvPr/>
        </p:nvSpPr>
        <p:spPr>
          <a:xfrm>
            <a:off x="2540000" y="4359342"/>
            <a:ext cx="635000" cy="869950"/>
          </a:xfrm>
          <a:prstGeom prst="rect">
            <a:avLst/>
          </a:prstGeom>
          <a:solidFill>
            <a:srgbClr val="7CC0EA"/>
          </a:solidFill>
          <a:ln/>
        </p:spPr>
        <p:txBody>
          <a:bodyPr/>
          <a:lstStyle/>
          <a:p>
            <a:endParaRPr lang="en-IN"/>
          </a:p>
        </p:txBody>
      </p:sp>
      <p:sp>
        <p:nvSpPr>
          <p:cNvPr id="25" name="Text 23"/>
          <p:cNvSpPr/>
          <p:nvPr/>
        </p:nvSpPr>
        <p:spPr>
          <a:xfrm>
            <a:off x="2710326" y="5267392"/>
            <a:ext cx="294349" cy="27430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6479"/>
                </a:solidFill>
                <a:latin typeface="Carlito" pitchFamily="34" charset="0"/>
                <a:ea typeface="Carlito" pitchFamily="34" charset="-122"/>
                <a:cs typeface="Carlito" pitchFamily="34" charset="-120"/>
              </a:rPr>
              <a:t>Jun</a:t>
            </a:r>
            <a:endParaRPr lang="en-US" sz="1400" dirty="0"/>
          </a:p>
        </p:txBody>
      </p:sp>
      <p:sp>
        <p:nvSpPr>
          <p:cNvPr id="26" name="Text 24"/>
          <p:cNvSpPr/>
          <p:nvPr/>
        </p:nvSpPr>
        <p:spPr>
          <a:xfrm>
            <a:off x="3530362" y="2795984"/>
            <a:ext cx="381476"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4324A"/>
                </a:solidFill>
                <a:latin typeface="Carlito" pitchFamily="34" charset="0"/>
                <a:ea typeface="Carlito" pitchFamily="34" charset="-122"/>
                <a:cs typeface="Carlito" pitchFamily="34" charset="-120"/>
              </a:rPr>
              <a:t>60.4</a:t>
            </a:r>
            <a:endParaRPr lang="en-US" sz="1400" dirty="0"/>
          </a:p>
        </p:txBody>
      </p:sp>
      <p:sp>
        <p:nvSpPr>
          <p:cNvPr id="27" name="Shape 25"/>
          <p:cNvSpPr/>
          <p:nvPr/>
        </p:nvSpPr>
        <p:spPr>
          <a:xfrm>
            <a:off x="3403600" y="3082992"/>
            <a:ext cx="635000" cy="273050"/>
          </a:xfrm>
          <a:prstGeom prst="rect">
            <a:avLst/>
          </a:prstGeom>
          <a:solidFill>
            <a:srgbClr val="16578A"/>
          </a:solidFill>
          <a:ln/>
        </p:spPr>
        <p:txBody>
          <a:bodyPr/>
          <a:lstStyle/>
          <a:p>
            <a:endParaRPr lang="en-IN"/>
          </a:p>
        </p:txBody>
      </p:sp>
      <p:sp>
        <p:nvSpPr>
          <p:cNvPr id="28" name="Shape 26"/>
          <p:cNvSpPr/>
          <p:nvPr/>
        </p:nvSpPr>
        <p:spPr>
          <a:xfrm>
            <a:off x="3403600" y="3356042"/>
            <a:ext cx="635000" cy="920750"/>
          </a:xfrm>
          <a:prstGeom prst="rect">
            <a:avLst/>
          </a:prstGeom>
          <a:solidFill>
            <a:srgbClr val="A4D3F0"/>
          </a:solidFill>
          <a:ln/>
        </p:spPr>
        <p:txBody>
          <a:bodyPr/>
          <a:lstStyle/>
          <a:p>
            <a:endParaRPr lang="en-IN"/>
          </a:p>
        </p:txBody>
      </p:sp>
      <p:sp>
        <p:nvSpPr>
          <p:cNvPr id="29" name="Shape 27"/>
          <p:cNvSpPr/>
          <p:nvPr/>
        </p:nvSpPr>
        <p:spPr>
          <a:xfrm>
            <a:off x="3403600" y="4276792"/>
            <a:ext cx="635000" cy="952500"/>
          </a:xfrm>
          <a:prstGeom prst="rect">
            <a:avLst/>
          </a:prstGeom>
          <a:solidFill>
            <a:srgbClr val="7CC0EA"/>
          </a:solidFill>
          <a:ln/>
        </p:spPr>
        <p:txBody>
          <a:bodyPr/>
          <a:lstStyle/>
          <a:p>
            <a:endParaRPr lang="en-IN"/>
          </a:p>
        </p:txBody>
      </p:sp>
      <p:sp>
        <p:nvSpPr>
          <p:cNvPr id="30" name="Text 28"/>
          <p:cNvSpPr/>
          <p:nvPr/>
        </p:nvSpPr>
        <p:spPr>
          <a:xfrm>
            <a:off x="3600186" y="5267392"/>
            <a:ext cx="241763" cy="27430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6479"/>
                </a:solidFill>
                <a:latin typeface="Carlito" pitchFamily="34" charset="0"/>
                <a:ea typeface="Carlito" pitchFamily="34" charset="-122"/>
                <a:cs typeface="Carlito" pitchFamily="34" charset="-120"/>
              </a:rPr>
              <a:t>Jul</a:t>
            </a:r>
            <a:endParaRPr lang="en-US" sz="1400" dirty="0"/>
          </a:p>
        </p:txBody>
      </p:sp>
      <p:sp>
        <p:nvSpPr>
          <p:cNvPr id="31" name="Text 29"/>
          <p:cNvSpPr/>
          <p:nvPr/>
        </p:nvSpPr>
        <p:spPr>
          <a:xfrm>
            <a:off x="4393962" y="2649934"/>
            <a:ext cx="381476"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4324A"/>
                </a:solidFill>
                <a:latin typeface="Carlito" pitchFamily="34" charset="0"/>
                <a:ea typeface="Carlito" pitchFamily="34" charset="-122"/>
                <a:cs typeface="Carlito" pitchFamily="34" charset="-120"/>
              </a:rPr>
              <a:t>64.5</a:t>
            </a:r>
            <a:endParaRPr lang="en-US" sz="1400" dirty="0"/>
          </a:p>
        </p:txBody>
      </p:sp>
      <p:sp>
        <p:nvSpPr>
          <p:cNvPr id="32" name="Shape 30"/>
          <p:cNvSpPr/>
          <p:nvPr/>
        </p:nvSpPr>
        <p:spPr>
          <a:xfrm>
            <a:off x="4267200" y="2936942"/>
            <a:ext cx="635000" cy="298450"/>
          </a:xfrm>
          <a:prstGeom prst="rect">
            <a:avLst/>
          </a:prstGeom>
          <a:solidFill>
            <a:srgbClr val="16578A"/>
          </a:solidFill>
          <a:ln/>
        </p:spPr>
        <p:txBody>
          <a:bodyPr/>
          <a:lstStyle/>
          <a:p>
            <a:endParaRPr lang="en-IN"/>
          </a:p>
        </p:txBody>
      </p:sp>
      <p:sp>
        <p:nvSpPr>
          <p:cNvPr id="33" name="Shape 31"/>
          <p:cNvSpPr/>
          <p:nvPr/>
        </p:nvSpPr>
        <p:spPr>
          <a:xfrm>
            <a:off x="4267200" y="3235392"/>
            <a:ext cx="635000" cy="946150"/>
          </a:xfrm>
          <a:prstGeom prst="rect">
            <a:avLst/>
          </a:prstGeom>
          <a:solidFill>
            <a:srgbClr val="A4D3F0"/>
          </a:solidFill>
          <a:ln/>
        </p:spPr>
        <p:txBody>
          <a:bodyPr/>
          <a:lstStyle/>
          <a:p>
            <a:endParaRPr lang="en-IN"/>
          </a:p>
        </p:txBody>
      </p:sp>
      <p:sp>
        <p:nvSpPr>
          <p:cNvPr id="34" name="Shape 32"/>
          <p:cNvSpPr/>
          <p:nvPr/>
        </p:nvSpPr>
        <p:spPr>
          <a:xfrm>
            <a:off x="4267200" y="4181542"/>
            <a:ext cx="635000" cy="1047750"/>
          </a:xfrm>
          <a:prstGeom prst="rect">
            <a:avLst/>
          </a:prstGeom>
          <a:solidFill>
            <a:srgbClr val="7CC0EA"/>
          </a:solidFill>
          <a:ln/>
        </p:spPr>
        <p:txBody>
          <a:bodyPr/>
          <a:lstStyle/>
          <a:p>
            <a:endParaRPr lang="en-IN"/>
          </a:p>
        </p:txBody>
      </p:sp>
      <p:sp>
        <p:nvSpPr>
          <p:cNvPr id="35" name="Text 33"/>
          <p:cNvSpPr/>
          <p:nvPr/>
        </p:nvSpPr>
        <p:spPr>
          <a:xfrm>
            <a:off x="4416670" y="5267392"/>
            <a:ext cx="335994" cy="27430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6479"/>
                </a:solidFill>
                <a:latin typeface="Carlito" pitchFamily="34" charset="0"/>
                <a:ea typeface="Carlito" pitchFamily="34" charset="-122"/>
                <a:cs typeface="Carlito" pitchFamily="34" charset="-120"/>
              </a:rPr>
              <a:t>Aug</a:t>
            </a:r>
            <a:endParaRPr lang="en-US" sz="1400" dirty="0"/>
          </a:p>
        </p:txBody>
      </p:sp>
      <p:sp>
        <p:nvSpPr>
          <p:cNvPr id="36" name="Text 34"/>
          <p:cNvSpPr/>
          <p:nvPr/>
        </p:nvSpPr>
        <p:spPr>
          <a:xfrm>
            <a:off x="5257562" y="2516584"/>
            <a:ext cx="381476"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4324A"/>
                </a:solidFill>
                <a:latin typeface="Carlito" pitchFamily="34" charset="0"/>
                <a:ea typeface="Carlito" pitchFamily="34" charset="-122"/>
                <a:cs typeface="Carlito" pitchFamily="34" charset="-120"/>
              </a:rPr>
              <a:t>68.1</a:t>
            </a:r>
            <a:endParaRPr lang="en-US" sz="1400" dirty="0"/>
          </a:p>
        </p:txBody>
      </p:sp>
      <p:sp>
        <p:nvSpPr>
          <p:cNvPr id="37" name="Shape 35"/>
          <p:cNvSpPr/>
          <p:nvPr/>
        </p:nvSpPr>
        <p:spPr>
          <a:xfrm>
            <a:off x="5130800" y="2803592"/>
            <a:ext cx="635000" cy="311150"/>
          </a:xfrm>
          <a:prstGeom prst="rect">
            <a:avLst/>
          </a:prstGeom>
          <a:solidFill>
            <a:srgbClr val="16578A"/>
          </a:solidFill>
          <a:ln/>
        </p:spPr>
        <p:txBody>
          <a:bodyPr/>
          <a:lstStyle/>
          <a:p>
            <a:endParaRPr lang="en-IN"/>
          </a:p>
        </p:txBody>
      </p:sp>
      <p:sp>
        <p:nvSpPr>
          <p:cNvPr id="38" name="Shape 36"/>
          <p:cNvSpPr/>
          <p:nvPr/>
        </p:nvSpPr>
        <p:spPr>
          <a:xfrm>
            <a:off x="5130800" y="3114742"/>
            <a:ext cx="635000" cy="1054100"/>
          </a:xfrm>
          <a:prstGeom prst="rect">
            <a:avLst/>
          </a:prstGeom>
          <a:solidFill>
            <a:srgbClr val="A4D3F0"/>
          </a:solidFill>
          <a:ln/>
        </p:spPr>
        <p:txBody>
          <a:bodyPr/>
          <a:lstStyle/>
          <a:p>
            <a:endParaRPr lang="en-IN"/>
          </a:p>
        </p:txBody>
      </p:sp>
      <p:sp>
        <p:nvSpPr>
          <p:cNvPr id="39" name="Shape 37"/>
          <p:cNvSpPr/>
          <p:nvPr/>
        </p:nvSpPr>
        <p:spPr>
          <a:xfrm>
            <a:off x="5130800" y="4168842"/>
            <a:ext cx="635000" cy="1060450"/>
          </a:xfrm>
          <a:prstGeom prst="rect">
            <a:avLst/>
          </a:prstGeom>
          <a:solidFill>
            <a:srgbClr val="7CC0EA"/>
          </a:solidFill>
          <a:ln/>
        </p:spPr>
        <p:txBody>
          <a:bodyPr/>
          <a:lstStyle/>
          <a:p>
            <a:endParaRPr lang="en-IN"/>
          </a:p>
        </p:txBody>
      </p:sp>
      <p:sp>
        <p:nvSpPr>
          <p:cNvPr id="40" name="Text 38"/>
          <p:cNvSpPr/>
          <p:nvPr/>
        </p:nvSpPr>
        <p:spPr>
          <a:xfrm>
            <a:off x="5290112" y="5267392"/>
            <a:ext cx="316309" cy="27430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6479"/>
                </a:solidFill>
                <a:latin typeface="Carlito" pitchFamily="34" charset="0"/>
                <a:ea typeface="Carlito" pitchFamily="34" charset="-122"/>
                <a:cs typeface="Carlito" pitchFamily="34" charset="-120"/>
              </a:rPr>
              <a:t>Sep</a:t>
            </a:r>
            <a:endParaRPr lang="en-US" sz="1400" dirty="0"/>
          </a:p>
        </p:txBody>
      </p:sp>
      <p:sp>
        <p:nvSpPr>
          <p:cNvPr id="41" name="Shape 39"/>
          <p:cNvSpPr/>
          <p:nvPr/>
        </p:nvSpPr>
        <p:spPr>
          <a:xfrm>
            <a:off x="6807200" y="1815571"/>
            <a:ext cx="4572000" cy="833041"/>
          </a:xfrm>
          <a:prstGeom prst="roundRect">
            <a:avLst>
              <a:gd name="adj" fmla="val 6098"/>
            </a:avLst>
          </a:prstGeom>
          <a:solidFill>
            <a:srgbClr val="E6F3FB"/>
          </a:solidFill>
          <a:ln/>
        </p:spPr>
        <p:txBody>
          <a:bodyPr/>
          <a:lstStyle/>
          <a:p>
            <a:endParaRPr lang="en-IN"/>
          </a:p>
        </p:txBody>
      </p:sp>
      <p:sp>
        <p:nvSpPr>
          <p:cNvPr id="42" name="Shape 40"/>
          <p:cNvSpPr/>
          <p:nvPr/>
        </p:nvSpPr>
        <p:spPr>
          <a:xfrm>
            <a:off x="6807200" y="1815571"/>
            <a:ext cx="4572000" cy="833041"/>
          </a:xfrm>
          <a:custGeom>
            <a:avLst/>
            <a:gdLst/>
            <a:ahLst/>
            <a:cxnLst/>
            <a:rect l="l" t="t" r="r" b="b"/>
            <a:pathLst>
              <a:path w="4572000" h="833041">
                <a:moveTo>
                  <a:pt x="50800" y="833041"/>
                </a:moveTo>
                <a:lnTo>
                  <a:pt x="50800" y="833041"/>
                </a:lnTo>
                <a:arcTo wR="50800" hR="50800" stAng="5400000" swAng="5400000"/>
                <a:lnTo>
                  <a:pt x="0" y="50800"/>
                </a:lnTo>
                <a:arcTo wR="50800" hR="50800" stAng="10800000" swAng="5400000"/>
                <a:lnTo>
                  <a:pt x="50800" y="0"/>
                </a:lnTo>
                <a:lnTo>
                  <a:pt x="50800" y="833041"/>
                </a:lnTo>
                <a:close/>
              </a:path>
            </a:pathLst>
          </a:custGeom>
          <a:solidFill>
            <a:srgbClr val="1F7AB8"/>
          </a:solidFill>
          <a:ln/>
        </p:spPr>
        <p:txBody>
          <a:bodyPr/>
          <a:lstStyle/>
          <a:p>
            <a:endParaRPr lang="en-IN"/>
          </a:p>
        </p:txBody>
      </p:sp>
      <p:sp>
        <p:nvSpPr>
          <p:cNvPr id="43" name="Text 41"/>
          <p:cNvSpPr/>
          <p:nvPr/>
        </p:nvSpPr>
        <p:spPr>
          <a:xfrm>
            <a:off x="7035800" y="2036499"/>
            <a:ext cx="1384300"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4324A"/>
                </a:solidFill>
                <a:latin typeface="Caladea" pitchFamily="18" charset="0"/>
                <a:ea typeface="Caladea" pitchFamily="18" charset="-122"/>
                <a:cs typeface="Caladea" pitchFamily="18" charset="-120"/>
              </a:rPr>
              <a:t>64%</a:t>
            </a:r>
            <a:endParaRPr lang="en-US" sz="2800" dirty="0"/>
          </a:p>
        </p:txBody>
      </p:sp>
      <p:sp>
        <p:nvSpPr>
          <p:cNvPr id="44" name="Text 42"/>
          <p:cNvSpPr/>
          <p:nvPr/>
        </p:nvSpPr>
        <p:spPr>
          <a:xfrm>
            <a:off x="8521700" y="1967971"/>
            <a:ext cx="2760091" cy="553641"/>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4324A"/>
                </a:solidFill>
                <a:latin typeface="Carlito" pitchFamily="34" charset="0"/>
                <a:ea typeface="Carlito" pitchFamily="34" charset="-122"/>
                <a:cs typeface="Carlito" pitchFamily="34" charset="-120"/>
              </a:rPr>
              <a:t>of WebberStop’s ₹7.4 L rise is Kubernetes plus GPU</a:t>
            </a:r>
            <a:endParaRPr lang="en-US" sz="1600" dirty="0"/>
          </a:p>
        </p:txBody>
      </p:sp>
      <p:sp>
        <p:nvSpPr>
          <p:cNvPr id="45" name="Shape 43"/>
          <p:cNvSpPr/>
          <p:nvPr/>
        </p:nvSpPr>
        <p:spPr>
          <a:xfrm>
            <a:off x="6807200" y="2750212"/>
            <a:ext cx="4572000" cy="833041"/>
          </a:xfrm>
          <a:prstGeom prst="roundRect">
            <a:avLst>
              <a:gd name="adj" fmla="val 6098"/>
            </a:avLst>
          </a:prstGeom>
          <a:solidFill>
            <a:srgbClr val="E6F3FB"/>
          </a:solidFill>
          <a:ln/>
        </p:spPr>
        <p:txBody>
          <a:bodyPr/>
          <a:lstStyle/>
          <a:p>
            <a:endParaRPr lang="en-IN"/>
          </a:p>
        </p:txBody>
      </p:sp>
      <p:sp>
        <p:nvSpPr>
          <p:cNvPr id="46" name="Shape 44"/>
          <p:cNvSpPr/>
          <p:nvPr/>
        </p:nvSpPr>
        <p:spPr>
          <a:xfrm>
            <a:off x="6807200" y="2750212"/>
            <a:ext cx="4572000" cy="833041"/>
          </a:xfrm>
          <a:custGeom>
            <a:avLst/>
            <a:gdLst/>
            <a:ahLst/>
            <a:cxnLst/>
            <a:rect l="l" t="t" r="r" b="b"/>
            <a:pathLst>
              <a:path w="4572000" h="833041">
                <a:moveTo>
                  <a:pt x="50800" y="833041"/>
                </a:moveTo>
                <a:lnTo>
                  <a:pt x="50800" y="833041"/>
                </a:lnTo>
                <a:arcTo wR="50800" hR="50800" stAng="5400000" swAng="5400000"/>
                <a:lnTo>
                  <a:pt x="0" y="50800"/>
                </a:lnTo>
                <a:arcTo wR="50800" hR="50800" stAng="10800000" swAng="5400000"/>
                <a:lnTo>
                  <a:pt x="50800" y="0"/>
                </a:lnTo>
                <a:lnTo>
                  <a:pt x="50800" y="833041"/>
                </a:lnTo>
                <a:close/>
              </a:path>
            </a:pathLst>
          </a:custGeom>
          <a:solidFill>
            <a:srgbClr val="1F7AB8"/>
          </a:solidFill>
          <a:ln/>
        </p:spPr>
        <p:txBody>
          <a:bodyPr/>
          <a:lstStyle/>
          <a:p>
            <a:endParaRPr lang="en-IN"/>
          </a:p>
        </p:txBody>
      </p:sp>
      <p:sp>
        <p:nvSpPr>
          <p:cNvPr id="47" name="Text 45"/>
          <p:cNvSpPr/>
          <p:nvPr/>
        </p:nvSpPr>
        <p:spPr>
          <a:xfrm>
            <a:off x="7035800" y="2971140"/>
            <a:ext cx="1384300"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4324A"/>
                </a:solidFill>
                <a:latin typeface="Caladea" pitchFamily="18" charset="0"/>
                <a:ea typeface="Caladea" pitchFamily="18" charset="-122"/>
                <a:cs typeface="Caladea" pitchFamily="18" charset="-120"/>
              </a:rPr>
              <a:t>₹2.66 L</a:t>
            </a:r>
            <a:endParaRPr lang="en-US" sz="2800" dirty="0"/>
          </a:p>
        </p:txBody>
      </p:sp>
      <p:sp>
        <p:nvSpPr>
          <p:cNvPr id="48" name="Text 46"/>
          <p:cNvSpPr/>
          <p:nvPr/>
        </p:nvSpPr>
        <p:spPr>
          <a:xfrm>
            <a:off x="8521700" y="2902612"/>
            <a:ext cx="2760091" cy="553641"/>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4324A"/>
                </a:solidFill>
                <a:latin typeface="Carlito" pitchFamily="34" charset="0"/>
                <a:ea typeface="Carlito" pitchFamily="34" charset="-122"/>
                <a:cs typeface="Carlito" pitchFamily="34" charset="-120"/>
              </a:rPr>
              <a:t>Kubernetes in September, from ₹1.9K in June</a:t>
            </a:r>
            <a:endParaRPr lang="en-US" sz="1600" dirty="0"/>
          </a:p>
        </p:txBody>
      </p:sp>
      <p:sp>
        <p:nvSpPr>
          <p:cNvPr id="49" name="Shape 47"/>
          <p:cNvSpPr/>
          <p:nvPr/>
        </p:nvSpPr>
        <p:spPr>
          <a:xfrm>
            <a:off x="6807200" y="3684853"/>
            <a:ext cx="4572000" cy="833041"/>
          </a:xfrm>
          <a:prstGeom prst="roundRect">
            <a:avLst>
              <a:gd name="adj" fmla="val 6098"/>
            </a:avLst>
          </a:prstGeom>
          <a:solidFill>
            <a:srgbClr val="E6F3FB"/>
          </a:solidFill>
          <a:ln/>
        </p:spPr>
        <p:txBody>
          <a:bodyPr/>
          <a:lstStyle/>
          <a:p>
            <a:endParaRPr lang="en-IN"/>
          </a:p>
        </p:txBody>
      </p:sp>
      <p:sp>
        <p:nvSpPr>
          <p:cNvPr id="50" name="Shape 48"/>
          <p:cNvSpPr/>
          <p:nvPr/>
        </p:nvSpPr>
        <p:spPr>
          <a:xfrm>
            <a:off x="6807200" y="3684853"/>
            <a:ext cx="4572000" cy="833041"/>
          </a:xfrm>
          <a:custGeom>
            <a:avLst/>
            <a:gdLst/>
            <a:ahLst/>
            <a:cxnLst/>
            <a:rect l="l" t="t" r="r" b="b"/>
            <a:pathLst>
              <a:path w="4572000" h="833041">
                <a:moveTo>
                  <a:pt x="50800" y="833041"/>
                </a:moveTo>
                <a:lnTo>
                  <a:pt x="50800" y="833041"/>
                </a:lnTo>
                <a:arcTo wR="50800" hR="50800" stAng="5400000" swAng="5400000"/>
                <a:lnTo>
                  <a:pt x="0" y="50800"/>
                </a:lnTo>
                <a:arcTo wR="50800" hR="50800" stAng="10800000" swAng="5400000"/>
                <a:lnTo>
                  <a:pt x="50800" y="0"/>
                </a:lnTo>
                <a:lnTo>
                  <a:pt x="50800" y="833041"/>
                </a:lnTo>
                <a:close/>
              </a:path>
            </a:pathLst>
          </a:custGeom>
          <a:solidFill>
            <a:srgbClr val="1F7AB8"/>
          </a:solidFill>
          <a:ln/>
        </p:spPr>
        <p:txBody>
          <a:bodyPr/>
          <a:lstStyle/>
          <a:p>
            <a:endParaRPr lang="en-IN"/>
          </a:p>
        </p:txBody>
      </p:sp>
      <p:sp>
        <p:nvSpPr>
          <p:cNvPr id="51" name="Text 49"/>
          <p:cNvSpPr/>
          <p:nvPr/>
        </p:nvSpPr>
        <p:spPr>
          <a:xfrm>
            <a:off x="7035800" y="3905780"/>
            <a:ext cx="1384300"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4324A"/>
                </a:solidFill>
                <a:latin typeface="Caladea" pitchFamily="18" charset="0"/>
                <a:ea typeface="Caladea" pitchFamily="18" charset="-122"/>
                <a:cs typeface="Caladea" pitchFamily="18" charset="-120"/>
              </a:rPr>
              <a:t>₹2.12 L</a:t>
            </a:r>
            <a:endParaRPr lang="en-US" sz="2800" dirty="0"/>
          </a:p>
        </p:txBody>
      </p:sp>
      <p:sp>
        <p:nvSpPr>
          <p:cNvPr id="52" name="Text 50"/>
          <p:cNvSpPr/>
          <p:nvPr/>
        </p:nvSpPr>
        <p:spPr>
          <a:xfrm>
            <a:off x="8521700" y="3837253"/>
            <a:ext cx="2760091" cy="553641"/>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4324A"/>
                </a:solidFill>
                <a:latin typeface="Carlito" pitchFamily="34" charset="0"/>
                <a:ea typeface="Carlito" pitchFamily="34" charset="-122"/>
                <a:cs typeface="Carlito" pitchFamily="34" charset="-120"/>
              </a:rPr>
              <a:t>GPU servers in September, from ₹67.5K</a:t>
            </a:r>
            <a:endParaRPr lang="en-US" sz="1600" dirty="0"/>
          </a:p>
        </p:txBody>
      </p:sp>
      <p:sp>
        <p:nvSpPr>
          <p:cNvPr id="53" name="Text 51"/>
          <p:cNvSpPr/>
          <p:nvPr/>
        </p:nvSpPr>
        <p:spPr>
          <a:xfrm>
            <a:off x="6807200" y="4619493"/>
            <a:ext cx="4709160"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6479"/>
                </a:solidFill>
                <a:latin typeface="Carlito" pitchFamily="34" charset="0"/>
                <a:ea typeface="Carlito" pitchFamily="34" charset="-122"/>
                <a:cs typeface="Carlito" pitchFamily="34" charset="-120"/>
              </a:rPr>
              <a:t>The run-rate is higher than the bill: at closing size WebberStop is about ₹41.2 L a month, not ₹38.3 L.</a:t>
            </a:r>
            <a:endParaRPr lang="en-US" sz="1400" dirty="0"/>
          </a:p>
        </p:txBody>
      </p:sp>
      <p:sp>
        <p:nvSpPr>
          <p:cNvPr id="54" name="Text 5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7388"/>
                </a:solidFill>
                <a:latin typeface="Carlito" pitchFamily="34" charset="0"/>
                <a:ea typeface="Carlito" pitchFamily="34" charset="-122"/>
                <a:cs typeface="Carlito" pitchFamily="34" charset="-120"/>
              </a:rPr>
              <a:t>MARG cloud cost plan · 90 days</a:t>
            </a:r>
            <a:endParaRPr lang="en-US" sz="1200" dirty="0"/>
          </a:p>
        </p:txBody>
      </p:sp>
      <p:sp>
        <p:nvSpPr>
          <p:cNvPr id="55" name="Text 5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7388"/>
                </a:solidFill>
                <a:latin typeface="Carlito" pitchFamily="34" charset="0"/>
                <a:ea typeface="Carlito" pitchFamily="34" charset="-122"/>
                <a:cs typeface="Carlito"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35000"/>
            <a:ext cx="2516651" cy="375907"/>
          </a:xfrm>
          <a:prstGeom prst="roundRect">
            <a:avLst>
              <a:gd name="adj" fmla="val 10135"/>
            </a:avLst>
          </a:prstGeom>
          <a:solidFill>
            <a:srgbClr val="1F7AB8"/>
          </a:solidFill>
          <a:ln/>
        </p:spPr>
        <p:txBody>
          <a:bodyPr wrap="none" lIns="0" tIns="0" rIns="0" bIns="0" rtlCol="0" anchor="ctr">
            <a:normAutofit/>
          </a:bodyPr>
          <a:lstStyle/>
          <a:p>
            <a:pPr marL="0" indent="0" algn="ctr">
              <a:lnSpc>
                <a:spcPts val="1960"/>
              </a:lnSpc>
              <a:buNone/>
            </a:pPr>
            <a:r>
              <a:rPr lang="en-US" sz="1400" b="1" kern="0" spc="150" dirty="0">
                <a:solidFill>
                  <a:srgbClr val="FFFFFF"/>
                </a:solidFill>
                <a:latin typeface="Caladea" pitchFamily="18" charset="0"/>
                <a:ea typeface="Caladea" pitchFamily="18" charset="-122"/>
                <a:cs typeface="Caladea" pitchFamily="18" charset="-120"/>
              </a:rPr>
              <a:t>WHY THE BILL IS HIGH</a:t>
            </a:r>
            <a:endParaRPr lang="en-US" sz="1400" dirty="0"/>
          </a:p>
        </p:txBody>
      </p:sp>
      <p:sp>
        <p:nvSpPr>
          <p:cNvPr id="3" name="Text 1"/>
          <p:cNvSpPr>
            <a:spLocks noGrp="1"/>
          </p:cNvSpPr>
          <p:nvPr>
            <p:ph type="title"/>
          </p:nvPr>
        </p:nvSpPr>
        <p:spPr>
          <a:xfrm>
            <a:off x="812800" y="1214107"/>
            <a:ext cx="10883392" cy="423664"/>
          </a:xfrm>
          <a:prstGeom prst="rect">
            <a:avLst/>
          </a:prstGeom>
          <a:noFill/>
          <a:ln/>
        </p:spPr>
        <p:txBody>
          <a:bodyPr wrap="square" lIns="0" tIns="0" rIns="0" bIns="0" rtlCol="0" anchor="t">
            <a:normAutofit/>
          </a:bodyPr>
          <a:lstStyle/>
          <a:p>
            <a:pPr marL="0" indent="0" algn="l">
              <a:lnSpc>
                <a:spcPts val="3136"/>
              </a:lnSpc>
              <a:buNone/>
            </a:pPr>
            <a:r>
              <a:rPr lang="en-US" sz="2800" b="1" i="0" dirty="0">
                <a:solidFill>
                  <a:srgbClr val="14324A"/>
                </a:solidFill>
                <a:latin typeface="Caladea" pitchFamily="18" charset="0"/>
                <a:ea typeface="Caladea" pitchFamily="18" charset="-122"/>
                <a:cs typeface="Caladea" pitchFamily="18" charset="-120"/>
              </a:rPr>
              <a:t>Servers use only 8% of the CPU we pay for</a:t>
            </a:r>
            <a:endParaRPr lang="en-US" sz="2800" dirty="0"/>
          </a:p>
        </p:txBody>
      </p:sp>
      <p:sp>
        <p:nvSpPr>
          <p:cNvPr id="4" name="Shape 2"/>
          <p:cNvSpPr/>
          <p:nvPr/>
        </p:nvSpPr>
        <p:spPr>
          <a:xfrm>
            <a:off x="812800" y="1815571"/>
            <a:ext cx="3810000" cy="3337322"/>
          </a:xfrm>
          <a:prstGeom prst="roundRect">
            <a:avLst>
              <a:gd name="adj" fmla="val 1522"/>
            </a:avLst>
          </a:prstGeom>
          <a:solidFill>
            <a:srgbClr val="1F7AB8"/>
          </a:solidFill>
          <a:ln/>
        </p:spPr>
        <p:txBody>
          <a:bodyPr/>
          <a:lstStyle/>
          <a:p>
            <a:endParaRPr lang="en-IN"/>
          </a:p>
        </p:txBody>
      </p:sp>
      <p:sp>
        <p:nvSpPr>
          <p:cNvPr id="5" name="Text 3"/>
          <p:cNvSpPr/>
          <p:nvPr/>
        </p:nvSpPr>
        <p:spPr>
          <a:xfrm>
            <a:off x="1066800" y="2069571"/>
            <a:ext cx="3401060"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FFFFF"/>
                </a:solidFill>
                <a:latin typeface="Carlito" pitchFamily="34" charset="0"/>
                <a:ea typeface="Carlito" pitchFamily="34" charset="-122"/>
                <a:cs typeface="Carlito" pitchFamily="34" charset="-120"/>
              </a:rPr>
              <a:t>Average CPU in use across 134 monitored WebberStop servers</a:t>
            </a:r>
            <a:endParaRPr lang="en-US" sz="1500" dirty="0"/>
          </a:p>
        </p:txBody>
      </p:sp>
      <p:sp>
        <p:nvSpPr>
          <p:cNvPr id="6" name="Text 4"/>
          <p:cNvSpPr/>
          <p:nvPr/>
        </p:nvSpPr>
        <p:spPr>
          <a:xfrm>
            <a:off x="1066800" y="2741944"/>
            <a:ext cx="3401060" cy="1422400"/>
          </a:xfrm>
          <a:prstGeom prst="rect">
            <a:avLst/>
          </a:prstGeom>
          <a:noFill/>
          <a:ln/>
        </p:spPr>
        <p:txBody>
          <a:bodyPr wrap="square" lIns="0" tIns="0" rIns="0" bIns="0" rtlCol="0" anchor="t">
            <a:normAutofit/>
          </a:bodyPr>
          <a:lstStyle/>
          <a:p>
            <a:pPr marL="0" indent="0" algn="l">
              <a:lnSpc>
                <a:spcPts val="11000"/>
              </a:lnSpc>
              <a:buNone/>
            </a:pPr>
            <a:r>
              <a:rPr lang="en-US" sz="11000" b="1" dirty="0">
                <a:solidFill>
                  <a:srgbClr val="FFFFFF"/>
                </a:solidFill>
                <a:latin typeface="Caladea" pitchFamily="18" charset="0"/>
                <a:ea typeface="Caladea" pitchFamily="18" charset="-122"/>
                <a:cs typeface="Caladea" pitchFamily="18" charset="-120"/>
              </a:rPr>
              <a:t>8%</a:t>
            </a:r>
            <a:endParaRPr lang="en-US" sz="11000" dirty="0"/>
          </a:p>
        </p:txBody>
      </p:sp>
      <p:sp>
        <p:nvSpPr>
          <p:cNvPr id="7" name="Text 5"/>
          <p:cNvSpPr/>
          <p:nvPr/>
        </p:nvSpPr>
        <p:spPr>
          <a:xfrm>
            <a:off x="1066800" y="4316016"/>
            <a:ext cx="3401060" cy="608277"/>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FFFFF"/>
                </a:solidFill>
                <a:latin typeface="Carlito" pitchFamily="34" charset="0"/>
                <a:ea typeface="Carlito" pitchFamily="34" charset="-122"/>
                <a:cs typeface="Carlito" pitchFamily="34" charset="-120"/>
              </a:rPr>
              <a:t>of the vCPU we pay for, and only 21% in busy hours</a:t>
            </a:r>
            <a:endParaRPr lang="en-US" sz="1700" dirty="0"/>
          </a:p>
        </p:txBody>
      </p:sp>
      <p:sp>
        <p:nvSpPr>
          <p:cNvPr id="8" name="Shape 6"/>
          <p:cNvSpPr/>
          <p:nvPr/>
        </p:nvSpPr>
        <p:spPr>
          <a:xfrm>
            <a:off x="4826000" y="1815571"/>
            <a:ext cx="6553200" cy="2268008"/>
          </a:xfrm>
          <a:prstGeom prst="roundRect">
            <a:avLst>
              <a:gd name="adj" fmla="val 2240"/>
            </a:avLst>
          </a:prstGeom>
          <a:solidFill>
            <a:srgbClr val="E6F3FB"/>
          </a:solidFill>
          <a:ln/>
        </p:spPr>
        <p:txBody>
          <a:bodyPr/>
          <a:lstStyle/>
          <a:p>
            <a:endParaRPr lang="en-IN"/>
          </a:p>
        </p:txBody>
      </p:sp>
      <p:sp>
        <p:nvSpPr>
          <p:cNvPr id="9" name="Text 7"/>
          <p:cNvSpPr/>
          <p:nvPr/>
        </p:nvSpPr>
        <p:spPr>
          <a:xfrm>
            <a:off x="5080000" y="2018771"/>
            <a:ext cx="622655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6479"/>
                </a:solidFill>
                <a:latin typeface="Carlito" pitchFamily="34" charset="0"/>
                <a:ea typeface="Carlito" pitchFamily="34" charset="-122"/>
                <a:cs typeface="Carlito" pitchFamily="34" charset="-120"/>
              </a:rPr>
              <a:t>Average CPU in use by product line, October to 20 Oct</a:t>
            </a:r>
            <a:endParaRPr lang="en-US" sz="1500" dirty="0"/>
          </a:p>
        </p:txBody>
      </p:sp>
      <p:sp>
        <p:nvSpPr>
          <p:cNvPr id="10" name="Text 8"/>
          <p:cNvSpPr/>
          <p:nvPr/>
        </p:nvSpPr>
        <p:spPr>
          <a:xfrm>
            <a:off x="5080000" y="2399771"/>
            <a:ext cx="132080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324A"/>
                </a:solidFill>
                <a:latin typeface="Carlito" pitchFamily="34" charset="0"/>
                <a:ea typeface="Carlito" pitchFamily="34" charset="-122"/>
                <a:cs typeface="Carlito" pitchFamily="34" charset="-120"/>
              </a:rPr>
              <a:t>Azure VMs</a:t>
            </a:r>
            <a:endParaRPr lang="en-US" sz="1600" dirty="0"/>
          </a:p>
        </p:txBody>
      </p:sp>
      <p:sp>
        <p:nvSpPr>
          <p:cNvPr id="11" name="Shape 9"/>
          <p:cNvSpPr/>
          <p:nvPr/>
        </p:nvSpPr>
        <p:spPr>
          <a:xfrm>
            <a:off x="6502400" y="2434034"/>
            <a:ext cx="3162300" cy="215900"/>
          </a:xfrm>
          <a:prstGeom prst="rect">
            <a:avLst/>
          </a:prstGeom>
          <a:solidFill>
            <a:srgbClr val="7CC0EA"/>
          </a:solidFill>
          <a:ln/>
        </p:spPr>
        <p:txBody>
          <a:bodyPr/>
          <a:lstStyle/>
          <a:p>
            <a:endParaRPr lang="en-IN"/>
          </a:p>
        </p:txBody>
      </p:sp>
      <p:sp>
        <p:nvSpPr>
          <p:cNvPr id="12" name="Text 10"/>
          <p:cNvSpPr/>
          <p:nvPr/>
        </p:nvSpPr>
        <p:spPr>
          <a:xfrm>
            <a:off x="9817100" y="2399771"/>
            <a:ext cx="613648"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324A"/>
                </a:solidFill>
                <a:latin typeface="Carlito" pitchFamily="34" charset="0"/>
                <a:ea typeface="Carlito" pitchFamily="34" charset="-122"/>
                <a:cs typeface="Carlito" pitchFamily="34" charset="-120"/>
              </a:rPr>
              <a:t>17.8%</a:t>
            </a:r>
            <a:endParaRPr lang="en-US" sz="1600" dirty="0"/>
          </a:p>
        </p:txBody>
      </p:sp>
      <p:sp>
        <p:nvSpPr>
          <p:cNvPr id="13" name="Text 11"/>
          <p:cNvSpPr/>
          <p:nvPr/>
        </p:nvSpPr>
        <p:spPr>
          <a:xfrm>
            <a:off x="5080000" y="2798499"/>
            <a:ext cx="132080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324A"/>
                </a:solidFill>
                <a:latin typeface="Carlito" pitchFamily="34" charset="0"/>
                <a:ea typeface="Carlito" pitchFamily="34" charset="-122"/>
                <a:cs typeface="Carlito" pitchFamily="34" charset="-120"/>
              </a:rPr>
              <a:t>BOOKS</a:t>
            </a:r>
            <a:endParaRPr lang="en-US" sz="1600" dirty="0"/>
          </a:p>
        </p:txBody>
      </p:sp>
      <p:sp>
        <p:nvSpPr>
          <p:cNvPr id="14" name="Shape 12"/>
          <p:cNvSpPr/>
          <p:nvPr/>
        </p:nvSpPr>
        <p:spPr>
          <a:xfrm>
            <a:off x="6502400" y="2832762"/>
            <a:ext cx="1460500" cy="215900"/>
          </a:xfrm>
          <a:prstGeom prst="rect">
            <a:avLst/>
          </a:prstGeom>
          <a:solidFill>
            <a:srgbClr val="A4D3F0"/>
          </a:solidFill>
          <a:ln/>
        </p:spPr>
        <p:txBody>
          <a:bodyPr/>
          <a:lstStyle/>
          <a:p>
            <a:endParaRPr lang="en-IN"/>
          </a:p>
        </p:txBody>
      </p:sp>
      <p:sp>
        <p:nvSpPr>
          <p:cNvPr id="15" name="Text 13"/>
          <p:cNvSpPr/>
          <p:nvPr/>
        </p:nvSpPr>
        <p:spPr>
          <a:xfrm>
            <a:off x="8115300" y="2798499"/>
            <a:ext cx="490061"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324A"/>
                </a:solidFill>
                <a:latin typeface="Carlito" pitchFamily="34" charset="0"/>
                <a:ea typeface="Carlito" pitchFamily="34" charset="-122"/>
                <a:cs typeface="Carlito" pitchFamily="34" charset="-120"/>
              </a:rPr>
              <a:t>8.2%</a:t>
            </a:r>
            <a:endParaRPr lang="en-US" sz="1600" dirty="0"/>
          </a:p>
        </p:txBody>
      </p:sp>
      <p:sp>
        <p:nvSpPr>
          <p:cNvPr id="16" name="Text 14"/>
          <p:cNvSpPr/>
          <p:nvPr/>
        </p:nvSpPr>
        <p:spPr>
          <a:xfrm>
            <a:off x="5080000" y="3197225"/>
            <a:ext cx="132080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324A"/>
                </a:solidFill>
                <a:latin typeface="Carlito" pitchFamily="34" charset="0"/>
                <a:ea typeface="Carlito" pitchFamily="34" charset="-122"/>
                <a:cs typeface="Carlito" pitchFamily="34" charset="-120"/>
              </a:rPr>
              <a:t>CLOUD</a:t>
            </a:r>
            <a:endParaRPr lang="en-US" sz="1600" dirty="0"/>
          </a:p>
        </p:txBody>
      </p:sp>
      <p:sp>
        <p:nvSpPr>
          <p:cNvPr id="17" name="Shape 15"/>
          <p:cNvSpPr/>
          <p:nvPr/>
        </p:nvSpPr>
        <p:spPr>
          <a:xfrm>
            <a:off x="6502400" y="3231490"/>
            <a:ext cx="1282700" cy="215900"/>
          </a:xfrm>
          <a:prstGeom prst="rect">
            <a:avLst/>
          </a:prstGeom>
          <a:solidFill>
            <a:srgbClr val="A4D3F0"/>
          </a:solidFill>
          <a:ln/>
        </p:spPr>
        <p:txBody>
          <a:bodyPr/>
          <a:lstStyle/>
          <a:p>
            <a:endParaRPr lang="en-IN"/>
          </a:p>
        </p:txBody>
      </p:sp>
      <p:sp>
        <p:nvSpPr>
          <p:cNvPr id="18" name="Text 16"/>
          <p:cNvSpPr/>
          <p:nvPr/>
        </p:nvSpPr>
        <p:spPr>
          <a:xfrm>
            <a:off x="7937500" y="3197225"/>
            <a:ext cx="490061"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324A"/>
                </a:solidFill>
                <a:latin typeface="Carlito" pitchFamily="34" charset="0"/>
                <a:ea typeface="Carlito" pitchFamily="34" charset="-122"/>
                <a:cs typeface="Carlito" pitchFamily="34" charset="-120"/>
              </a:rPr>
              <a:t>7.2%</a:t>
            </a:r>
            <a:endParaRPr lang="en-US" sz="1600" dirty="0"/>
          </a:p>
        </p:txBody>
      </p:sp>
      <p:sp>
        <p:nvSpPr>
          <p:cNvPr id="19" name="Text 17"/>
          <p:cNvSpPr/>
          <p:nvPr/>
        </p:nvSpPr>
        <p:spPr>
          <a:xfrm>
            <a:off x="5080000" y="3595953"/>
            <a:ext cx="132080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324A"/>
                </a:solidFill>
                <a:latin typeface="Carlito" pitchFamily="34" charset="0"/>
                <a:ea typeface="Carlito" pitchFamily="34" charset="-122"/>
                <a:cs typeface="Carlito" pitchFamily="34" charset="-120"/>
              </a:rPr>
              <a:t>ERP</a:t>
            </a:r>
            <a:endParaRPr lang="en-US" sz="1600" dirty="0"/>
          </a:p>
        </p:txBody>
      </p:sp>
      <p:sp>
        <p:nvSpPr>
          <p:cNvPr id="20" name="Shape 18"/>
          <p:cNvSpPr/>
          <p:nvPr/>
        </p:nvSpPr>
        <p:spPr>
          <a:xfrm>
            <a:off x="6502400" y="3630216"/>
            <a:ext cx="374650" cy="215900"/>
          </a:xfrm>
          <a:prstGeom prst="rect">
            <a:avLst/>
          </a:prstGeom>
          <a:solidFill>
            <a:srgbClr val="A4D3F0"/>
          </a:solidFill>
          <a:ln/>
        </p:spPr>
        <p:txBody>
          <a:bodyPr/>
          <a:lstStyle/>
          <a:p>
            <a:endParaRPr lang="en-IN"/>
          </a:p>
        </p:txBody>
      </p:sp>
      <p:sp>
        <p:nvSpPr>
          <p:cNvPr id="21" name="Text 19"/>
          <p:cNvSpPr/>
          <p:nvPr/>
        </p:nvSpPr>
        <p:spPr>
          <a:xfrm>
            <a:off x="7029450" y="3595953"/>
            <a:ext cx="490061"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324A"/>
                </a:solidFill>
                <a:latin typeface="Carlito" pitchFamily="34" charset="0"/>
                <a:ea typeface="Carlito" pitchFamily="34" charset="-122"/>
                <a:cs typeface="Carlito" pitchFamily="34" charset="-120"/>
              </a:rPr>
              <a:t>2.1%</a:t>
            </a:r>
            <a:endParaRPr lang="en-US" sz="1600" dirty="0"/>
          </a:p>
        </p:txBody>
      </p:sp>
      <p:sp>
        <p:nvSpPr>
          <p:cNvPr id="22" name="Text 20"/>
          <p:cNvSpPr/>
          <p:nvPr/>
        </p:nvSpPr>
        <p:spPr>
          <a:xfrm>
            <a:off x="4826000" y="4235980"/>
            <a:ext cx="6553200" cy="916914"/>
          </a:xfrm>
          <a:prstGeom prst="roundRect">
            <a:avLst>
              <a:gd name="adj" fmla="val 5540"/>
            </a:avLst>
          </a:prstGeom>
          <a:solidFill>
            <a:srgbClr val="E6F3FB"/>
          </a:solidFill>
          <a:ln/>
        </p:spPr>
        <p:txBody>
          <a:bodyPr wrap="square" lIns="289921" tIns="150221" rIns="59289" bIns="150221" rtlCol="0" anchor="ctr">
            <a:normAutofit/>
          </a:bodyPr>
          <a:lstStyle/>
          <a:p>
            <a:pPr marL="0" indent="0" algn="l">
              <a:lnSpc>
                <a:spcPts val="2210"/>
              </a:lnSpc>
              <a:buNone/>
            </a:pPr>
            <a:r>
              <a:rPr lang="en-US" sz="1700" b="1" dirty="0">
                <a:solidFill>
                  <a:srgbClr val="14324A"/>
                </a:solidFill>
                <a:latin typeface="Carlito" pitchFamily="34" charset="0"/>
                <a:ea typeface="Carlito" pitchFamily="34" charset="-122"/>
                <a:cs typeface="Carlito" pitchFamily="34" charset="-120"/>
              </a:rPr>
              <a:t>The other side:</a:t>
            </a:r>
            <a:r>
              <a:rPr lang="en-US" sz="1700" dirty="0">
                <a:solidFill>
                  <a:srgbClr val="14324A"/>
                </a:solidFill>
                <a:latin typeface="Carlito" pitchFamily="34" charset="0"/>
                <a:ea typeface="Carlito" pitchFamily="34" charset="-122"/>
                <a:cs typeface="Carlito" pitchFamily="34" charset="-120"/>
              </a:rPr>
              <a:t> 19 servers run hot and need more capacity. We fix these first, then shrink the idle ones.</a:t>
            </a:r>
            <a:endParaRPr lang="en-US" sz="1700" dirty="0"/>
          </a:p>
        </p:txBody>
      </p:sp>
      <p:sp>
        <p:nvSpPr>
          <p:cNvPr id="23" name="Shape 21"/>
          <p:cNvSpPr/>
          <p:nvPr/>
        </p:nvSpPr>
        <p:spPr>
          <a:xfrm>
            <a:off x="4826000" y="4235980"/>
            <a:ext cx="6553200" cy="916914"/>
          </a:xfrm>
          <a:custGeom>
            <a:avLst/>
            <a:gdLst/>
            <a:ahLst/>
            <a:cxnLst/>
            <a:rect l="l" t="t" r="r" b="b"/>
            <a:pathLst>
              <a:path w="6553200" h="916914">
                <a:moveTo>
                  <a:pt x="50800" y="916914"/>
                </a:moveTo>
                <a:lnTo>
                  <a:pt x="50800" y="916914"/>
                </a:lnTo>
                <a:arcTo wR="50800" hR="50800" stAng="5400000" swAng="5400000"/>
                <a:lnTo>
                  <a:pt x="0" y="50800"/>
                </a:lnTo>
                <a:arcTo wR="50800" hR="50800" stAng="10800000" swAng="5400000"/>
                <a:lnTo>
                  <a:pt x="50800" y="0"/>
                </a:lnTo>
                <a:lnTo>
                  <a:pt x="50800" y="916914"/>
                </a:lnTo>
                <a:close/>
              </a:path>
            </a:pathLst>
          </a:custGeom>
          <a:solidFill>
            <a:srgbClr val="1F7AB8"/>
          </a:solidFill>
          <a:ln/>
        </p:spPr>
        <p:txBody>
          <a:bodyPr/>
          <a:lstStyle/>
          <a:p>
            <a:endParaRPr lang="en-IN"/>
          </a:p>
        </p:txBody>
      </p:sp>
      <p:sp>
        <p:nvSpPr>
          <p:cNvPr id="24" name="Text 2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7388"/>
                </a:solidFill>
                <a:latin typeface="Carlito" pitchFamily="34" charset="0"/>
                <a:ea typeface="Carlito" pitchFamily="34" charset="-122"/>
                <a:cs typeface="Carlito" pitchFamily="34" charset="-120"/>
              </a:rPr>
              <a:t>MARG cloud cost plan · 90 days</a:t>
            </a:r>
            <a:endParaRPr lang="en-US" sz="1200" dirty="0"/>
          </a:p>
        </p:txBody>
      </p:sp>
      <p:sp>
        <p:nvSpPr>
          <p:cNvPr id="25" name="Text 2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7388"/>
                </a:solidFill>
                <a:latin typeface="Carlito" pitchFamily="34" charset="0"/>
                <a:ea typeface="Carlito" pitchFamily="34" charset="-122"/>
                <a:cs typeface="Carlito"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35000"/>
            <a:ext cx="1523008" cy="375907"/>
          </a:xfrm>
          <a:prstGeom prst="roundRect">
            <a:avLst>
              <a:gd name="adj" fmla="val 10135"/>
            </a:avLst>
          </a:prstGeom>
          <a:solidFill>
            <a:srgbClr val="1F7AB8"/>
          </a:solidFill>
          <a:ln/>
        </p:spPr>
        <p:txBody>
          <a:bodyPr wrap="none" lIns="0" tIns="0" rIns="0" bIns="0" rtlCol="0" anchor="ctr">
            <a:normAutofit/>
          </a:bodyPr>
          <a:lstStyle/>
          <a:p>
            <a:pPr marL="0" indent="0" algn="ctr">
              <a:lnSpc>
                <a:spcPts val="1960"/>
              </a:lnSpc>
              <a:buNone/>
            </a:pPr>
            <a:r>
              <a:rPr lang="en-US" sz="1400" b="1" kern="0" spc="150" dirty="0">
                <a:solidFill>
                  <a:srgbClr val="FFFFFF"/>
                </a:solidFill>
                <a:latin typeface="Caladea" pitchFamily="18" charset="0"/>
                <a:ea typeface="Caladea" pitchFamily="18" charset="-122"/>
                <a:cs typeface="Caladea" pitchFamily="18" charset="-120"/>
              </a:rPr>
              <a:t>CONFIDENCE</a:t>
            </a:r>
            <a:endParaRPr lang="en-US" sz="1400" dirty="0"/>
          </a:p>
        </p:txBody>
      </p:sp>
      <p:sp>
        <p:nvSpPr>
          <p:cNvPr id="3" name="Text 1"/>
          <p:cNvSpPr>
            <a:spLocks noGrp="1"/>
          </p:cNvSpPr>
          <p:nvPr>
            <p:ph type="title"/>
          </p:nvPr>
        </p:nvSpPr>
        <p:spPr>
          <a:xfrm>
            <a:off x="812800" y="1214109"/>
            <a:ext cx="10883392" cy="423664"/>
          </a:xfrm>
          <a:prstGeom prst="rect">
            <a:avLst/>
          </a:prstGeom>
          <a:noFill/>
          <a:ln/>
        </p:spPr>
        <p:txBody>
          <a:bodyPr wrap="square" lIns="0" tIns="0" rIns="0" bIns="0" rtlCol="0" anchor="t">
            <a:normAutofit/>
          </a:bodyPr>
          <a:lstStyle/>
          <a:p>
            <a:pPr marL="0" indent="0" algn="l">
              <a:lnSpc>
                <a:spcPts val="3136"/>
              </a:lnSpc>
              <a:buNone/>
            </a:pPr>
            <a:r>
              <a:rPr lang="en-US" sz="2800" b="1" i="0" dirty="0">
                <a:solidFill>
                  <a:srgbClr val="14324A"/>
                </a:solidFill>
                <a:latin typeface="Caladea" pitchFamily="18" charset="0"/>
                <a:ea typeface="Caladea" pitchFamily="18" charset="-122"/>
                <a:cs typeface="Caladea" pitchFamily="18" charset="-120"/>
              </a:rPr>
              <a:t>Every saving is labelled by how firm it is</a:t>
            </a:r>
            <a:endParaRPr lang="en-US" sz="2800" dirty="0"/>
          </a:p>
        </p:txBody>
      </p:sp>
      <p:sp>
        <p:nvSpPr>
          <p:cNvPr id="4" name="Shape 2"/>
          <p:cNvSpPr/>
          <p:nvPr/>
        </p:nvSpPr>
        <p:spPr>
          <a:xfrm>
            <a:off x="812800" y="1815573"/>
            <a:ext cx="3386667" cy="2814836"/>
          </a:xfrm>
          <a:prstGeom prst="roundRect">
            <a:avLst>
              <a:gd name="adj" fmla="val 1805"/>
            </a:avLst>
          </a:prstGeom>
          <a:solidFill>
            <a:srgbClr val="E6F3FB"/>
          </a:solidFill>
          <a:ln/>
        </p:spPr>
        <p:txBody>
          <a:bodyPr/>
          <a:lstStyle/>
          <a:p>
            <a:endParaRPr lang="en-IN"/>
          </a:p>
        </p:txBody>
      </p:sp>
      <p:sp>
        <p:nvSpPr>
          <p:cNvPr id="5" name="Shape 3"/>
          <p:cNvSpPr/>
          <p:nvPr/>
        </p:nvSpPr>
        <p:spPr>
          <a:xfrm>
            <a:off x="812800" y="1815573"/>
            <a:ext cx="3386667" cy="2814836"/>
          </a:xfrm>
          <a:custGeom>
            <a:avLst/>
            <a:gdLst/>
            <a:ahLst/>
            <a:cxnLst/>
            <a:rect l="l" t="t" r="r" b="b"/>
            <a:pathLst>
              <a:path w="3386667" h="2814836">
                <a:moveTo>
                  <a:pt x="0" y="63500"/>
                </a:moveTo>
                <a:lnTo>
                  <a:pt x="0" y="50800"/>
                </a:lnTo>
                <a:arcTo wR="50800" hR="50800" stAng="10800000" swAng="5400000"/>
                <a:lnTo>
                  <a:pt x="3335867" y="0"/>
                </a:lnTo>
                <a:arcTo wR="50800" hR="50800" stAng="16200000" swAng="5400000"/>
                <a:lnTo>
                  <a:pt x="3386667" y="63500"/>
                </a:lnTo>
                <a:lnTo>
                  <a:pt x="0" y="63500"/>
                </a:lnTo>
                <a:close/>
              </a:path>
            </a:pathLst>
          </a:custGeom>
          <a:solidFill>
            <a:srgbClr val="A4D3F0"/>
          </a:solidFill>
          <a:ln/>
        </p:spPr>
        <p:txBody>
          <a:bodyPr/>
          <a:lstStyle/>
          <a:p>
            <a:endParaRPr lang="en-IN"/>
          </a:p>
        </p:txBody>
      </p:sp>
      <p:sp>
        <p:nvSpPr>
          <p:cNvPr id="6" name="Text 4"/>
          <p:cNvSpPr/>
          <p:nvPr/>
        </p:nvSpPr>
        <p:spPr>
          <a:xfrm>
            <a:off x="1066800" y="2133073"/>
            <a:ext cx="2965027" cy="274307"/>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F5F8F"/>
                </a:solidFill>
                <a:latin typeface="Carlito" pitchFamily="34" charset="0"/>
                <a:ea typeface="Carlito" pitchFamily="34" charset="-122"/>
                <a:cs typeface="Carlito" pitchFamily="34" charset="-120"/>
              </a:rPr>
              <a:t>PROVEN</a:t>
            </a:r>
            <a:endParaRPr lang="en-US" sz="1400" dirty="0"/>
          </a:p>
        </p:txBody>
      </p:sp>
      <p:sp>
        <p:nvSpPr>
          <p:cNvPr id="7" name="Text 5"/>
          <p:cNvSpPr/>
          <p:nvPr/>
        </p:nvSpPr>
        <p:spPr>
          <a:xfrm>
            <a:off x="1066800" y="2458179"/>
            <a:ext cx="2965027" cy="584200"/>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14324A"/>
                </a:solidFill>
                <a:latin typeface="Caladea" pitchFamily="18" charset="0"/>
                <a:ea typeface="Caladea" pitchFamily="18" charset="-122"/>
                <a:cs typeface="Caladea" pitchFamily="18" charset="-120"/>
              </a:rPr>
              <a:t>₹24.8K</a:t>
            </a:r>
            <a:endParaRPr lang="en-US" sz="4000" dirty="0"/>
          </a:p>
        </p:txBody>
      </p:sp>
      <p:sp>
        <p:nvSpPr>
          <p:cNvPr id="8" name="Text 6"/>
          <p:cNvSpPr/>
          <p:nvPr/>
        </p:nvSpPr>
        <p:spPr>
          <a:xfrm>
            <a:off x="1066800" y="3093179"/>
            <a:ext cx="2965027" cy="899716"/>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4324A"/>
                </a:solidFill>
                <a:latin typeface="Carlito" pitchFamily="34" charset="0"/>
                <a:ea typeface="Carlito" pitchFamily="34" charset="-122"/>
                <a:cs typeface="Carlito" pitchFamily="34" charset="-120"/>
              </a:rPr>
              <a:t>Bills and 30 days of server load: 12 right-sizing moves and 22 unused IPs.</a:t>
            </a:r>
            <a:endParaRPr lang="en-US" sz="1700" dirty="0"/>
          </a:p>
        </p:txBody>
      </p:sp>
      <p:sp>
        <p:nvSpPr>
          <p:cNvPr id="9" name="Text 7"/>
          <p:cNvSpPr/>
          <p:nvPr/>
        </p:nvSpPr>
        <p:spPr>
          <a:xfrm>
            <a:off x="1073150" y="4050044"/>
            <a:ext cx="1331582" cy="320014"/>
          </a:xfrm>
          <a:prstGeom prst="roundRect">
            <a:avLst>
              <a:gd name="adj" fmla="val 50000"/>
            </a:avLst>
          </a:prstGeom>
          <a:noFill/>
          <a:ln w="12700">
            <a:solidFill>
              <a:srgbClr val="A4D3F0"/>
            </a:solidFill>
            <a:prstDash val="solid"/>
          </a:ln>
        </p:spPr>
        <p:txBody>
          <a:bodyPr wrap="none" lIns="0" tIns="0" rIns="0" bIns="0" rtlCol="0" anchor="ctr">
            <a:normAutofit/>
          </a:bodyPr>
          <a:lstStyle/>
          <a:p>
            <a:pPr marL="0" indent="0" algn="ctr">
              <a:lnSpc>
                <a:spcPts val="1820"/>
              </a:lnSpc>
              <a:buNone/>
            </a:pPr>
            <a:r>
              <a:rPr lang="en-US" sz="1300" b="1" dirty="0">
                <a:solidFill>
                  <a:srgbClr val="1F5F8F"/>
                </a:solidFill>
                <a:latin typeface="Carlito" pitchFamily="34" charset="0"/>
                <a:ea typeface="Carlito" pitchFamily="34" charset="-122"/>
                <a:cs typeface="Carlito" pitchFamily="34" charset="-120"/>
              </a:rPr>
              <a:t>Counts as saved</a:t>
            </a:r>
            <a:endParaRPr lang="en-US" sz="1300" dirty="0"/>
          </a:p>
        </p:txBody>
      </p:sp>
      <p:sp>
        <p:nvSpPr>
          <p:cNvPr id="10" name="Shape 8"/>
          <p:cNvSpPr/>
          <p:nvPr/>
        </p:nvSpPr>
        <p:spPr>
          <a:xfrm>
            <a:off x="4402667" y="1815573"/>
            <a:ext cx="3386667" cy="2814836"/>
          </a:xfrm>
          <a:prstGeom prst="roundRect">
            <a:avLst>
              <a:gd name="adj" fmla="val 1805"/>
            </a:avLst>
          </a:prstGeom>
          <a:solidFill>
            <a:srgbClr val="E6F3FB"/>
          </a:solidFill>
          <a:ln/>
        </p:spPr>
        <p:txBody>
          <a:bodyPr/>
          <a:lstStyle/>
          <a:p>
            <a:endParaRPr lang="en-IN"/>
          </a:p>
        </p:txBody>
      </p:sp>
      <p:sp>
        <p:nvSpPr>
          <p:cNvPr id="11" name="Shape 9"/>
          <p:cNvSpPr/>
          <p:nvPr/>
        </p:nvSpPr>
        <p:spPr>
          <a:xfrm>
            <a:off x="4402667" y="1815573"/>
            <a:ext cx="3386667" cy="2814836"/>
          </a:xfrm>
          <a:custGeom>
            <a:avLst/>
            <a:gdLst/>
            <a:ahLst/>
            <a:cxnLst/>
            <a:rect l="l" t="t" r="r" b="b"/>
            <a:pathLst>
              <a:path w="3386667" h="2814836">
                <a:moveTo>
                  <a:pt x="0" y="63500"/>
                </a:moveTo>
                <a:lnTo>
                  <a:pt x="0" y="50800"/>
                </a:lnTo>
                <a:arcTo wR="50800" hR="50800" stAng="10800000" swAng="5400000"/>
                <a:lnTo>
                  <a:pt x="3335867" y="0"/>
                </a:lnTo>
                <a:arcTo wR="50800" hR="50800" stAng="16200000" swAng="5400000"/>
                <a:lnTo>
                  <a:pt x="3386667" y="63500"/>
                </a:lnTo>
                <a:lnTo>
                  <a:pt x="0" y="63500"/>
                </a:lnTo>
                <a:close/>
              </a:path>
            </a:pathLst>
          </a:custGeom>
          <a:solidFill>
            <a:srgbClr val="7CC0EA"/>
          </a:solidFill>
          <a:ln/>
        </p:spPr>
        <p:txBody>
          <a:bodyPr/>
          <a:lstStyle/>
          <a:p>
            <a:endParaRPr lang="en-IN"/>
          </a:p>
        </p:txBody>
      </p:sp>
      <p:sp>
        <p:nvSpPr>
          <p:cNvPr id="12" name="Text 10"/>
          <p:cNvSpPr/>
          <p:nvPr/>
        </p:nvSpPr>
        <p:spPr>
          <a:xfrm>
            <a:off x="4656667" y="2133073"/>
            <a:ext cx="2965027" cy="274307"/>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4A6479"/>
                </a:solidFill>
                <a:latin typeface="Carlito" pitchFamily="34" charset="0"/>
                <a:ea typeface="Carlito" pitchFamily="34" charset="-122"/>
                <a:cs typeface="Carlito" pitchFamily="34" charset="-120"/>
              </a:rPr>
              <a:t>TO CONFIRM</a:t>
            </a:r>
            <a:endParaRPr lang="en-US" sz="1400" dirty="0"/>
          </a:p>
        </p:txBody>
      </p:sp>
      <p:sp>
        <p:nvSpPr>
          <p:cNvPr id="13" name="Text 11"/>
          <p:cNvSpPr/>
          <p:nvPr/>
        </p:nvSpPr>
        <p:spPr>
          <a:xfrm>
            <a:off x="4656667" y="2458179"/>
            <a:ext cx="2965027" cy="584200"/>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14324A"/>
                </a:solidFill>
                <a:latin typeface="Caladea" pitchFamily="18" charset="0"/>
                <a:ea typeface="Caladea" pitchFamily="18" charset="-122"/>
                <a:cs typeface="Caladea" pitchFamily="18" charset="-120"/>
              </a:rPr>
              <a:t>up to ₹7.7 L</a:t>
            </a:r>
            <a:endParaRPr lang="en-US" sz="4000" dirty="0"/>
          </a:p>
        </p:txBody>
      </p:sp>
      <p:sp>
        <p:nvSpPr>
          <p:cNvPr id="14" name="Text 12"/>
          <p:cNvSpPr/>
          <p:nvPr/>
        </p:nvSpPr>
        <p:spPr>
          <a:xfrm>
            <a:off x="4656667" y="3093179"/>
            <a:ext cx="2965027" cy="899716"/>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4324A"/>
                </a:solidFill>
                <a:latin typeface="Carlito" pitchFamily="34" charset="0"/>
                <a:ea typeface="Carlito" pitchFamily="34" charset="-122"/>
                <a:cs typeface="Carlito" pitchFamily="34" charset="-120"/>
              </a:rPr>
              <a:t>Real, but an owner must say yes: old Azure servers, silent servers, discount, disks.</a:t>
            </a:r>
            <a:endParaRPr lang="en-US" sz="1700" dirty="0"/>
          </a:p>
        </p:txBody>
      </p:sp>
      <p:sp>
        <p:nvSpPr>
          <p:cNvPr id="15" name="Text 13"/>
          <p:cNvSpPr/>
          <p:nvPr/>
        </p:nvSpPr>
        <p:spPr>
          <a:xfrm>
            <a:off x="4663017" y="4050044"/>
            <a:ext cx="1821392" cy="320014"/>
          </a:xfrm>
          <a:prstGeom prst="roundRect">
            <a:avLst>
              <a:gd name="adj" fmla="val 50000"/>
            </a:avLst>
          </a:prstGeom>
          <a:noFill/>
          <a:ln w="12700">
            <a:solidFill>
              <a:srgbClr val="7CC0EA"/>
            </a:solidFill>
            <a:prstDash val="solid"/>
          </a:ln>
        </p:spPr>
        <p:txBody>
          <a:bodyPr wrap="none" lIns="0" tIns="0" rIns="0" bIns="0" rtlCol="0" anchor="ctr">
            <a:normAutofit/>
          </a:bodyPr>
          <a:lstStyle/>
          <a:p>
            <a:pPr marL="0" indent="0" algn="ctr">
              <a:lnSpc>
                <a:spcPts val="1820"/>
              </a:lnSpc>
              <a:buNone/>
            </a:pPr>
            <a:r>
              <a:rPr lang="en-US" sz="1300" b="1" dirty="0">
                <a:solidFill>
                  <a:srgbClr val="4A6479"/>
                </a:solidFill>
                <a:latin typeface="Carlito" pitchFamily="34" charset="0"/>
                <a:ea typeface="Carlito" pitchFamily="34" charset="-122"/>
                <a:cs typeface="Carlito" pitchFamily="34" charset="-120"/>
              </a:rPr>
              <a:t>Counts once confirmed</a:t>
            </a:r>
            <a:endParaRPr lang="en-US" sz="1300" dirty="0"/>
          </a:p>
        </p:txBody>
      </p:sp>
      <p:sp>
        <p:nvSpPr>
          <p:cNvPr id="16" name="Shape 14"/>
          <p:cNvSpPr/>
          <p:nvPr/>
        </p:nvSpPr>
        <p:spPr>
          <a:xfrm>
            <a:off x="7992534" y="1815573"/>
            <a:ext cx="3386667" cy="2814836"/>
          </a:xfrm>
          <a:prstGeom prst="roundRect">
            <a:avLst>
              <a:gd name="adj" fmla="val 1805"/>
            </a:avLst>
          </a:prstGeom>
          <a:solidFill>
            <a:srgbClr val="E6F3FB"/>
          </a:solidFill>
          <a:ln/>
        </p:spPr>
        <p:txBody>
          <a:bodyPr/>
          <a:lstStyle/>
          <a:p>
            <a:endParaRPr lang="en-IN"/>
          </a:p>
        </p:txBody>
      </p:sp>
      <p:sp>
        <p:nvSpPr>
          <p:cNvPr id="17" name="Shape 15"/>
          <p:cNvSpPr/>
          <p:nvPr/>
        </p:nvSpPr>
        <p:spPr>
          <a:xfrm>
            <a:off x="7992534" y="1815573"/>
            <a:ext cx="3386667" cy="2814836"/>
          </a:xfrm>
          <a:custGeom>
            <a:avLst/>
            <a:gdLst/>
            <a:ahLst/>
            <a:cxnLst/>
            <a:rect l="l" t="t" r="r" b="b"/>
            <a:pathLst>
              <a:path w="3386667" h="2814836">
                <a:moveTo>
                  <a:pt x="0" y="63500"/>
                </a:moveTo>
                <a:lnTo>
                  <a:pt x="0" y="50800"/>
                </a:lnTo>
                <a:arcTo wR="50800" hR="50800" stAng="10800000" swAng="5400000"/>
                <a:lnTo>
                  <a:pt x="3335867" y="0"/>
                </a:lnTo>
                <a:arcTo wR="50800" hR="50800" stAng="16200000" swAng="5400000"/>
                <a:lnTo>
                  <a:pt x="3386667" y="63500"/>
                </a:lnTo>
                <a:lnTo>
                  <a:pt x="0" y="63500"/>
                </a:lnTo>
                <a:close/>
              </a:path>
            </a:pathLst>
          </a:custGeom>
          <a:solidFill>
            <a:srgbClr val="16578A"/>
          </a:solidFill>
          <a:ln/>
        </p:spPr>
        <p:txBody>
          <a:bodyPr/>
          <a:lstStyle/>
          <a:p>
            <a:endParaRPr lang="en-IN"/>
          </a:p>
        </p:txBody>
      </p:sp>
      <p:sp>
        <p:nvSpPr>
          <p:cNvPr id="18" name="Text 16"/>
          <p:cNvSpPr/>
          <p:nvPr/>
        </p:nvSpPr>
        <p:spPr>
          <a:xfrm>
            <a:off x="8246534" y="2133073"/>
            <a:ext cx="2965027" cy="274307"/>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4A6479"/>
                </a:solidFill>
                <a:latin typeface="Carlito" pitchFamily="34" charset="0"/>
                <a:ea typeface="Carlito" pitchFamily="34" charset="-122"/>
                <a:cs typeface="Carlito" pitchFamily="34" charset="-120"/>
              </a:rPr>
              <a:t>ESTIMATE OR TARGET</a:t>
            </a:r>
            <a:endParaRPr lang="en-US" sz="1400" dirty="0"/>
          </a:p>
        </p:txBody>
      </p:sp>
      <p:sp>
        <p:nvSpPr>
          <p:cNvPr id="19" name="Text 17"/>
          <p:cNvSpPr/>
          <p:nvPr/>
        </p:nvSpPr>
        <p:spPr>
          <a:xfrm>
            <a:off x="8246534" y="2458179"/>
            <a:ext cx="2965027" cy="584200"/>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14324A"/>
                </a:solidFill>
                <a:latin typeface="Caladea" pitchFamily="18" charset="0"/>
                <a:ea typeface="Caladea" pitchFamily="18" charset="-122"/>
                <a:cs typeface="Caladea" pitchFamily="18" charset="-120"/>
              </a:rPr>
              <a:t>up to ₹7.2 L*</a:t>
            </a:r>
            <a:endParaRPr lang="en-US" sz="4000" dirty="0"/>
          </a:p>
        </p:txBody>
      </p:sp>
      <p:sp>
        <p:nvSpPr>
          <p:cNvPr id="20" name="Text 18"/>
          <p:cNvSpPr/>
          <p:nvPr/>
        </p:nvSpPr>
        <p:spPr>
          <a:xfrm>
            <a:off x="8246534" y="3093179"/>
            <a:ext cx="2965027" cy="899716"/>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4324A"/>
                </a:solidFill>
                <a:latin typeface="Carlito" pitchFamily="34" charset="0"/>
                <a:ea typeface="Carlito" pitchFamily="34" charset="-122"/>
                <a:cs typeface="Carlito" pitchFamily="34" charset="-120"/>
              </a:rPr>
              <a:t>Rests on an assumed price or percentage: Azure tuning, first moves, Kubernetes curb.</a:t>
            </a:r>
            <a:endParaRPr lang="en-US" sz="1700" dirty="0"/>
          </a:p>
        </p:txBody>
      </p:sp>
      <p:sp>
        <p:nvSpPr>
          <p:cNvPr id="21" name="Text 19"/>
          <p:cNvSpPr/>
          <p:nvPr/>
        </p:nvSpPr>
        <p:spPr>
          <a:xfrm>
            <a:off x="8252884" y="4050044"/>
            <a:ext cx="1708348" cy="320014"/>
          </a:xfrm>
          <a:prstGeom prst="roundRect">
            <a:avLst>
              <a:gd name="adj" fmla="val 50000"/>
            </a:avLst>
          </a:prstGeom>
          <a:noFill/>
          <a:ln w="12700">
            <a:solidFill>
              <a:srgbClr val="16578A"/>
            </a:solidFill>
            <a:prstDash val="solid"/>
          </a:ln>
        </p:spPr>
        <p:txBody>
          <a:bodyPr wrap="none" lIns="0" tIns="0" rIns="0" bIns="0" rtlCol="0" anchor="ctr">
            <a:normAutofit/>
          </a:bodyPr>
          <a:lstStyle/>
          <a:p>
            <a:pPr marL="0" indent="0" algn="ctr">
              <a:lnSpc>
                <a:spcPts val="1820"/>
              </a:lnSpc>
              <a:buNone/>
            </a:pPr>
            <a:r>
              <a:rPr lang="en-US" sz="1300" b="1" dirty="0">
                <a:solidFill>
                  <a:srgbClr val="14324A"/>
                </a:solidFill>
                <a:latin typeface="Carlito" pitchFamily="34" charset="0"/>
                <a:ea typeface="Carlito" pitchFamily="34" charset="-122"/>
                <a:cs typeface="Carlito" pitchFamily="34" charset="-120"/>
              </a:rPr>
              <a:t>Not counted as saved</a:t>
            </a:r>
            <a:endParaRPr lang="en-US" sz="1300" dirty="0"/>
          </a:p>
        </p:txBody>
      </p:sp>
      <p:sp>
        <p:nvSpPr>
          <p:cNvPr id="22" name="Text 20"/>
          <p:cNvSpPr/>
          <p:nvPr/>
        </p:nvSpPr>
        <p:spPr>
          <a:xfrm>
            <a:off x="812800" y="4833609"/>
            <a:ext cx="10566400" cy="568920"/>
          </a:xfrm>
          <a:prstGeom prst="roundRect">
            <a:avLst>
              <a:gd name="adj" fmla="val 8929"/>
            </a:avLst>
          </a:prstGeom>
          <a:solidFill>
            <a:srgbClr val="E6F3FB"/>
          </a:solidFill>
          <a:ln/>
        </p:spPr>
        <p:txBody>
          <a:bodyPr wrap="square" lIns="289921" tIns="137521" rIns="0" bIns="112121" rtlCol="0" anchor="t">
            <a:normAutofit/>
          </a:bodyPr>
          <a:lstStyle/>
          <a:p>
            <a:pPr marL="0" indent="0" algn="l">
              <a:lnSpc>
                <a:spcPts val="2080"/>
              </a:lnSpc>
              <a:buNone/>
            </a:pPr>
            <a:r>
              <a:rPr lang="en-US" sz="1600" dirty="0">
                <a:solidFill>
                  <a:srgbClr val="14324A"/>
                </a:solidFill>
                <a:latin typeface="Carlito" pitchFamily="34" charset="0"/>
                <a:ea typeface="Carlito" pitchFamily="34" charset="-122"/>
                <a:cs typeface="Carlito" pitchFamily="34" charset="-120"/>
              </a:rPr>
              <a:t>We report the three buckets separately every week. Lines overlap slightly, so they are not added together.</a:t>
            </a:r>
            <a:endParaRPr lang="en-US" sz="1600" dirty="0"/>
          </a:p>
        </p:txBody>
      </p:sp>
      <p:sp>
        <p:nvSpPr>
          <p:cNvPr id="23" name="Shape 21"/>
          <p:cNvSpPr/>
          <p:nvPr/>
        </p:nvSpPr>
        <p:spPr>
          <a:xfrm>
            <a:off x="812800" y="4833609"/>
            <a:ext cx="10566400" cy="568920"/>
          </a:xfrm>
          <a:custGeom>
            <a:avLst/>
            <a:gdLst/>
            <a:ahLst/>
            <a:cxnLst/>
            <a:rect l="l" t="t" r="r" b="b"/>
            <a:pathLst>
              <a:path w="10566400" h="568920">
                <a:moveTo>
                  <a:pt x="50800" y="568920"/>
                </a:moveTo>
                <a:lnTo>
                  <a:pt x="50800" y="568920"/>
                </a:lnTo>
                <a:arcTo wR="50800" hR="50800" stAng="5400000" swAng="5400000"/>
                <a:lnTo>
                  <a:pt x="0" y="50800"/>
                </a:lnTo>
                <a:arcTo wR="50800" hR="50800" stAng="10800000" swAng="5400000"/>
                <a:lnTo>
                  <a:pt x="50800" y="0"/>
                </a:lnTo>
                <a:lnTo>
                  <a:pt x="50800" y="568920"/>
                </a:lnTo>
                <a:close/>
              </a:path>
            </a:pathLst>
          </a:custGeom>
          <a:solidFill>
            <a:srgbClr val="1F7AB8"/>
          </a:solidFill>
          <a:ln/>
        </p:spPr>
        <p:txBody>
          <a:bodyPr/>
          <a:lstStyle/>
          <a:p>
            <a:endParaRPr lang="en-IN"/>
          </a:p>
        </p:txBody>
      </p:sp>
      <p:sp>
        <p:nvSpPr>
          <p:cNvPr id="24" name="Text 2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7388"/>
                </a:solidFill>
                <a:latin typeface="Carlito" pitchFamily="34" charset="0"/>
                <a:ea typeface="Carlito" pitchFamily="34" charset="-122"/>
                <a:cs typeface="Carlito" pitchFamily="34" charset="-120"/>
              </a:rPr>
              <a:t>MARG cloud cost plan · 90 days</a:t>
            </a:r>
            <a:endParaRPr lang="en-US" sz="1200" dirty="0"/>
          </a:p>
        </p:txBody>
      </p:sp>
      <p:sp>
        <p:nvSpPr>
          <p:cNvPr id="25" name="Text 2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7388"/>
                </a:solidFill>
                <a:latin typeface="Carlito" pitchFamily="34" charset="0"/>
                <a:ea typeface="Carlito" pitchFamily="34" charset="-122"/>
                <a:cs typeface="Carlito" pitchFamily="34" charset="-120"/>
              </a:rPr>
              <a:t>5</a:t>
            </a:r>
            <a:endParaRPr lang="en-US" sz="1200" dirty="0"/>
          </a:p>
        </p:txBody>
      </p:sp>
      <p:sp>
        <p:nvSpPr>
          <p:cNvPr id="27" name="Text 20">
            <a:extLst>
              <a:ext uri="{FF2B5EF4-FFF2-40B4-BE49-F238E27FC236}">
                <a16:creationId xmlns:a16="http://schemas.microsoft.com/office/drawing/2014/main" id="{02D53DE4-5BE2-0450-D00E-4286B5EF36AD}"/>
              </a:ext>
            </a:extLst>
          </p:cNvPr>
          <p:cNvSpPr/>
          <p:nvPr/>
        </p:nvSpPr>
        <p:spPr>
          <a:xfrm>
            <a:off x="827180" y="5598482"/>
            <a:ext cx="10566400" cy="568920"/>
          </a:xfrm>
          <a:prstGeom prst="roundRect">
            <a:avLst>
              <a:gd name="adj" fmla="val 8929"/>
            </a:avLst>
          </a:prstGeom>
          <a:solidFill>
            <a:srgbClr val="E6F3FB"/>
          </a:solidFill>
          <a:ln/>
        </p:spPr>
        <p:txBody>
          <a:bodyPr wrap="square" lIns="289921" tIns="137521" rIns="0" bIns="112121" rtlCol="0" anchor="t">
            <a:normAutofit/>
          </a:bodyPr>
          <a:lstStyle/>
          <a:p>
            <a:pPr marL="0" indent="0" algn="l">
              <a:lnSpc>
                <a:spcPts val="2080"/>
              </a:lnSpc>
              <a:buNone/>
            </a:pPr>
            <a:r>
              <a:rPr lang="en-US" sz="1600" dirty="0">
                <a:solidFill>
                  <a:srgbClr val="14324A"/>
                </a:solidFill>
                <a:latin typeface="Carlito" pitchFamily="34" charset="0"/>
                <a:ea typeface="Carlito" pitchFamily="34" charset="-122"/>
                <a:cs typeface="Carlito" pitchFamily="34" charset="-120"/>
              </a:rPr>
              <a:t>* This does not include cost savings from MARG ERP Live Order Database Migration to WebberStop.</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35000"/>
            <a:ext cx="2333625" cy="375907"/>
          </a:xfrm>
          <a:prstGeom prst="roundRect">
            <a:avLst>
              <a:gd name="adj" fmla="val 10135"/>
            </a:avLst>
          </a:prstGeom>
          <a:solidFill>
            <a:srgbClr val="1F7AB8"/>
          </a:solidFill>
          <a:ln/>
        </p:spPr>
        <p:txBody>
          <a:bodyPr wrap="none" lIns="0" tIns="0" rIns="0" bIns="0" rtlCol="0" anchor="ctr">
            <a:normAutofit/>
          </a:bodyPr>
          <a:lstStyle/>
          <a:p>
            <a:pPr marL="0" indent="0" algn="ctr">
              <a:lnSpc>
                <a:spcPts val="1960"/>
              </a:lnSpc>
              <a:buNone/>
            </a:pPr>
            <a:r>
              <a:rPr lang="en-US" sz="1400" b="1" kern="0" spc="150" dirty="0">
                <a:solidFill>
                  <a:srgbClr val="FFFFFF"/>
                </a:solidFill>
                <a:latin typeface="Caladea" pitchFamily="18" charset="0"/>
                <a:ea typeface="Caladea" pitchFamily="18" charset="-122"/>
                <a:cs typeface="Caladea" pitchFamily="18" charset="-120"/>
              </a:rPr>
              <a:t>THE PLAN ON A PAGE</a:t>
            </a:r>
            <a:endParaRPr lang="en-US" sz="1400" dirty="0"/>
          </a:p>
        </p:txBody>
      </p:sp>
      <p:sp>
        <p:nvSpPr>
          <p:cNvPr id="3" name="Text 1"/>
          <p:cNvSpPr>
            <a:spLocks noGrp="1"/>
          </p:cNvSpPr>
          <p:nvPr>
            <p:ph type="title"/>
          </p:nvPr>
        </p:nvSpPr>
        <p:spPr>
          <a:xfrm>
            <a:off x="812800" y="1214109"/>
            <a:ext cx="10883392" cy="423664"/>
          </a:xfrm>
          <a:prstGeom prst="rect">
            <a:avLst/>
          </a:prstGeom>
          <a:noFill/>
          <a:ln/>
        </p:spPr>
        <p:txBody>
          <a:bodyPr wrap="square" lIns="0" tIns="0" rIns="0" bIns="0" rtlCol="0" anchor="t">
            <a:normAutofit/>
          </a:bodyPr>
          <a:lstStyle/>
          <a:p>
            <a:pPr marL="0" indent="0" algn="l">
              <a:lnSpc>
                <a:spcPts val="3136"/>
              </a:lnSpc>
              <a:buNone/>
            </a:pPr>
            <a:r>
              <a:rPr lang="en-US" sz="2800" b="1" i="0" dirty="0">
                <a:solidFill>
                  <a:srgbClr val="14324A"/>
                </a:solidFill>
                <a:latin typeface="Caladea" pitchFamily="18" charset="0"/>
                <a:ea typeface="Caladea" pitchFamily="18" charset="-122"/>
                <a:cs typeface="Caladea" pitchFamily="18" charset="-120"/>
              </a:rPr>
              <a:t>Eight actions carry most of the saving</a:t>
            </a:r>
            <a:endParaRPr lang="en-US" sz="2800" dirty="0"/>
          </a:p>
        </p:txBody>
      </p:sp>
      <p:sp>
        <p:nvSpPr>
          <p:cNvPr id="4" name="Text 2"/>
          <p:cNvSpPr/>
          <p:nvPr/>
        </p:nvSpPr>
        <p:spPr>
          <a:xfrm>
            <a:off x="812800" y="1815573"/>
            <a:ext cx="274406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6479"/>
                </a:solidFill>
                <a:latin typeface="Carlito" pitchFamily="34" charset="0"/>
                <a:ea typeface="Carlito" pitchFamily="34" charset="-122"/>
                <a:cs typeface="Carlito" pitchFamily="34" charset="-120"/>
              </a:rPr>
              <a:t>Maximum saving per month, ₹ lakh</a:t>
            </a:r>
            <a:endParaRPr lang="en-US" sz="1400" dirty="0"/>
          </a:p>
        </p:txBody>
      </p:sp>
      <p:sp>
        <p:nvSpPr>
          <p:cNvPr id="5" name="Shape 3"/>
          <p:cNvSpPr/>
          <p:nvPr/>
        </p:nvSpPr>
        <p:spPr>
          <a:xfrm>
            <a:off x="3556860" y="1863793"/>
            <a:ext cx="152400" cy="152400"/>
          </a:xfrm>
          <a:prstGeom prst="rect">
            <a:avLst/>
          </a:prstGeom>
          <a:solidFill>
            <a:srgbClr val="7CC0EA"/>
          </a:solidFill>
          <a:ln/>
        </p:spPr>
        <p:txBody>
          <a:bodyPr/>
          <a:lstStyle/>
          <a:p>
            <a:endParaRPr lang="en-IN"/>
          </a:p>
        </p:txBody>
      </p:sp>
      <p:sp>
        <p:nvSpPr>
          <p:cNvPr id="6" name="Text 4"/>
          <p:cNvSpPr/>
          <p:nvPr/>
        </p:nvSpPr>
        <p:spPr>
          <a:xfrm>
            <a:off x="3772760" y="1824434"/>
            <a:ext cx="1277012"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324A"/>
                </a:solidFill>
                <a:latin typeface="Carlito" pitchFamily="34" charset="0"/>
                <a:ea typeface="Carlito" pitchFamily="34" charset="-122"/>
                <a:cs typeface="Carlito" pitchFamily="34" charset="-120"/>
              </a:rPr>
              <a:t>Owner confirms</a:t>
            </a:r>
            <a:endParaRPr lang="en-US" sz="1300" dirty="0"/>
          </a:p>
        </p:txBody>
      </p:sp>
      <p:sp>
        <p:nvSpPr>
          <p:cNvPr id="7" name="Shape 5"/>
          <p:cNvSpPr/>
          <p:nvPr/>
        </p:nvSpPr>
        <p:spPr>
          <a:xfrm>
            <a:off x="5049772" y="1863793"/>
            <a:ext cx="152400" cy="152400"/>
          </a:xfrm>
          <a:prstGeom prst="rect">
            <a:avLst/>
          </a:prstGeom>
          <a:solidFill>
            <a:srgbClr val="16578A"/>
          </a:solidFill>
          <a:ln/>
        </p:spPr>
        <p:txBody>
          <a:bodyPr/>
          <a:lstStyle/>
          <a:p>
            <a:endParaRPr lang="en-IN"/>
          </a:p>
        </p:txBody>
      </p:sp>
      <p:sp>
        <p:nvSpPr>
          <p:cNvPr id="8" name="Text 6"/>
          <p:cNvSpPr/>
          <p:nvPr/>
        </p:nvSpPr>
        <p:spPr>
          <a:xfrm>
            <a:off x="5265672" y="1824434"/>
            <a:ext cx="1440339"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324A"/>
                </a:solidFill>
                <a:latin typeface="Carlito" pitchFamily="34" charset="0"/>
                <a:ea typeface="Carlito" pitchFamily="34" charset="-122"/>
                <a:cs typeface="Carlito" pitchFamily="34" charset="-120"/>
              </a:rPr>
              <a:t>Estimate or target</a:t>
            </a:r>
            <a:endParaRPr lang="en-US" sz="1300" dirty="0"/>
          </a:p>
        </p:txBody>
      </p:sp>
      <p:sp>
        <p:nvSpPr>
          <p:cNvPr id="9" name="Text 7"/>
          <p:cNvSpPr/>
          <p:nvPr/>
        </p:nvSpPr>
        <p:spPr>
          <a:xfrm>
            <a:off x="812800" y="2697163"/>
            <a:ext cx="418592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324A"/>
                </a:solidFill>
                <a:latin typeface="Carlito" pitchFamily="34" charset="0"/>
                <a:ea typeface="Carlito" pitchFamily="34" charset="-122"/>
                <a:cs typeface="Carlito" pitchFamily="34" charset="-120"/>
              </a:rPr>
              <a:t>Move six workloads to WebberStop</a:t>
            </a:r>
            <a:endParaRPr lang="en-US" sz="1600" dirty="0"/>
          </a:p>
        </p:txBody>
      </p:sp>
      <p:sp>
        <p:nvSpPr>
          <p:cNvPr id="10" name="Shape 8"/>
          <p:cNvSpPr/>
          <p:nvPr/>
        </p:nvSpPr>
        <p:spPr>
          <a:xfrm>
            <a:off x="5029200" y="2712377"/>
            <a:ext cx="3302000" cy="254000"/>
          </a:xfrm>
          <a:prstGeom prst="rect">
            <a:avLst/>
          </a:prstGeom>
          <a:solidFill>
            <a:srgbClr val="16578A"/>
          </a:solidFill>
          <a:ln/>
        </p:spPr>
        <p:txBody>
          <a:bodyPr/>
          <a:lstStyle/>
          <a:p>
            <a:endParaRPr lang="en-IN"/>
          </a:p>
        </p:txBody>
      </p:sp>
      <p:sp>
        <p:nvSpPr>
          <p:cNvPr id="11" name="Text 9"/>
          <p:cNvSpPr/>
          <p:nvPr/>
        </p:nvSpPr>
        <p:spPr>
          <a:xfrm>
            <a:off x="8483600" y="2697163"/>
            <a:ext cx="717709"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324A"/>
                </a:solidFill>
                <a:latin typeface="Carlito" pitchFamily="34" charset="0"/>
                <a:ea typeface="Carlito" pitchFamily="34" charset="-122"/>
                <a:cs typeface="Carlito" pitchFamily="34" charset="-120"/>
              </a:rPr>
              <a:t>₹3.26 L</a:t>
            </a:r>
            <a:endParaRPr lang="en-US" sz="1600" dirty="0"/>
          </a:p>
        </p:txBody>
      </p:sp>
      <p:sp>
        <p:nvSpPr>
          <p:cNvPr id="12" name="Text 10"/>
          <p:cNvSpPr/>
          <p:nvPr/>
        </p:nvSpPr>
        <p:spPr>
          <a:xfrm>
            <a:off x="812800" y="3083189"/>
            <a:ext cx="418592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324A"/>
                </a:solidFill>
                <a:latin typeface="Carlito" pitchFamily="34" charset="0"/>
                <a:ea typeface="Carlito" pitchFamily="34" charset="-122"/>
                <a:cs typeface="Carlito" pitchFamily="34" charset="-120"/>
              </a:rPr>
              <a:t>Reserve and trim Azure and backup</a:t>
            </a:r>
            <a:endParaRPr lang="en-US" sz="1600" dirty="0"/>
          </a:p>
        </p:txBody>
      </p:sp>
      <p:sp>
        <p:nvSpPr>
          <p:cNvPr id="13" name="Shape 11"/>
          <p:cNvSpPr/>
          <p:nvPr/>
        </p:nvSpPr>
        <p:spPr>
          <a:xfrm>
            <a:off x="5029200" y="3098403"/>
            <a:ext cx="2990850" cy="254000"/>
          </a:xfrm>
          <a:prstGeom prst="rect">
            <a:avLst/>
          </a:prstGeom>
          <a:solidFill>
            <a:srgbClr val="16578A"/>
          </a:solidFill>
          <a:ln/>
        </p:spPr>
        <p:txBody>
          <a:bodyPr/>
          <a:lstStyle/>
          <a:p>
            <a:endParaRPr lang="en-IN"/>
          </a:p>
        </p:txBody>
      </p:sp>
      <p:sp>
        <p:nvSpPr>
          <p:cNvPr id="14" name="Text 12"/>
          <p:cNvSpPr/>
          <p:nvPr/>
        </p:nvSpPr>
        <p:spPr>
          <a:xfrm>
            <a:off x="8172450" y="3083189"/>
            <a:ext cx="717709"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324A"/>
                </a:solidFill>
                <a:latin typeface="Carlito" pitchFamily="34" charset="0"/>
                <a:ea typeface="Carlito" pitchFamily="34" charset="-122"/>
                <a:cs typeface="Carlito" pitchFamily="34" charset="-120"/>
              </a:rPr>
              <a:t>₹2.95 L</a:t>
            </a:r>
            <a:endParaRPr lang="en-US" sz="1600" dirty="0"/>
          </a:p>
        </p:txBody>
      </p:sp>
      <p:sp>
        <p:nvSpPr>
          <p:cNvPr id="15" name="Text 13"/>
          <p:cNvSpPr/>
          <p:nvPr/>
        </p:nvSpPr>
        <p:spPr>
          <a:xfrm>
            <a:off x="812800" y="3469218"/>
            <a:ext cx="418592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324A"/>
                </a:solidFill>
                <a:latin typeface="Carlito" pitchFamily="34" charset="0"/>
                <a:ea typeface="Carlito" pitchFamily="34" charset="-122"/>
                <a:cs typeface="Carlito" pitchFamily="34" charset="-120"/>
              </a:rPr>
              <a:t>Switch off almost-unused servers</a:t>
            </a:r>
            <a:endParaRPr lang="en-US" sz="1600" dirty="0"/>
          </a:p>
        </p:txBody>
      </p:sp>
      <p:sp>
        <p:nvSpPr>
          <p:cNvPr id="16" name="Shape 14"/>
          <p:cNvSpPr/>
          <p:nvPr/>
        </p:nvSpPr>
        <p:spPr>
          <a:xfrm>
            <a:off x="5029200" y="3484429"/>
            <a:ext cx="2368550" cy="254000"/>
          </a:xfrm>
          <a:prstGeom prst="rect">
            <a:avLst/>
          </a:prstGeom>
          <a:solidFill>
            <a:srgbClr val="7CC0EA"/>
          </a:solidFill>
          <a:ln/>
        </p:spPr>
        <p:txBody>
          <a:bodyPr/>
          <a:lstStyle/>
          <a:p>
            <a:endParaRPr lang="en-IN"/>
          </a:p>
        </p:txBody>
      </p:sp>
      <p:sp>
        <p:nvSpPr>
          <p:cNvPr id="17" name="Text 15"/>
          <p:cNvSpPr/>
          <p:nvPr/>
        </p:nvSpPr>
        <p:spPr>
          <a:xfrm>
            <a:off x="7550150" y="3469218"/>
            <a:ext cx="717709"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324A"/>
                </a:solidFill>
                <a:latin typeface="Carlito" pitchFamily="34" charset="0"/>
                <a:ea typeface="Carlito" pitchFamily="34" charset="-122"/>
                <a:cs typeface="Carlito" pitchFamily="34" charset="-120"/>
              </a:rPr>
              <a:t>₹2.34 L</a:t>
            </a:r>
            <a:endParaRPr lang="en-US" sz="1600" dirty="0"/>
          </a:p>
        </p:txBody>
      </p:sp>
      <p:sp>
        <p:nvSpPr>
          <p:cNvPr id="18" name="Text 16"/>
          <p:cNvSpPr/>
          <p:nvPr/>
        </p:nvSpPr>
        <p:spPr>
          <a:xfrm>
            <a:off x="812800" y="3855244"/>
            <a:ext cx="418592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324A"/>
                </a:solidFill>
                <a:latin typeface="Carlito" pitchFamily="34" charset="0"/>
                <a:ea typeface="Carlito" pitchFamily="34" charset="-122"/>
                <a:cs typeface="Carlito" pitchFamily="34" charset="-120"/>
              </a:rPr>
              <a:t>Stop the old Azure side of moved servers</a:t>
            </a:r>
            <a:endParaRPr lang="en-US" sz="1600" dirty="0"/>
          </a:p>
        </p:txBody>
      </p:sp>
      <p:sp>
        <p:nvSpPr>
          <p:cNvPr id="19" name="Shape 17"/>
          <p:cNvSpPr/>
          <p:nvPr/>
        </p:nvSpPr>
        <p:spPr>
          <a:xfrm>
            <a:off x="5029200" y="3870458"/>
            <a:ext cx="2038350" cy="254000"/>
          </a:xfrm>
          <a:prstGeom prst="rect">
            <a:avLst/>
          </a:prstGeom>
          <a:solidFill>
            <a:srgbClr val="7CC0EA"/>
          </a:solidFill>
          <a:ln/>
        </p:spPr>
        <p:txBody>
          <a:bodyPr/>
          <a:lstStyle/>
          <a:p>
            <a:endParaRPr lang="en-IN"/>
          </a:p>
        </p:txBody>
      </p:sp>
      <p:sp>
        <p:nvSpPr>
          <p:cNvPr id="20" name="Text 18"/>
          <p:cNvSpPr/>
          <p:nvPr/>
        </p:nvSpPr>
        <p:spPr>
          <a:xfrm>
            <a:off x="7219950" y="3855244"/>
            <a:ext cx="717709"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324A"/>
                </a:solidFill>
                <a:latin typeface="Carlito" pitchFamily="34" charset="0"/>
                <a:ea typeface="Carlito" pitchFamily="34" charset="-122"/>
                <a:cs typeface="Carlito" pitchFamily="34" charset="-120"/>
              </a:rPr>
              <a:t>₹2.01 L</a:t>
            </a:r>
            <a:endParaRPr lang="en-US" sz="1600" dirty="0"/>
          </a:p>
        </p:txBody>
      </p:sp>
      <p:sp>
        <p:nvSpPr>
          <p:cNvPr id="21" name="Text 19"/>
          <p:cNvSpPr/>
          <p:nvPr/>
        </p:nvSpPr>
        <p:spPr>
          <a:xfrm>
            <a:off x="812800" y="4241270"/>
            <a:ext cx="418592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324A"/>
                </a:solidFill>
                <a:latin typeface="Carlito" pitchFamily="34" charset="0"/>
                <a:ea typeface="Carlito" pitchFamily="34" charset="-122"/>
                <a:cs typeface="Carlito" pitchFamily="34" charset="-120"/>
              </a:rPr>
              <a:t>Curb Kubernetes growth (half, as target)</a:t>
            </a:r>
            <a:endParaRPr lang="en-US" sz="1600" dirty="0"/>
          </a:p>
        </p:txBody>
      </p:sp>
      <p:sp>
        <p:nvSpPr>
          <p:cNvPr id="22" name="Shape 20"/>
          <p:cNvSpPr/>
          <p:nvPr/>
        </p:nvSpPr>
        <p:spPr>
          <a:xfrm>
            <a:off x="5029200" y="4256485"/>
            <a:ext cx="1339850" cy="254000"/>
          </a:xfrm>
          <a:prstGeom prst="rect">
            <a:avLst/>
          </a:prstGeom>
          <a:solidFill>
            <a:srgbClr val="16578A"/>
          </a:solidFill>
          <a:ln/>
        </p:spPr>
        <p:txBody>
          <a:bodyPr/>
          <a:lstStyle/>
          <a:p>
            <a:endParaRPr lang="en-IN"/>
          </a:p>
        </p:txBody>
      </p:sp>
      <p:sp>
        <p:nvSpPr>
          <p:cNvPr id="23" name="Text 21"/>
          <p:cNvSpPr/>
          <p:nvPr/>
        </p:nvSpPr>
        <p:spPr>
          <a:xfrm>
            <a:off x="6521450" y="4241270"/>
            <a:ext cx="717709"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324A"/>
                </a:solidFill>
                <a:latin typeface="Carlito" pitchFamily="34" charset="0"/>
                <a:ea typeface="Carlito" pitchFamily="34" charset="-122"/>
                <a:cs typeface="Carlito" pitchFamily="34" charset="-120"/>
              </a:rPr>
              <a:t>₹1.32 L</a:t>
            </a:r>
            <a:endParaRPr lang="en-US" sz="1600" dirty="0"/>
          </a:p>
        </p:txBody>
      </p:sp>
      <p:sp>
        <p:nvSpPr>
          <p:cNvPr id="24" name="Text 22"/>
          <p:cNvSpPr/>
          <p:nvPr/>
        </p:nvSpPr>
        <p:spPr>
          <a:xfrm>
            <a:off x="812800" y="4627299"/>
            <a:ext cx="418592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324A"/>
                </a:solidFill>
                <a:latin typeface="Carlito" pitchFamily="34" charset="0"/>
                <a:ea typeface="Carlito" pitchFamily="34" charset="-122"/>
                <a:cs typeface="Carlito" pitchFamily="34" charset="-120"/>
              </a:rPr>
              <a:t>Confirm and stop nine silent servers</a:t>
            </a:r>
            <a:endParaRPr lang="en-US" sz="1600" dirty="0"/>
          </a:p>
        </p:txBody>
      </p:sp>
      <p:sp>
        <p:nvSpPr>
          <p:cNvPr id="25" name="Shape 23"/>
          <p:cNvSpPr/>
          <p:nvPr/>
        </p:nvSpPr>
        <p:spPr>
          <a:xfrm>
            <a:off x="5029200" y="4642511"/>
            <a:ext cx="1276350" cy="254000"/>
          </a:xfrm>
          <a:prstGeom prst="rect">
            <a:avLst/>
          </a:prstGeom>
          <a:solidFill>
            <a:srgbClr val="7CC0EA"/>
          </a:solidFill>
          <a:ln/>
        </p:spPr>
        <p:txBody>
          <a:bodyPr/>
          <a:lstStyle/>
          <a:p>
            <a:endParaRPr lang="en-IN"/>
          </a:p>
        </p:txBody>
      </p:sp>
      <p:sp>
        <p:nvSpPr>
          <p:cNvPr id="26" name="Text 24"/>
          <p:cNvSpPr/>
          <p:nvPr/>
        </p:nvSpPr>
        <p:spPr>
          <a:xfrm>
            <a:off x="6457950" y="4627299"/>
            <a:ext cx="717709"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324A"/>
                </a:solidFill>
                <a:latin typeface="Carlito" pitchFamily="34" charset="0"/>
                <a:ea typeface="Carlito" pitchFamily="34" charset="-122"/>
                <a:cs typeface="Carlito" pitchFamily="34" charset="-120"/>
              </a:rPr>
              <a:t>₹1.26 L</a:t>
            </a:r>
            <a:endParaRPr lang="en-US" sz="1600" dirty="0"/>
          </a:p>
        </p:txBody>
      </p:sp>
      <p:sp>
        <p:nvSpPr>
          <p:cNvPr id="27" name="Text 25"/>
          <p:cNvSpPr/>
          <p:nvPr/>
        </p:nvSpPr>
        <p:spPr>
          <a:xfrm>
            <a:off x="812800" y="5013325"/>
            <a:ext cx="418592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324A"/>
                </a:solidFill>
                <a:latin typeface="Carlito" pitchFamily="34" charset="0"/>
                <a:ea typeface="Carlito" pitchFamily="34" charset="-122"/>
                <a:cs typeface="Carlito" pitchFamily="34" charset="-120"/>
              </a:rPr>
              <a:t>Claim the missing 40% WebberStop discount</a:t>
            </a:r>
            <a:endParaRPr lang="en-US" sz="1600" dirty="0"/>
          </a:p>
        </p:txBody>
      </p:sp>
      <p:sp>
        <p:nvSpPr>
          <p:cNvPr id="28" name="Shape 26"/>
          <p:cNvSpPr/>
          <p:nvPr/>
        </p:nvSpPr>
        <p:spPr>
          <a:xfrm>
            <a:off x="5029200" y="5028540"/>
            <a:ext cx="901700" cy="254000"/>
          </a:xfrm>
          <a:prstGeom prst="rect">
            <a:avLst/>
          </a:prstGeom>
          <a:solidFill>
            <a:srgbClr val="7CC0EA"/>
          </a:solidFill>
          <a:ln/>
        </p:spPr>
        <p:txBody>
          <a:bodyPr/>
          <a:lstStyle/>
          <a:p>
            <a:endParaRPr lang="en-IN"/>
          </a:p>
        </p:txBody>
      </p:sp>
      <p:sp>
        <p:nvSpPr>
          <p:cNvPr id="29" name="Text 27"/>
          <p:cNvSpPr/>
          <p:nvPr/>
        </p:nvSpPr>
        <p:spPr>
          <a:xfrm>
            <a:off x="6083300" y="5013325"/>
            <a:ext cx="717709"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324A"/>
                </a:solidFill>
                <a:latin typeface="Carlito" pitchFamily="34" charset="0"/>
                <a:ea typeface="Carlito" pitchFamily="34" charset="-122"/>
                <a:cs typeface="Carlito" pitchFamily="34" charset="-120"/>
              </a:rPr>
              <a:t>₹0.89 L</a:t>
            </a:r>
            <a:endParaRPr lang="en-US" sz="1600" dirty="0"/>
          </a:p>
        </p:txBody>
      </p:sp>
      <p:sp>
        <p:nvSpPr>
          <p:cNvPr id="30" name="Text 2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7388"/>
                </a:solidFill>
                <a:latin typeface="Carlito" pitchFamily="34" charset="0"/>
                <a:ea typeface="Carlito" pitchFamily="34" charset="-122"/>
                <a:cs typeface="Carlito" pitchFamily="34" charset="-120"/>
              </a:rPr>
              <a:t>MARG cloud cost plan · 90 days</a:t>
            </a:r>
            <a:endParaRPr lang="en-US" sz="1200" dirty="0"/>
          </a:p>
        </p:txBody>
      </p:sp>
      <p:sp>
        <p:nvSpPr>
          <p:cNvPr id="31" name="Text 2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7388"/>
                </a:solidFill>
                <a:latin typeface="Carlito" pitchFamily="34" charset="0"/>
                <a:ea typeface="Carlito" pitchFamily="34" charset="-122"/>
                <a:cs typeface="Carlito" pitchFamily="34" charset="-120"/>
              </a:rPr>
              <a:t>6</a:t>
            </a:r>
            <a:endParaRPr lang="en-US" sz="1200" dirty="0"/>
          </a:p>
        </p:txBody>
      </p:sp>
      <p:sp>
        <p:nvSpPr>
          <p:cNvPr id="33" name="Text 7">
            <a:extLst>
              <a:ext uri="{FF2B5EF4-FFF2-40B4-BE49-F238E27FC236}">
                <a16:creationId xmlns:a16="http://schemas.microsoft.com/office/drawing/2014/main" id="{34700C64-A19C-5325-8F1C-8454882572D3}"/>
              </a:ext>
            </a:extLst>
          </p:cNvPr>
          <p:cNvSpPr/>
          <p:nvPr/>
        </p:nvSpPr>
        <p:spPr>
          <a:xfrm>
            <a:off x="812800" y="2300156"/>
            <a:ext cx="418592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324A"/>
                </a:solidFill>
                <a:latin typeface="Carlito" pitchFamily="34" charset="0"/>
                <a:ea typeface="Carlito" pitchFamily="34" charset="-122"/>
                <a:cs typeface="Carlito" pitchFamily="34" charset="-120"/>
              </a:rPr>
              <a:t>Live Order Database Migration to Webber</a:t>
            </a:r>
            <a:endParaRPr lang="en-US" sz="1600" dirty="0"/>
          </a:p>
        </p:txBody>
      </p:sp>
      <p:sp>
        <p:nvSpPr>
          <p:cNvPr id="35" name="Shape 14">
            <a:extLst>
              <a:ext uri="{FF2B5EF4-FFF2-40B4-BE49-F238E27FC236}">
                <a16:creationId xmlns:a16="http://schemas.microsoft.com/office/drawing/2014/main" id="{14759330-0B47-9DC2-19E6-76E2489DF3A9}"/>
              </a:ext>
            </a:extLst>
          </p:cNvPr>
          <p:cNvSpPr/>
          <p:nvPr/>
        </p:nvSpPr>
        <p:spPr>
          <a:xfrm>
            <a:off x="5029200" y="2311134"/>
            <a:ext cx="5616000" cy="254000"/>
          </a:xfrm>
          <a:prstGeom prst="rect">
            <a:avLst/>
          </a:prstGeom>
          <a:solidFill>
            <a:srgbClr val="16578A"/>
          </a:solidFill>
          <a:ln/>
        </p:spPr>
        <p:txBody>
          <a:bodyPr/>
          <a:lstStyle/>
          <a:p>
            <a:endParaRPr lang="en-IN"/>
          </a:p>
        </p:txBody>
      </p:sp>
      <p:sp>
        <p:nvSpPr>
          <p:cNvPr id="37" name="Text 9">
            <a:extLst>
              <a:ext uri="{FF2B5EF4-FFF2-40B4-BE49-F238E27FC236}">
                <a16:creationId xmlns:a16="http://schemas.microsoft.com/office/drawing/2014/main" id="{A1F21242-B391-CBDD-111A-8C22FBAA1B26}"/>
              </a:ext>
            </a:extLst>
          </p:cNvPr>
          <p:cNvSpPr/>
          <p:nvPr/>
        </p:nvSpPr>
        <p:spPr>
          <a:xfrm>
            <a:off x="10792604" y="2283220"/>
            <a:ext cx="717709"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324A"/>
                </a:solidFill>
                <a:latin typeface="Carlito" pitchFamily="34" charset="0"/>
                <a:ea typeface="Carlito" pitchFamily="34" charset="-122"/>
                <a:cs typeface="Carlito" pitchFamily="34" charset="-120"/>
              </a:rPr>
              <a:t>~₹15.0 L</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35000"/>
            <a:ext cx="2221442" cy="375907"/>
          </a:xfrm>
          <a:prstGeom prst="roundRect">
            <a:avLst>
              <a:gd name="adj" fmla="val 10135"/>
            </a:avLst>
          </a:prstGeom>
          <a:solidFill>
            <a:srgbClr val="1F7AB8"/>
          </a:solidFill>
          <a:ln/>
        </p:spPr>
        <p:txBody>
          <a:bodyPr wrap="none" lIns="0" tIns="0" rIns="0" bIns="0" rtlCol="0" anchor="ctr">
            <a:normAutofit/>
          </a:bodyPr>
          <a:lstStyle/>
          <a:p>
            <a:pPr marL="0" indent="0" algn="ctr">
              <a:lnSpc>
                <a:spcPts val="1960"/>
              </a:lnSpc>
              <a:buNone/>
            </a:pPr>
            <a:r>
              <a:rPr lang="en-US" sz="1400" b="1" kern="0" spc="150" dirty="0">
                <a:solidFill>
                  <a:srgbClr val="FFFFFF"/>
                </a:solidFill>
                <a:latin typeface="Caladea" pitchFamily="18" charset="0"/>
                <a:ea typeface="Caladea" pitchFamily="18" charset="-122"/>
                <a:cs typeface="Caladea" pitchFamily="18" charset="-120"/>
              </a:rPr>
              <a:t>THE 90-DAY TARGET</a:t>
            </a:r>
            <a:endParaRPr lang="en-US" sz="1400" dirty="0"/>
          </a:p>
        </p:txBody>
      </p:sp>
      <p:sp>
        <p:nvSpPr>
          <p:cNvPr id="3" name="Text 1"/>
          <p:cNvSpPr>
            <a:spLocks noGrp="1"/>
          </p:cNvSpPr>
          <p:nvPr>
            <p:ph type="title"/>
          </p:nvPr>
        </p:nvSpPr>
        <p:spPr>
          <a:xfrm>
            <a:off x="812800" y="1214109"/>
            <a:ext cx="10883392" cy="423664"/>
          </a:xfrm>
          <a:prstGeom prst="rect">
            <a:avLst/>
          </a:prstGeom>
          <a:noFill/>
          <a:ln/>
        </p:spPr>
        <p:txBody>
          <a:bodyPr wrap="square" lIns="0" tIns="0" rIns="0" bIns="0" rtlCol="0" anchor="t">
            <a:normAutofit/>
          </a:bodyPr>
          <a:lstStyle/>
          <a:p>
            <a:pPr marL="0" indent="0" algn="l">
              <a:lnSpc>
                <a:spcPts val="3136"/>
              </a:lnSpc>
              <a:buNone/>
            </a:pPr>
            <a:r>
              <a:rPr lang="en-US" sz="2800" b="1" i="0" dirty="0">
                <a:solidFill>
                  <a:srgbClr val="14324A"/>
                </a:solidFill>
                <a:latin typeface="Caladea" pitchFamily="18" charset="0"/>
                <a:ea typeface="Caladea" pitchFamily="18" charset="-122"/>
                <a:cs typeface="Caladea" pitchFamily="18" charset="-120"/>
              </a:rPr>
              <a:t>The 90-day target is up to ₹14.7 L a month*</a:t>
            </a:r>
            <a:endParaRPr lang="en-US" sz="2800" dirty="0"/>
          </a:p>
        </p:txBody>
      </p:sp>
      <p:sp>
        <p:nvSpPr>
          <p:cNvPr id="4" name="Text 2"/>
          <p:cNvSpPr/>
          <p:nvPr/>
        </p:nvSpPr>
        <p:spPr>
          <a:xfrm>
            <a:off x="812800" y="1815573"/>
            <a:ext cx="68021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6479"/>
                </a:solidFill>
                <a:latin typeface="Carlito" pitchFamily="34" charset="0"/>
                <a:ea typeface="Carlito" pitchFamily="34" charset="-122"/>
                <a:cs typeface="Carlito" pitchFamily="34" charset="-120"/>
              </a:rPr>
              <a:t>Cumulative saving, ₹ lakh a month</a:t>
            </a:r>
            <a:endParaRPr lang="en-US" sz="1500" dirty="0"/>
          </a:p>
        </p:txBody>
      </p:sp>
      <p:sp>
        <p:nvSpPr>
          <p:cNvPr id="5" name="Text 3"/>
          <p:cNvSpPr/>
          <p:nvPr/>
        </p:nvSpPr>
        <p:spPr>
          <a:xfrm>
            <a:off x="1229836" y="3791744"/>
            <a:ext cx="435928" cy="309827"/>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4324A"/>
                </a:solidFill>
                <a:latin typeface="Carlito" pitchFamily="34" charset="0"/>
                <a:ea typeface="Carlito" pitchFamily="34" charset="-122"/>
                <a:cs typeface="Carlito" pitchFamily="34" charset="-120"/>
              </a:rPr>
              <a:t>4.29</a:t>
            </a:r>
            <a:endParaRPr lang="en-US" sz="1600" dirty="0"/>
          </a:p>
        </p:txBody>
      </p:sp>
      <p:sp>
        <p:nvSpPr>
          <p:cNvPr id="6" name="Shape 4"/>
          <p:cNvSpPr/>
          <p:nvPr/>
        </p:nvSpPr>
        <p:spPr>
          <a:xfrm>
            <a:off x="812800" y="4126973"/>
            <a:ext cx="1270000" cy="596900"/>
          </a:xfrm>
          <a:prstGeom prst="rect">
            <a:avLst/>
          </a:prstGeom>
          <a:solidFill>
            <a:srgbClr val="7CC0EA"/>
          </a:solidFill>
          <a:ln/>
        </p:spPr>
        <p:txBody>
          <a:bodyPr/>
          <a:lstStyle/>
          <a:p>
            <a:endParaRPr lang="en-IN"/>
          </a:p>
        </p:txBody>
      </p:sp>
      <p:sp>
        <p:nvSpPr>
          <p:cNvPr id="7" name="Text 5"/>
          <p:cNvSpPr/>
          <p:nvPr/>
        </p:nvSpPr>
        <p:spPr>
          <a:xfrm>
            <a:off x="2946010" y="2870994"/>
            <a:ext cx="559514" cy="309827"/>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4324A"/>
                </a:solidFill>
                <a:latin typeface="Carlito" pitchFamily="34" charset="0"/>
                <a:ea typeface="Carlito" pitchFamily="34" charset="-122"/>
                <a:cs typeface="Carlito" pitchFamily="34" charset="-120"/>
              </a:rPr>
              <a:t>10.85</a:t>
            </a:r>
            <a:endParaRPr lang="en-US" sz="1600" dirty="0"/>
          </a:p>
        </p:txBody>
      </p:sp>
      <p:sp>
        <p:nvSpPr>
          <p:cNvPr id="8" name="Shape 6"/>
          <p:cNvSpPr/>
          <p:nvPr/>
        </p:nvSpPr>
        <p:spPr>
          <a:xfrm>
            <a:off x="2590800" y="3206223"/>
            <a:ext cx="1270000" cy="1517650"/>
          </a:xfrm>
          <a:prstGeom prst="rect">
            <a:avLst/>
          </a:prstGeom>
          <a:solidFill>
            <a:srgbClr val="7CC0EA"/>
          </a:solidFill>
          <a:ln/>
        </p:spPr>
        <p:txBody>
          <a:bodyPr/>
          <a:lstStyle/>
          <a:p>
            <a:endParaRPr lang="en-IN"/>
          </a:p>
        </p:txBody>
      </p:sp>
      <p:sp>
        <p:nvSpPr>
          <p:cNvPr id="9" name="Text 7"/>
          <p:cNvSpPr/>
          <p:nvPr/>
        </p:nvSpPr>
        <p:spPr>
          <a:xfrm>
            <a:off x="4724010" y="2521744"/>
            <a:ext cx="559514" cy="309827"/>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4324A"/>
                </a:solidFill>
                <a:latin typeface="Carlito" pitchFamily="34" charset="0"/>
                <a:ea typeface="Carlito" pitchFamily="34" charset="-122"/>
                <a:cs typeface="Carlito" pitchFamily="34" charset="-120"/>
              </a:rPr>
              <a:t>13.37</a:t>
            </a:r>
            <a:endParaRPr lang="en-US" sz="1600" dirty="0"/>
          </a:p>
        </p:txBody>
      </p:sp>
      <p:sp>
        <p:nvSpPr>
          <p:cNvPr id="10" name="Shape 8"/>
          <p:cNvSpPr/>
          <p:nvPr/>
        </p:nvSpPr>
        <p:spPr>
          <a:xfrm>
            <a:off x="4368800" y="2856973"/>
            <a:ext cx="1270000" cy="1866900"/>
          </a:xfrm>
          <a:prstGeom prst="rect">
            <a:avLst/>
          </a:prstGeom>
          <a:solidFill>
            <a:srgbClr val="16578A"/>
          </a:solidFill>
          <a:ln/>
        </p:spPr>
        <p:txBody>
          <a:bodyPr/>
          <a:lstStyle/>
          <a:p>
            <a:endParaRPr lang="en-IN"/>
          </a:p>
        </p:txBody>
      </p:sp>
      <p:sp>
        <p:nvSpPr>
          <p:cNvPr id="11" name="Text 9"/>
          <p:cNvSpPr/>
          <p:nvPr/>
        </p:nvSpPr>
        <p:spPr>
          <a:xfrm>
            <a:off x="6502010" y="2337594"/>
            <a:ext cx="559514" cy="309827"/>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4324A"/>
                </a:solidFill>
                <a:latin typeface="Carlito" pitchFamily="34" charset="0"/>
                <a:ea typeface="Carlito" pitchFamily="34" charset="-122"/>
                <a:cs typeface="Carlito" pitchFamily="34" charset="-120"/>
              </a:rPr>
              <a:t>14.70</a:t>
            </a:r>
            <a:endParaRPr lang="en-US" sz="1600" dirty="0"/>
          </a:p>
        </p:txBody>
      </p:sp>
      <p:sp>
        <p:nvSpPr>
          <p:cNvPr id="12" name="Shape 10"/>
          <p:cNvSpPr/>
          <p:nvPr/>
        </p:nvSpPr>
        <p:spPr>
          <a:xfrm>
            <a:off x="6146800" y="2672823"/>
            <a:ext cx="1270000" cy="2051050"/>
          </a:xfrm>
          <a:prstGeom prst="rect">
            <a:avLst/>
          </a:prstGeom>
          <a:solidFill>
            <a:srgbClr val="16578A"/>
          </a:solidFill>
          <a:ln/>
        </p:spPr>
        <p:txBody>
          <a:bodyPr/>
          <a:lstStyle/>
          <a:p>
            <a:endParaRPr lang="en-IN"/>
          </a:p>
        </p:txBody>
      </p:sp>
      <p:pic>
        <p:nvPicPr>
          <p:cNvPr id="13" name="Image 0" descr="line"/>
          <p:cNvPicPr>
            <a:picLocks noChangeAspect="1"/>
          </p:cNvPicPr>
          <p:nvPr/>
        </p:nvPicPr>
        <p:blipFill>
          <a:blip r:embed="rId3"/>
          <a:srcRect t="-3334" b="-3334"/>
          <a:stretch/>
        </p:blipFill>
        <p:spPr>
          <a:xfrm>
            <a:off x="812800" y="3301473"/>
            <a:ext cx="6604000" cy="33867"/>
          </a:xfrm>
          <a:prstGeom prst="rect">
            <a:avLst/>
          </a:prstGeom>
        </p:spPr>
      </p:pic>
      <p:pic>
        <p:nvPicPr>
          <p:cNvPr id="14" name="Image 1" descr="line"/>
          <p:cNvPicPr>
            <a:picLocks noChangeAspect="1"/>
          </p:cNvPicPr>
          <p:nvPr/>
        </p:nvPicPr>
        <p:blipFill>
          <a:blip r:embed="rId3"/>
          <a:srcRect t="-3334" b="-3334"/>
          <a:stretch/>
        </p:blipFill>
        <p:spPr>
          <a:xfrm>
            <a:off x="812800" y="2825223"/>
            <a:ext cx="6604000" cy="33867"/>
          </a:xfrm>
          <a:prstGeom prst="rect">
            <a:avLst/>
          </a:prstGeom>
        </p:spPr>
      </p:pic>
      <p:sp>
        <p:nvSpPr>
          <p:cNvPr id="15" name="Text 11"/>
          <p:cNvSpPr/>
          <p:nvPr/>
        </p:nvSpPr>
        <p:spPr>
          <a:xfrm>
            <a:off x="812800" y="3072873"/>
            <a:ext cx="1765935"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324A"/>
                </a:solidFill>
                <a:latin typeface="Carlito" pitchFamily="34" charset="0"/>
                <a:ea typeface="Carlito" pitchFamily="34" charset="-122"/>
                <a:cs typeface="Carlito" pitchFamily="34" charset="-120"/>
              </a:rPr>
              <a:t>Goal 15%: ₹10.2 L</a:t>
            </a:r>
            <a:endParaRPr lang="en-US" sz="1300" dirty="0"/>
          </a:p>
        </p:txBody>
      </p:sp>
      <p:sp>
        <p:nvSpPr>
          <p:cNvPr id="16" name="Text 12"/>
          <p:cNvSpPr/>
          <p:nvPr/>
        </p:nvSpPr>
        <p:spPr>
          <a:xfrm>
            <a:off x="812800" y="2596623"/>
            <a:ext cx="1765935"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324A"/>
                </a:solidFill>
                <a:latin typeface="Carlito" pitchFamily="34" charset="0"/>
                <a:ea typeface="Carlito" pitchFamily="34" charset="-122"/>
                <a:cs typeface="Carlito" pitchFamily="34" charset="-120"/>
              </a:rPr>
              <a:t>Goal 20%: ₹13.6 L</a:t>
            </a:r>
            <a:endParaRPr lang="en-US" sz="1300" dirty="0"/>
          </a:p>
        </p:txBody>
      </p:sp>
      <p:sp>
        <p:nvSpPr>
          <p:cNvPr id="17" name="Text 13"/>
          <p:cNvSpPr/>
          <p:nvPr/>
        </p:nvSpPr>
        <p:spPr>
          <a:xfrm>
            <a:off x="787400" y="4825473"/>
            <a:ext cx="1320800" cy="469900"/>
          </a:xfrm>
          <a:prstGeom prst="rect">
            <a:avLst/>
          </a:prstGeom>
          <a:noFill/>
          <a:ln/>
        </p:spPr>
        <p:txBody>
          <a:bodyPr wrap="square" lIns="0" tIns="0" rIns="0" bIns="0" rtlCol="0" anchor="t">
            <a:normAutofit/>
          </a:bodyPr>
          <a:lstStyle/>
          <a:p>
            <a:pPr marL="0" indent="0" algn="ctr">
              <a:lnSpc>
                <a:spcPts val="1750"/>
              </a:lnSpc>
              <a:buNone/>
            </a:pPr>
            <a:r>
              <a:rPr lang="en-US" sz="1400" dirty="0">
                <a:solidFill>
                  <a:srgbClr val="14324A"/>
                </a:solidFill>
                <a:latin typeface="Carlito" pitchFamily="34" charset="0"/>
                <a:ea typeface="Carlito" pitchFamily="34" charset="-122"/>
                <a:cs typeface="Carlito" pitchFamily="34" charset="-120"/>
              </a:rPr>
              <a:t>Step 1, day 30</a:t>
            </a:r>
            <a:endParaRPr lang="en-US" sz="1400" dirty="0"/>
          </a:p>
        </p:txBody>
      </p:sp>
      <p:sp>
        <p:nvSpPr>
          <p:cNvPr id="18" name="Text 14"/>
          <p:cNvSpPr/>
          <p:nvPr/>
        </p:nvSpPr>
        <p:spPr>
          <a:xfrm>
            <a:off x="2565400" y="4825473"/>
            <a:ext cx="1320800" cy="469900"/>
          </a:xfrm>
          <a:prstGeom prst="rect">
            <a:avLst/>
          </a:prstGeom>
          <a:noFill/>
          <a:ln/>
        </p:spPr>
        <p:txBody>
          <a:bodyPr wrap="square" lIns="0" tIns="0" rIns="0" bIns="0" rtlCol="0" anchor="t">
            <a:normAutofit/>
          </a:bodyPr>
          <a:lstStyle/>
          <a:p>
            <a:pPr marL="0" indent="0" algn="ctr">
              <a:lnSpc>
                <a:spcPts val="1750"/>
              </a:lnSpc>
              <a:buNone/>
            </a:pPr>
            <a:r>
              <a:rPr lang="en-US" sz="1400" dirty="0">
                <a:solidFill>
                  <a:srgbClr val="14324A"/>
                </a:solidFill>
                <a:latin typeface="Carlito" pitchFamily="34" charset="0"/>
                <a:ea typeface="Carlito" pitchFamily="34" charset="-122"/>
                <a:cs typeface="Carlito" pitchFamily="34" charset="-120"/>
              </a:rPr>
              <a:t>Step 2, day 90</a:t>
            </a:r>
            <a:endParaRPr lang="en-US" sz="1400" dirty="0"/>
          </a:p>
        </p:txBody>
      </p:sp>
      <p:sp>
        <p:nvSpPr>
          <p:cNvPr id="19" name="Text 15"/>
          <p:cNvSpPr/>
          <p:nvPr/>
        </p:nvSpPr>
        <p:spPr>
          <a:xfrm>
            <a:off x="4343400" y="4825473"/>
            <a:ext cx="1320800" cy="469900"/>
          </a:xfrm>
          <a:prstGeom prst="rect">
            <a:avLst/>
          </a:prstGeom>
          <a:noFill/>
          <a:ln/>
        </p:spPr>
        <p:txBody>
          <a:bodyPr wrap="square" lIns="0" tIns="0" rIns="0" bIns="0" rtlCol="0" anchor="t">
            <a:normAutofit/>
          </a:bodyPr>
          <a:lstStyle/>
          <a:p>
            <a:pPr marL="0" indent="0" algn="ctr">
              <a:lnSpc>
                <a:spcPts val="1750"/>
              </a:lnSpc>
              <a:buNone/>
            </a:pPr>
            <a:r>
              <a:rPr lang="en-US" sz="1400" dirty="0">
                <a:solidFill>
                  <a:srgbClr val="14324A"/>
                </a:solidFill>
                <a:latin typeface="Carlito" pitchFamily="34" charset="0"/>
                <a:ea typeface="Carlito" pitchFamily="34" charset="-122"/>
                <a:cs typeface="Carlito" pitchFamily="34" charset="-120"/>
              </a:rPr>
              <a:t>+ First 3 moves, estimate</a:t>
            </a:r>
            <a:endParaRPr lang="en-US" sz="1400" dirty="0"/>
          </a:p>
        </p:txBody>
      </p:sp>
      <p:sp>
        <p:nvSpPr>
          <p:cNvPr id="20" name="Text 16"/>
          <p:cNvSpPr/>
          <p:nvPr/>
        </p:nvSpPr>
        <p:spPr>
          <a:xfrm>
            <a:off x="6121400" y="4825473"/>
            <a:ext cx="1320800" cy="469900"/>
          </a:xfrm>
          <a:prstGeom prst="rect">
            <a:avLst/>
          </a:prstGeom>
          <a:noFill/>
          <a:ln/>
        </p:spPr>
        <p:txBody>
          <a:bodyPr wrap="square" lIns="0" tIns="0" rIns="0" bIns="0" rtlCol="0" anchor="t">
            <a:normAutofit/>
          </a:bodyPr>
          <a:lstStyle/>
          <a:p>
            <a:pPr marL="0" indent="0" algn="ctr">
              <a:lnSpc>
                <a:spcPts val="1750"/>
              </a:lnSpc>
              <a:buNone/>
            </a:pPr>
            <a:r>
              <a:rPr lang="en-US" sz="1400" dirty="0">
                <a:solidFill>
                  <a:srgbClr val="14324A"/>
                </a:solidFill>
                <a:latin typeface="Carlito" pitchFamily="34" charset="0"/>
                <a:ea typeface="Carlito" pitchFamily="34" charset="-122"/>
                <a:cs typeface="Carlito" pitchFamily="34" charset="-120"/>
              </a:rPr>
              <a:t>+ Kubernetes curb, target</a:t>
            </a:r>
            <a:endParaRPr lang="en-US" sz="1400" dirty="0"/>
          </a:p>
        </p:txBody>
      </p:sp>
      <p:sp>
        <p:nvSpPr>
          <p:cNvPr id="21" name="Shape 17"/>
          <p:cNvSpPr/>
          <p:nvPr/>
        </p:nvSpPr>
        <p:spPr>
          <a:xfrm>
            <a:off x="7721600" y="1815573"/>
            <a:ext cx="3657600" cy="1465527"/>
          </a:xfrm>
          <a:prstGeom prst="roundRect">
            <a:avLst>
              <a:gd name="adj" fmla="val 3466"/>
            </a:avLst>
          </a:prstGeom>
          <a:solidFill>
            <a:srgbClr val="E6F3FB"/>
          </a:solidFill>
          <a:ln/>
        </p:spPr>
        <p:txBody>
          <a:bodyPr/>
          <a:lstStyle/>
          <a:p>
            <a:endParaRPr lang="en-IN"/>
          </a:p>
        </p:txBody>
      </p:sp>
      <p:sp>
        <p:nvSpPr>
          <p:cNvPr id="22" name="Shape 18"/>
          <p:cNvSpPr/>
          <p:nvPr/>
        </p:nvSpPr>
        <p:spPr>
          <a:xfrm>
            <a:off x="7721600" y="1815573"/>
            <a:ext cx="3657600" cy="1465527"/>
          </a:xfrm>
          <a:custGeom>
            <a:avLst/>
            <a:gdLst/>
            <a:ahLst/>
            <a:cxnLst/>
            <a:rect l="l" t="t" r="r" b="b"/>
            <a:pathLst>
              <a:path w="3657600" h="1465527">
                <a:moveTo>
                  <a:pt x="50800" y="1465527"/>
                </a:moveTo>
                <a:lnTo>
                  <a:pt x="50800" y="1465527"/>
                </a:lnTo>
                <a:arcTo wR="50800" hR="50800" stAng="5400000" swAng="5400000"/>
                <a:lnTo>
                  <a:pt x="0" y="50800"/>
                </a:lnTo>
                <a:arcTo wR="50800" hR="50800" stAng="10800000" swAng="5400000"/>
                <a:lnTo>
                  <a:pt x="50800" y="0"/>
                </a:lnTo>
                <a:lnTo>
                  <a:pt x="50800" y="1465527"/>
                </a:lnTo>
                <a:close/>
              </a:path>
            </a:pathLst>
          </a:custGeom>
          <a:solidFill>
            <a:srgbClr val="1F7AB8"/>
          </a:solidFill>
          <a:ln/>
        </p:spPr>
        <p:txBody>
          <a:bodyPr/>
          <a:lstStyle/>
          <a:p>
            <a:endParaRPr lang="en-IN"/>
          </a:p>
        </p:txBody>
      </p:sp>
      <p:sp>
        <p:nvSpPr>
          <p:cNvPr id="23" name="Text 19"/>
          <p:cNvSpPr/>
          <p:nvPr/>
        </p:nvSpPr>
        <p:spPr>
          <a:xfrm>
            <a:off x="8001000" y="2018773"/>
            <a:ext cx="3244088"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324A"/>
                </a:solidFill>
                <a:latin typeface="Caladea" pitchFamily="18" charset="0"/>
                <a:ea typeface="Caladea" pitchFamily="18" charset="-122"/>
                <a:cs typeface="Caladea" pitchFamily="18" charset="-120"/>
              </a:rPr>
              <a:t>₹10.9 L</a:t>
            </a:r>
            <a:endParaRPr lang="en-US" sz="3200" dirty="0"/>
          </a:p>
        </p:txBody>
      </p:sp>
      <p:sp>
        <p:nvSpPr>
          <p:cNvPr id="24" name="Text 20"/>
          <p:cNvSpPr/>
          <p:nvPr/>
        </p:nvSpPr>
        <p:spPr>
          <a:xfrm>
            <a:off x="8001000" y="2516584"/>
            <a:ext cx="3244088" cy="586714"/>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14324A"/>
                </a:solidFill>
                <a:latin typeface="Carlito" pitchFamily="34" charset="0"/>
                <a:ea typeface="Carlito" pitchFamily="34" charset="-122"/>
                <a:cs typeface="Carlito" pitchFamily="34" charset="-120"/>
              </a:rPr>
              <a:t>from Steps 1 and 2 alone, 16% of spend</a:t>
            </a:r>
            <a:endParaRPr lang="en-US" sz="1700" dirty="0"/>
          </a:p>
        </p:txBody>
      </p:sp>
      <p:sp>
        <p:nvSpPr>
          <p:cNvPr id="25" name="Shape 21"/>
          <p:cNvSpPr/>
          <p:nvPr/>
        </p:nvSpPr>
        <p:spPr>
          <a:xfrm>
            <a:off x="7721600" y="3433499"/>
            <a:ext cx="3657600" cy="1746184"/>
          </a:xfrm>
          <a:prstGeom prst="roundRect">
            <a:avLst>
              <a:gd name="adj" fmla="val 2909"/>
            </a:avLst>
          </a:prstGeom>
          <a:solidFill>
            <a:srgbClr val="1F7AB8"/>
          </a:solidFill>
          <a:ln/>
        </p:spPr>
        <p:txBody>
          <a:bodyPr/>
          <a:lstStyle/>
          <a:p>
            <a:endParaRPr lang="en-IN"/>
          </a:p>
        </p:txBody>
      </p:sp>
      <p:sp>
        <p:nvSpPr>
          <p:cNvPr id="26" name="Text 22"/>
          <p:cNvSpPr/>
          <p:nvPr/>
        </p:nvSpPr>
        <p:spPr>
          <a:xfrm>
            <a:off x="7950200" y="3636699"/>
            <a:ext cx="3296412"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FFFFF"/>
                </a:solidFill>
                <a:latin typeface="Caladea" pitchFamily="18" charset="0"/>
                <a:ea typeface="Caladea" pitchFamily="18" charset="-122"/>
                <a:cs typeface="Caladea" pitchFamily="18" charset="-120"/>
              </a:rPr>
              <a:t>70%</a:t>
            </a:r>
            <a:endParaRPr lang="en-US" sz="3200" dirty="0"/>
          </a:p>
        </p:txBody>
      </p:sp>
      <p:sp>
        <p:nvSpPr>
          <p:cNvPr id="27" name="Text 23"/>
          <p:cNvSpPr/>
          <p:nvPr/>
        </p:nvSpPr>
        <p:spPr>
          <a:xfrm>
            <a:off x="7950200" y="4134514"/>
            <a:ext cx="3296412" cy="867370"/>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FFFFFF"/>
                </a:solidFill>
                <a:latin typeface="Carlito" pitchFamily="34" charset="0"/>
                <a:ea typeface="Carlito" pitchFamily="34" charset="-122"/>
                <a:cs typeface="Carlito" pitchFamily="34" charset="-120"/>
              </a:rPr>
              <a:t>of the ceiling must land to reach 15%, so decisions are needed in weeks</a:t>
            </a:r>
            <a:endParaRPr lang="en-US" sz="1700" dirty="0"/>
          </a:p>
        </p:txBody>
      </p:sp>
      <p:sp>
        <p:nvSpPr>
          <p:cNvPr id="28" name="Text 2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7388"/>
                </a:solidFill>
                <a:latin typeface="Carlito" pitchFamily="34" charset="0"/>
                <a:ea typeface="Carlito" pitchFamily="34" charset="-122"/>
                <a:cs typeface="Carlito" pitchFamily="34" charset="-120"/>
              </a:rPr>
              <a:t>MARG cloud cost plan · 90 days</a:t>
            </a:r>
            <a:endParaRPr lang="en-US" sz="1200" dirty="0"/>
          </a:p>
        </p:txBody>
      </p:sp>
      <p:sp>
        <p:nvSpPr>
          <p:cNvPr id="29" name="Text 2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7388"/>
                </a:solidFill>
                <a:latin typeface="Carlito" pitchFamily="34" charset="0"/>
                <a:ea typeface="Carlito" pitchFamily="34" charset="-122"/>
                <a:cs typeface="Carlito" pitchFamily="34" charset="-120"/>
              </a:rPr>
              <a:t>7</a:t>
            </a:r>
            <a:endParaRPr lang="en-US" sz="1200" dirty="0"/>
          </a:p>
        </p:txBody>
      </p:sp>
      <p:sp>
        <p:nvSpPr>
          <p:cNvPr id="31" name="TextBox 30">
            <a:extLst>
              <a:ext uri="{FF2B5EF4-FFF2-40B4-BE49-F238E27FC236}">
                <a16:creationId xmlns:a16="http://schemas.microsoft.com/office/drawing/2014/main" id="{9ADE72AB-EF02-F7D7-B308-50729E7B4E2F}"/>
              </a:ext>
            </a:extLst>
          </p:cNvPr>
          <p:cNvSpPr txBox="1"/>
          <p:nvPr/>
        </p:nvSpPr>
        <p:spPr>
          <a:xfrm>
            <a:off x="726503" y="5670842"/>
            <a:ext cx="9992297" cy="348429"/>
          </a:xfrm>
          <a:prstGeom prst="rect">
            <a:avLst/>
          </a:prstGeom>
          <a:solidFill>
            <a:schemeClr val="tx1">
              <a:lumMod val="10000"/>
              <a:lumOff val="90000"/>
            </a:schemeClr>
          </a:solidFill>
        </p:spPr>
        <p:txBody>
          <a:bodyPr wrap="square">
            <a:spAutoFit/>
          </a:bodyPr>
          <a:lstStyle/>
          <a:p>
            <a:pPr marL="0" indent="0" algn="l">
              <a:lnSpc>
                <a:spcPts val="2080"/>
              </a:lnSpc>
              <a:buNone/>
            </a:pPr>
            <a:r>
              <a:rPr lang="en-US" sz="1600" dirty="0">
                <a:solidFill>
                  <a:srgbClr val="14324A"/>
                </a:solidFill>
                <a:latin typeface="Carlito" pitchFamily="34" charset="0"/>
                <a:ea typeface="Carlito" pitchFamily="34" charset="-122"/>
                <a:cs typeface="Carlito" pitchFamily="34" charset="-120"/>
              </a:rPr>
              <a:t>* This does not include cost savings from MARG ERP Live Order Database Migration to WebberStop.</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35000"/>
            <a:ext cx="1265105" cy="375907"/>
          </a:xfrm>
          <a:prstGeom prst="roundRect">
            <a:avLst>
              <a:gd name="adj" fmla="val 10135"/>
            </a:avLst>
          </a:prstGeom>
          <a:solidFill>
            <a:srgbClr val="1F7AB8"/>
          </a:solidFill>
          <a:ln/>
        </p:spPr>
        <p:txBody>
          <a:bodyPr wrap="none" lIns="0" tIns="0" rIns="0" bIns="0" rtlCol="0" anchor="ctr">
            <a:normAutofit/>
          </a:bodyPr>
          <a:lstStyle/>
          <a:p>
            <a:pPr marL="0" indent="0" algn="ctr">
              <a:lnSpc>
                <a:spcPts val="1960"/>
              </a:lnSpc>
              <a:buNone/>
            </a:pPr>
            <a:r>
              <a:rPr lang="en-US" sz="1400" b="1" kern="0" spc="150" dirty="0">
                <a:solidFill>
                  <a:srgbClr val="FFFFFF"/>
                </a:solidFill>
                <a:latin typeface="Caladea" pitchFamily="18" charset="0"/>
                <a:ea typeface="Caladea" pitchFamily="18" charset="-122"/>
                <a:cs typeface="Caladea" pitchFamily="18" charset="-120"/>
              </a:rPr>
              <a:t>ROADMAP</a:t>
            </a:r>
            <a:endParaRPr lang="en-US" sz="1400" dirty="0"/>
          </a:p>
        </p:txBody>
      </p:sp>
      <p:sp>
        <p:nvSpPr>
          <p:cNvPr id="3" name="Text 1"/>
          <p:cNvSpPr>
            <a:spLocks noGrp="1"/>
          </p:cNvSpPr>
          <p:nvPr>
            <p:ph type="title"/>
          </p:nvPr>
        </p:nvSpPr>
        <p:spPr>
          <a:xfrm>
            <a:off x="812800" y="1214109"/>
            <a:ext cx="10883392" cy="423664"/>
          </a:xfrm>
          <a:prstGeom prst="rect">
            <a:avLst/>
          </a:prstGeom>
          <a:noFill/>
          <a:ln/>
        </p:spPr>
        <p:txBody>
          <a:bodyPr wrap="square" lIns="0" tIns="0" rIns="0" bIns="0" rtlCol="0" anchor="t">
            <a:normAutofit/>
          </a:bodyPr>
          <a:lstStyle/>
          <a:p>
            <a:pPr marL="0" indent="0" algn="l">
              <a:lnSpc>
                <a:spcPts val="3136"/>
              </a:lnSpc>
              <a:buNone/>
            </a:pPr>
            <a:r>
              <a:rPr lang="en-US" sz="2800" b="1" i="0" dirty="0">
                <a:solidFill>
                  <a:srgbClr val="14324A"/>
                </a:solidFill>
                <a:latin typeface="Caladea" pitchFamily="18" charset="0"/>
                <a:ea typeface="Caladea" pitchFamily="18" charset="-122"/>
                <a:cs typeface="Caladea" pitchFamily="18" charset="-120"/>
              </a:rPr>
              <a:t>Quick wins first, then size, then move</a:t>
            </a:r>
            <a:endParaRPr lang="en-US" sz="2800" dirty="0"/>
          </a:p>
        </p:txBody>
      </p:sp>
      <p:sp>
        <p:nvSpPr>
          <p:cNvPr id="4" name="Text 2"/>
          <p:cNvSpPr/>
          <p:nvPr/>
        </p:nvSpPr>
        <p:spPr>
          <a:xfrm>
            <a:off x="812800" y="1815573"/>
            <a:ext cx="93980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6479"/>
                </a:solidFill>
                <a:latin typeface="Carlito" pitchFamily="34" charset="0"/>
                <a:ea typeface="Carlito" pitchFamily="34" charset="-122"/>
                <a:cs typeface="Carlito" pitchFamily="34" charset="-120"/>
              </a:rPr>
              <a:t>Day 0</a:t>
            </a:r>
            <a:endParaRPr lang="en-US" sz="1300" dirty="0"/>
          </a:p>
        </p:txBody>
      </p:sp>
      <p:sp>
        <p:nvSpPr>
          <p:cNvPr id="5" name="Text 3"/>
          <p:cNvSpPr/>
          <p:nvPr/>
        </p:nvSpPr>
        <p:spPr>
          <a:xfrm>
            <a:off x="1644650" y="1815573"/>
            <a:ext cx="939800" cy="256514"/>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4A6479"/>
                </a:solidFill>
                <a:latin typeface="Carlito" pitchFamily="34" charset="0"/>
                <a:ea typeface="Carlito" pitchFamily="34" charset="-122"/>
                <a:cs typeface="Carlito" pitchFamily="34" charset="-120"/>
              </a:rPr>
              <a:t>Day 30</a:t>
            </a:r>
            <a:endParaRPr lang="en-US" sz="1300" dirty="0"/>
          </a:p>
        </p:txBody>
      </p:sp>
      <p:sp>
        <p:nvSpPr>
          <p:cNvPr id="6" name="Text 4"/>
          <p:cNvSpPr/>
          <p:nvPr/>
        </p:nvSpPr>
        <p:spPr>
          <a:xfrm>
            <a:off x="2927350" y="1815573"/>
            <a:ext cx="939800" cy="256514"/>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4A6479"/>
                </a:solidFill>
                <a:latin typeface="Carlito" pitchFamily="34" charset="0"/>
                <a:ea typeface="Carlito" pitchFamily="34" charset="-122"/>
                <a:cs typeface="Carlito" pitchFamily="34" charset="-120"/>
              </a:rPr>
              <a:t>Day 60</a:t>
            </a:r>
            <a:endParaRPr lang="en-US" sz="1300" dirty="0"/>
          </a:p>
        </p:txBody>
      </p:sp>
      <p:sp>
        <p:nvSpPr>
          <p:cNvPr id="7" name="Text 5"/>
          <p:cNvSpPr/>
          <p:nvPr/>
        </p:nvSpPr>
        <p:spPr>
          <a:xfrm>
            <a:off x="4216400" y="1815573"/>
            <a:ext cx="939800" cy="256514"/>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4324A"/>
                </a:solidFill>
                <a:latin typeface="Carlito" pitchFamily="34" charset="0"/>
                <a:ea typeface="Carlito" pitchFamily="34" charset="-122"/>
                <a:cs typeface="Carlito" pitchFamily="34" charset="-120"/>
              </a:rPr>
              <a:t>Day 90</a:t>
            </a:r>
            <a:endParaRPr lang="en-US" sz="1300" dirty="0"/>
          </a:p>
        </p:txBody>
      </p:sp>
      <p:sp>
        <p:nvSpPr>
          <p:cNvPr id="8" name="Text 6"/>
          <p:cNvSpPr/>
          <p:nvPr/>
        </p:nvSpPr>
        <p:spPr>
          <a:xfrm>
            <a:off x="7620000" y="1815573"/>
            <a:ext cx="939800" cy="256514"/>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4A6479"/>
                </a:solidFill>
                <a:latin typeface="Carlito" pitchFamily="34" charset="0"/>
                <a:ea typeface="Carlito" pitchFamily="34" charset="-122"/>
                <a:cs typeface="Carlito" pitchFamily="34" charset="-120"/>
              </a:rPr>
              <a:t>Month 6</a:t>
            </a:r>
            <a:endParaRPr lang="en-US" sz="1300" dirty="0"/>
          </a:p>
        </p:txBody>
      </p:sp>
      <p:sp>
        <p:nvSpPr>
          <p:cNvPr id="9" name="Shape 7"/>
          <p:cNvSpPr/>
          <p:nvPr/>
        </p:nvSpPr>
        <p:spPr>
          <a:xfrm>
            <a:off x="812800" y="2145773"/>
            <a:ext cx="2667000" cy="660400"/>
          </a:xfrm>
          <a:prstGeom prst="roundRect">
            <a:avLst>
              <a:gd name="adj" fmla="val 7692"/>
            </a:avLst>
          </a:prstGeom>
          <a:solidFill>
            <a:srgbClr val="E6F3FB"/>
          </a:solidFill>
          <a:ln/>
        </p:spPr>
        <p:txBody>
          <a:bodyPr/>
          <a:lstStyle/>
          <a:p>
            <a:endParaRPr lang="en-IN"/>
          </a:p>
        </p:txBody>
      </p:sp>
      <p:sp>
        <p:nvSpPr>
          <p:cNvPr id="10" name="Shape 8"/>
          <p:cNvSpPr/>
          <p:nvPr/>
        </p:nvSpPr>
        <p:spPr>
          <a:xfrm>
            <a:off x="812800" y="2145773"/>
            <a:ext cx="2667000" cy="660400"/>
          </a:xfrm>
          <a:custGeom>
            <a:avLst/>
            <a:gdLst/>
            <a:ahLst/>
            <a:cxnLst/>
            <a:rect l="l" t="t" r="r" b="b"/>
            <a:pathLst>
              <a:path w="2667000" h="660400">
                <a:moveTo>
                  <a:pt x="50800" y="660400"/>
                </a:moveTo>
                <a:lnTo>
                  <a:pt x="50800" y="660400"/>
                </a:lnTo>
                <a:arcTo wR="50800" hR="50800" stAng="5400000" swAng="5400000"/>
                <a:lnTo>
                  <a:pt x="0" y="50800"/>
                </a:lnTo>
                <a:arcTo wR="50800" hR="50800" stAng="10800000" swAng="5400000"/>
                <a:lnTo>
                  <a:pt x="50800" y="0"/>
                </a:lnTo>
                <a:lnTo>
                  <a:pt x="50800" y="660400"/>
                </a:lnTo>
                <a:close/>
              </a:path>
            </a:pathLst>
          </a:custGeom>
          <a:solidFill>
            <a:srgbClr val="A4D3F0"/>
          </a:solidFill>
          <a:ln/>
        </p:spPr>
        <p:txBody>
          <a:bodyPr/>
          <a:lstStyle/>
          <a:p>
            <a:endParaRPr lang="en-IN"/>
          </a:p>
        </p:txBody>
      </p:sp>
      <p:sp>
        <p:nvSpPr>
          <p:cNvPr id="11" name="Text 9"/>
          <p:cNvSpPr/>
          <p:nvPr/>
        </p:nvSpPr>
        <p:spPr>
          <a:xfrm>
            <a:off x="1016000" y="2218134"/>
            <a:ext cx="238074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324A"/>
                </a:solidFill>
                <a:latin typeface="Carlito" pitchFamily="34" charset="0"/>
                <a:ea typeface="Carlito" pitchFamily="34" charset="-122"/>
                <a:cs typeface="Carlito" pitchFamily="34" charset="-120"/>
              </a:rPr>
              <a:t>Step 1 · Quick wins</a:t>
            </a:r>
            <a:endParaRPr lang="en-US" sz="1500" dirty="0"/>
          </a:p>
        </p:txBody>
      </p:sp>
      <p:sp>
        <p:nvSpPr>
          <p:cNvPr id="12" name="Text 10"/>
          <p:cNvSpPr/>
          <p:nvPr/>
        </p:nvSpPr>
        <p:spPr>
          <a:xfrm>
            <a:off x="1016000" y="2484834"/>
            <a:ext cx="2380742" cy="274307"/>
          </a:xfrm>
          <a:prstGeom prst="rect">
            <a:avLst/>
          </a:prstGeom>
          <a:noFill/>
          <a:ln/>
        </p:spPr>
        <p:txBody>
          <a:bodyPr wrap="square" lIns="0" tIns="0" rIns="0" bIns="0" rtlCol="0" anchor="t">
            <a:normAutofit/>
          </a:bodyPr>
          <a:lstStyle/>
          <a:p>
            <a:pPr marL="0" indent="0" algn="l">
              <a:lnSpc>
                <a:spcPts val="1960"/>
              </a:lnSpc>
              <a:buNone/>
            </a:pPr>
            <a:r>
              <a:rPr lang="en-US" sz="1200" b="1" dirty="0">
                <a:solidFill>
                  <a:srgbClr val="4A6479"/>
                </a:solidFill>
                <a:latin typeface="Carlito" pitchFamily="34" charset="0"/>
                <a:ea typeface="Carlito" pitchFamily="34" charset="-122"/>
                <a:cs typeface="Carlito" pitchFamily="34" charset="-120"/>
              </a:rPr>
              <a:t>up to ₹4.3 L a month</a:t>
            </a:r>
            <a:endParaRPr lang="en-US" sz="1200" b="1" dirty="0"/>
          </a:p>
        </p:txBody>
      </p:sp>
      <p:sp>
        <p:nvSpPr>
          <p:cNvPr id="13" name="Shape 11"/>
          <p:cNvSpPr/>
          <p:nvPr/>
        </p:nvSpPr>
        <p:spPr>
          <a:xfrm>
            <a:off x="812800" y="2882373"/>
            <a:ext cx="2667000" cy="660400"/>
          </a:xfrm>
          <a:prstGeom prst="roundRect">
            <a:avLst>
              <a:gd name="adj" fmla="val 7692"/>
            </a:avLst>
          </a:prstGeom>
          <a:solidFill>
            <a:srgbClr val="E6F3FB"/>
          </a:solidFill>
          <a:ln/>
        </p:spPr>
        <p:txBody>
          <a:bodyPr/>
          <a:lstStyle/>
          <a:p>
            <a:endParaRPr lang="en-IN"/>
          </a:p>
        </p:txBody>
      </p:sp>
      <p:sp>
        <p:nvSpPr>
          <p:cNvPr id="14" name="Shape 12"/>
          <p:cNvSpPr/>
          <p:nvPr/>
        </p:nvSpPr>
        <p:spPr>
          <a:xfrm>
            <a:off x="812800" y="2882373"/>
            <a:ext cx="2667000" cy="660400"/>
          </a:xfrm>
          <a:custGeom>
            <a:avLst/>
            <a:gdLst/>
            <a:ahLst/>
            <a:cxnLst/>
            <a:rect l="l" t="t" r="r" b="b"/>
            <a:pathLst>
              <a:path w="2667000" h="660400">
                <a:moveTo>
                  <a:pt x="50800" y="660400"/>
                </a:moveTo>
                <a:lnTo>
                  <a:pt x="50800" y="660400"/>
                </a:lnTo>
                <a:arcTo wR="50800" hR="50800" stAng="5400000" swAng="5400000"/>
                <a:lnTo>
                  <a:pt x="0" y="50800"/>
                </a:lnTo>
                <a:arcTo wR="50800" hR="50800" stAng="10800000" swAng="5400000"/>
                <a:lnTo>
                  <a:pt x="50800" y="0"/>
                </a:lnTo>
                <a:lnTo>
                  <a:pt x="50800" y="660400"/>
                </a:lnTo>
                <a:close/>
              </a:path>
            </a:pathLst>
          </a:custGeom>
          <a:solidFill>
            <a:srgbClr val="7CC0EA"/>
          </a:solidFill>
          <a:ln/>
        </p:spPr>
        <p:txBody>
          <a:bodyPr/>
          <a:lstStyle/>
          <a:p>
            <a:endParaRPr lang="en-IN"/>
          </a:p>
        </p:txBody>
      </p:sp>
      <p:sp>
        <p:nvSpPr>
          <p:cNvPr id="15" name="Text 13"/>
          <p:cNvSpPr/>
          <p:nvPr/>
        </p:nvSpPr>
        <p:spPr>
          <a:xfrm>
            <a:off x="1016000" y="2954734"/>
            <a:ext cx="238074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324A"/>
                </a:solidFill>
                <a:latin typeface="Carlito" pitchFamily="34" charset="0"/>
                <a:ea typeface="Carlito" pitchFamily="34" charset="-122"/>
                <a:cs typeface="Carlito" pitchFamily="34" charset="-120"/>
              </a:rPr>
              <a:t>Step 2 · Size and tune</a:t>
            </a:r>
            <a:endParaRPr lang="en-US" sz="1500" dirty="0"/>
          </a:p>
        </p:txBody>
      </p:sp>
      <p:sp>
        <p:nvSpPr>
          <p:cNvPr id="16" name="Text 14"/>
          <p:cNvSpPr/>
          <p:nvPr/>
        </p:nvSpPr>
        <p:spPr>
          <a:xfrm>
            <a:off x="1016000" y="3221434"/>
            <a:ext cx="2380742" cy="274307"/>
          </a:xfrm>
          <a:prstGeom prst="rect">
            <a:avLst/>
          </a:prstGeom>
          <a:noFill/>
          <a:ln/>
        </p:spPr>
        <p:txBody>
          <a:bodyPr wrap="square" lIns="0" tIns="0" rIns="0" bIns="0" rtlCol="0" anchor="t">
            <a:normAutofit/>
          </a:bodyPr>
          <a:lstStyle/>
          <a:p>
            <a:pPr marL="0" indent="0" algn="l">
              <a:lnSpc>
                <a:spcPts val="1960"/>
              </a:lnSpc>
              <a:buNone/>
            </a:pPr>
            <a:r>
              <a:rPr lang="en-US" sz="1200" b="1" dirty="0">
                <a:solidFill>
                  <a:srgbClr val="4A6479"/>
                </a:solidFill>
                <a:latin typeface="Carlito" pitchFamily="34" charset="0"/>
                <a:ea typeface="Carlito" pitchFamily="34" charset="-122"/>
                <a:cs typeface="Carlito" pitchFamily="34" charset="-120"/>
              </a:rPr>
              <a:t>up to ₹6.6 L a month</a:t>
            </a:r>
            <a:endParaRPr lang="en-US" sz="1200" b="1" dirty="0"/>
          </a:p>
        </p:txBody>
      </p:sp>
      <p:sp>
        <p:nvSpPr>
          <p:cNvPr id="17" name="Shape 15"/>
          <p:cNvSpPr/>
          <p:nvPr/>
        </p:nvSpPr>
        <p:spPr>
          <a:xfrm>
            <a:off x="812799" y="3618972"/>
            <a:ext cx="3886201" cy="936789"/>
          </a:xfrm>
          <a:prstGeom prst="roundRect">
            <a:avLst>
              <a:gd name="adj" fmla="val 7692"/>
            </a:avLst>
          </a:prstGeom>
          <a:solidFill>
            <a:srgbClr val="E6F3FB"/>
          </a:solidFill>
          <a:ln/>
        </p:spPr>
        <p:txBody>
          <a:bodyPr/>
          <a:lstStyle/>
          <a:p>
            <a:endParaRPr lang="en-IN"/>
          </a:p>
        </p:txBody>
      </p:sp>
      <p:sp>
        <p:nvSpPr>
          <p:cNvPr id="18" name="Shape 16"/>
          <p:cNvSpPr/>
          <p:nvPr/>
        </p:nvSpPr>
        <p:spPr>
          <a:xfrm>
            <a:off x="812799" y="3618972"/>
            <a:ext cx="3886201" cy="936789"/>
          </a:xfrm>
          <a:custGeom>
            <a:avLst/>
            <a:gdLst/>
            <a:ahLst/>
            <a:cxnLst/>
            <a:rect l="l" t="t" r="r" b="b"/>
            <a:pathLst>
              <a:path w="2667000" h="660400">
                <a:moveTo>
                  <a:pt x="50800" y="660400"/>
                </a:moveTo>
                <a:lnTo>
                  <a:pt x="50800" y="660400"/>
                </a:lnTo>
                <a:arcTo wR="50800" hR="50800" stAng="5400000" swAng="5400000"/>
                <a:lnTo>
                  <a:pt x="0" y="50800"/>
                </a:lnTo>
                <a:arcTo wR="50800" hR="50800" stAng="10800000" swAng="5400000"/>
                <a:lnTo>
                  <a:pt x="50800" y="0"/>
                </a:lnTo>
                <a:lnTo>
                  <a:pt x="50800" y="660400"/>
                </a:lnTo>
                <a:close/>
              </a:path>
            </a:pathLst>
          </a:custGeom>
          <a:solidFill>
            <a:srgbClr val="16578A"/>
          </a:solidFill>
          <a:ln/>
        </p:spPr>
        <p:txBody>
          <a:bodyPr/>
          <a:lstStyle/>
          <a:p>
            <a:endParaRPr lang="en-IN"/>
          </a:p>
        </p:txBody>
      </p:sp>
      <p:sp>
        <p:nvSpPr>
          <p:cNvPr id="19" name="Text 17"/>
          <p:cNvSpPr/>
          <p:nvPr/>
        </p:nvSpPr>
        <p:spPr>
          <a:xfrm>
            <a:off x="1016000" y="3691333"/>
            <a:ext cx="3469082" cy="414349"/>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324A"/>
                </a:solidFill>
                <a:latin typeface="Carlito" pitchFamily="34" charset="0"/>
                <a:ea typeface="Carlito" pitchFamily="34" charset="-122"/>
                <a:cs typeface="Carlito" pitchFamily="34" charset="-120"/>
              </a:rPr>
              <a:t>Step 3 · Move</a:t>
            </a:r>
            <a:endParaRPr lang="en-US" sz="1500" dirty="0"/>
          </a:p>
        </p:txBody>
      </p:sp>
      <p:sp>
        <p:nvSpPr>
          <p:cNvPr id="20" name="Text 18"/>
          <p:cNvSpPr/>
          <p:nvPr/>
        </p:nvSpPr>
        <p:spPr>
          <a:xfrm>
            <a:off x="1016000" y="3958033"/>
            <a:ext cx="3469082" cy="523396"/>
          </a:xfrm>
          <a:prstGeom prst="rect">
            <a:avLst/>
          </a:prstGeom>
          <a:noFill/>
          <a:ln/>
        </p:spPr>
        <p:txBody>
          <a:bodyPr wrap="square" lIns="0" tIns="0" rIns="0" bIns="0" rtlCol="0" anchor="t">
            <a:noAutofit/>
          </a:bodyPr>
          <a:lstStyle/>
          <a:p>
            <a:r>
              <a:rPr lang="en-US" sz="1200" b="1" dirty="0">
                <a:solidFill>
                  <a:srgbClr val="4A6479"/>
                </a:solidFill>
                <a:latin typeface="Carlito" pitchFamily="34" charset="0"/>
                <a:ea typeface="Carlito" pitchFamily="34" charset="-122"/>
                <a:cs typeface="Carlito" pitchFamily="34" charset="-120"/>
              </a:rPr>
              <a:t>up to ₹3.3 L a month and MARG ERP migration, est. (₹15.0 L a month approx.)</a:t>
            </a:r>
            <a:endParaRPr lang="en-US" sz="1200" b="1" dirty="0"/>
          </a:p>
        </p:txBody>
      </p:sp>
      <p:sp>
        <p:nvSpPr>
          <p:cNvPr id="21" name="Shape 19"/>
          <p:cNvSpPr/>
          <p:nvPr/>
        </p:nvSpPr>
        <p:spPr>
          <a:xfrm>
            <a:off x="812799" y="4622980"/>
            <a:ext cx="7149381" cy="660400"/>
          </a:xfrm>
          <a:prstGeom prst="roundRect">
            <a:avLst>
              <a:gd name="adj" fmla="val 7692"/>
            </a:avLst>
          </a:prstGeom>
          <a:solidFill>
            <a:srgbClr val="E6F3FB"/>
          </a:solidFill>
          <a:ln/>
        </p:spPr>
        <p:txBody>
          <a:bodyPr/>
          <a:lstStyle/>
          <a:p>
            <a:endParaRPr lang="en-IN"/>
          </a:p>
        </p:txBody>
      </p:sp>
      <p:sp>
        <p:nvSpPr>
          <p:cNvPr id="22" name="Shape 20"/>
          <p:cNvSpPr/>
          <p:nvPr/>
        </p:nvSpPr>
        <p:spPr>
          <a:xfrm>
            <a:off x="812799" y="4622980"/>
            <a:ext cx="7149381" cy="660400"/>
          </a:xfrm>
          <a:custGeom>
            <a:avLst/>
            <a:gdLst/>
            <a:ahLst/>
            <a:cxnLst/>
            <a:rect l="l" t="t" r="r" b="b"/>
            <a:pathLst>
              <a:path w="2667000" h="660400">
                <a:moveTo>
                  <a:pt x="50800" y="660400"/>
                </a:moveTo>
                <a:lnTo>
                  <a:pt x="50800" y="660400"/>
                </a:lnTo>
                <a:arcTo wR="50800" hR="50800" stAng="5400000" swAng="5400000"/>
                <a:lnTo>
                  <a:pt x="0" y="50800"/>
                </a:lnTo>
                <a:arcTo wR="50800" hR="50800" stAng="10800000" swAng="5400000"/>
                <a:lnTo>
                  <a:pt x="50800" y="0"/>
                </a:lnTo>
                <a:lnTo>
                  <a:pt x="50800" y="660400"/>
                </a:lnTo>
                <a:close/>
              </a:path>
            </a:pathLst>
          </a:custGeom>
          <a:solidFill>
            <a:srgbClr val="7CC0EA"/>
          </a:solidFill>
          <a:ln/>
        </p:spPr>
        <p:txBody>
          <a:bodyPr/>
          <a:lstStyle/>
          <a:p>
            <a:endParaRPr lang="en-IN"/>
          </a:p>
        </p:txBody>
      </p:sp>
      <p:sp>
        <p:nvSpPr>
          <p:cNvPr id="23" name="Text 21"/>
          <p:cNvSpPr/>
          <p:nvPr/>
        </p:nvSpPr>
        <p:spPr>
          <a:xfrm>
            <a:off x="1016000" y="4695341"/>
            <a:ext cx="638201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324A"/>
                </a:solidFill>
                <a:latin typeface="Carlito" pitchFamily="34" charset="0"/>
                <a:ea typeface="Carlito" pitchFamily="34" charset="-122"/>
                <a:cs typeface="Carlito" pitchFamily="34" charset="-120"/>
              </a:rPr>
              <a:t>Step 4 · Keep improving</a:t>
            </a:r>
            <a:endParaRPr lang="en-US" sz="1500" dirty="0"/>
          </a:p>
        </p:txBody>
      </p:sp>
      <p:sp>
        <p:nvSpPr>
          <p:cNvPr id="24" name="Text 22"/>
          <p:cNvSpPr/>
          <p:nvPr/>
        </p:nvSpPr>
        <p:spPr>
          <a:xfrm>
            <a:off x="1016000" y="4962041"/>
            <a:ext cx="6382014" cy="274307"/>
          </a:xfrm>
          <a:prstGeom prst="rect">
            <a:avLst/>
          </a:prstGeom>
          <a:noFill/>
          <a:ln/>
        </p:spPr>
        <p:txBody>
          <a:bodyPr wrap="square" lIns="0" tIns="0" rIns="0" bIns="0" rtlCol="0" anchor="t">
            <a:normAutofit/>
          </a:bodyPr>
          <a:lstStyle/>
          <a:p>
            <a:pPr marL="0" indent="0" algn="l">
              <a:lnSpc>
                <a:spcPts val="1960"/>
              </a:lnSpc>
              <a:buNone/>
            </a:pPr>
            <a:r>
              <a:rPr lang="en-US" sz="1200" b="1" dirty="0">
                <a:solidFill>
                  <a:srgbClr val="4A6479"/>
                </a:solidFill>
                <a:latin typeface="Carlito" pitchFamily="34" charset="0"/>
                <a:ea typeface="Carlito" pitchFamily="34" charset="-122"/>
                <a:cs typeface="Carlito" pitchFamily="34" charset="-120"/>
              </a:rPr>
              <a:t>up to ₹0.4 L a month</a:t>
            </a:r>
            <a:endParaRPr lang="en-US" sz="1200" b="1" dirty="0"/>
          </a:p>
        </p:txBody>
      </p:sp>
      <p:sp>
        <p:nvSpPr>
          <p:cNvPr id="25" name="Shape 23"/>
          <p:cNvSpPr/>
          <p:nvPr/>
        </p:nvSpPr>
        <p:spPr>
          <a:xfrm>
            <a:off x="7492999" y="2145772"/>
            <a:ext cx="45719" cy="3152583"/>
          </a:xfrm>
          <a:prstGeom prst="rect">
            <a:avLst/>
          </a:prstGeom>
          <a:solidFill>
            <a:srgbClr val="14324A"/>
          </a:solidFill>
          <a:ln/>
        </p:spPr>
        <p:txBody>
          <a:bodyPr/>
          <a:lstStyle/>
          <a:p>
            <a:endParaRPr lang="en-IN"/>
          </a:p>
        </p:txBody>
      </p:sp>
      <p:sp>
        <p:nvSpPr>
          <p:cNvPr id="26" name="Text 24"/>
          <p:cNvSpPr/>
          <p:nvPr/>
        </p:nvSpPr>
        <p:spPr>
          <a:xfrm>
            <a:off x="3632200" y="2145773"/>
            <a:ext cx="1289050" cy="660400"/>
          </a:xfrm>
          <a:prstGeom prst="roundRect">
            <a:avLst>
              <a:gd name="adj" fmla="val 5769"/>
            </a:avLst>
          </a:prstGeom>
          <a:solidFill>
            <a:srgbClr val="A4D3F0"/>
          </a:solidFill>
          <a:ln/>
        </p:spPr>
        <p:txBody>
          <a:bodyPr wrap="square" lIns="115841" tIns="0" rIns="115841" bIns="0" rtlCol="0" anchor="ctr">
            <a:normAutofit/>
          </a:bodyPr>
          <a:lstStyle/>
          <a:p>
            <a:pPr marL="0" indent="0" algn="l">
              <a:lnSpc>
                <a:spcPts val="1960"/>
              </a:lnSpc>
              <a:buNone/>
            </a:pPr>
            <a:r>
              <a:rPr lang="en-US" sz="1400" b="1" dirty="0">
                <a:solidFill>
                  <a:srgbClr val="14324A"/>
                </a:solidFill>
                <a:latin typeface="Carlito" pitchFamily="34" charset="0"/>
                <a:ea typeface="Carlito" pitchFamily="34" charset="-122"/>
                <a:cs typeface="Carlito" pitchFamily="34" charset="-120"/>
              </a:rPr>
              <a:t>Quick wins</a:t>
            </a:r>
            <a:endParaRPr lang="en-US" sz="1400" dirty="0"/>
          </a:p>
        </p:txBody>
      </p:sp>
      <p:sp>
        <p:nvSpPr>
          <p:cNvPr id="27" name="Text 25"/>
          <p:cNvSpPr/>
          <p:nvPr/>
        </p:nvSpPr>
        <p:spPr>
          <a:xfrm>
            <a:off x="4921250" y="2882373"/>
            <a:ext cx="2578100" cy="660400"/>
          </a:xfrm>
          <a:prstGeom prst="roundRect">
            <a:avLst>
              <a:gd name="adj" fmla="val 5769"/>
            </a:avLst>
          </a:prstGeom>
          <a:solidFill>
            <a:srgbClr val="7CC0EA"/>
          </a:solidFill>
          <a:ln/>
        </p:spPr>
        <p:txBody>
          <a:bodyPr wrap="square" lIns="115841" tIns="0" rIns="115841" bIns="0" rtlCol="0" anchor="ctr">
            <a:normAutofit/>
          </a:bodyPr>
          <a:lstStyle/>
          <a:p>
            <a:pPr marL="0" indent="0" algn="l">
              <a:lnSpc>
                <a:spcPts val="1960"/>
              </a:lnSpc>
              <a:buNone/>
            </a:pPr>
            <a:r>
              <a:rPr lang="en-US" sz="1400" b="1" dirty="0">
                <a:solidFill>
                  <a:srgbClr val="14324A"/>
                </a:solidFill>
                <a:latin typeface="Carlito" pitchFamily="34" charset="0"/>
                <a:ea typeface="Carlito" pitchFamily="34" charset="-122"/>
                <a:cs typeface="Carlito" pitchFamily="34" charset="-120"/>
              </a:rPr>
              <a:t>Switch off, resize, tune</a:t>
            </a:r>
            <a:endParaRPr lang="en-US" sz="1400" dirty="0"/>
          </a:p>
        </p:txBody>
      </p:sp>
      <p:sp>
        <p:nvSpPr>
          <p:cNvPr id="28" name="Text 26"/>
          <p:cNvSpPr/>
          <p:nvPr/>
        </p:nvSpPr>
        <p:spPr>
          <a:xfrm>
            <a:off x="6210300" y="3618973"/>
            <a:ext cx="5168900" cy="660400"/>
          </a:xfrm>
          <a:prstGeom prst="roundRect">
            <a:avLst>
              <a:gd name="adj" fmla="val 5769"/>
            </a:avLst>
          </a:prstGeom>
          <a:solidFill>
            <a:srgbClr val="16578A"/>
          </a:solidFill>
          <a:ln/>
        </p:spPr>
        <p:txBody>
          <a:bodyPr wrap="square" lIns="115841" tIns="0" rIns="115841" bIns="0" rtlCol="0" anchor="ctr">
            <a:normAutofit/>
          </a:bodyPr>
          <a:lstStyle/>
          <a:p>
            <a:pPr marL="0" indent="0" algn="l">
              <a:lnSpc>
                <a:spcPts val="1960"/>
              </a:lnSpc>
              <a:buNone/>
            </a:pPr>
            <a:r>
              <a:rPr lang="en-US" sz="1400" b="1" dirty="0">
                <a:solidFill>
                  <a:srgbClr val="FFFFFF"/>
                </a:solidFill>
                <a:latin typeface="Carlito" pitchFamily="34" charset="0"/>
                <a:ea typeface="Carlito" pitchFamily="34" charset="-122"/>
                <a:cs typeface="Carlito" pitchFamily="34" charset="-120"/>
              </a:rPr>
              <a:t>First 3 moves by day 90, the rest by month 6</a:t>
            </a:r>
            <a:endParaRPr lang="en-US" sz="1400" dirty="0"/>
          </a:p>
        </p:txBody>
      </p:sp>
      <p:sp>
        <p:nvSpPr>
          <p:cNvPr id="29" name="Text 27"/>
          <p:cNvSpPr/>
          <p:nvPr/>
        </p:nvSpPr>
        <p:spPr>
          <a:xfrm>
            <a:off x="7505700" y="4637956"/>
            <a:ext cx="3867150" cy="647700"/>
          </a:xfrm>
          <a:prstGeom prst="roundRect">
            <a:avLst>
              <a:gd name="adj" fmla="val 4902"/>
            </a:avLst>
          </a:prstGeom>
          <a:solidFill>
            <a:srgbClr val="E6F3FB"/>
          </a:solidFill>
          <a:ln w="12700">
            <a:solidFill>
              <a:srgbClr val="4A6479"/>
            </a:solidFill>
            <a:prstDash val="solid"/>
          </a:ln>
        </p:spPr>
        <p:txBody>
          <a:bodyPr wrap="square" lIns="124051" tIns="0" rIns="124051" bIns="0" rtlCol="0" anchor="ctr">
            <a:normAutofit/>
          </a:bodyPr>
          <a:lstStyle/>
          <a:p>
            <a:pPr marL="0" indent="0" algn="l">
              <a:lnSpc>
                <a:spcPts val="1960"/>
              </a:lnSpc>
              <a:buNone/>
            </a:pPr>
            <a:r>
              <a:rPr lang="en-US" sz="1400" b="1" dirty="0">
                <a:solidFill>
                  <a:srgbClr val="14324A"/>
                </a:solidFill>
                <a:latin typeface="Carlito" pitchFamily="34" charset="0"/>
                <a:ea typeface="Carlito" pitchFamily="34" charset="-122"/>
                <a:cs typeface="Carlito" pitchFamily="34" charset="-120"/>
              </a:rPr>
              <a:t>Monthly re-run, ongoing</a:t>
            </a:r>
            <a:endParaRPr lang="en-US" sz="1400" dirty="0"/>
          </a:p>
        </p:txBody>
      </p:sp>
      <p:sp>
        <p:nvSpPr>
          <p:cNvPr id="30" name="Text 28"/>
          <p:cNvSpPr/>
          <p:nvPr/>
        </p:nvSpPr>
        <p:spPr>
          <a:xfrm>
            <a:off x="812800" y="5383068"/>
            <a:ext cx="10566400" cy="534657"/>
          </a:xfrm>
          <a:prstGeom prst="roundRect">
            <a:avLst>
              <a:gd name="adj" fmla="val 9501"/>
            </a:avLst>
          </a:prstGeom>
          <a:solidFill>
            <a:srgbClr val="1F7AB8"/>
          </a:solidFill>
          <a:ln/>
        </p:spPr>
        <p:txBody>
          <a:bodyPr wrap="square" lIns="239121" tIns="112121" rIns="0" bIns="86721" rtlCol="0" anchor="t">
            <a:normAutofit fontScale="85000" lnSpcReduction="10000"/>
          </a:bodyPr>
          <a:lstStyle/>
          <a:p>
            <a:pPr>
              <a:lnSpc>
                <a:spcPts val="2210"/>
              </a:lnSpc>
            </a:pPr>
            <a:r>
              <a:rPr lang="en-US" sz="1700" b="1" dirty="0">
                <a:solidFill>
                  <a:srgbClr val="FFFFFF"/>
                </a:solidFill>
                <a:latin typeface="Carlito" pitchFamily="34" charset="0"/>
                <a:ea typeface="Carlito" pitchFamily="34" charset="-122"/>
                <a:cs typeface="Carlito" pitchFamily="34" charset="-120"/>
              </a:rPr>
              <a:t>Day-90 checkpoint:</a:t>
            </a:r>
            <a:r>
              <a:rPr lang="en-US" sz="1700" dirty="0">
                <a:solidFill>
                  <a:srgbClr val="FFFFFF"/>
                </a:solidFill>
                <a:latin typeface="Carlito" pitchFamily="34" charset="0"/>
                <a:ea typeface="Carlito" pitchFamily="34" charset="-122"/>
                <a:cs typeface="Carlito" pitchFamily="34" charset="-120"/>
              </a:rPr>
              <a:t> up to ₹14.7 L a month if every owner has said yes and additional MARG ERP migration at ₹15.0 L a month</a:t>
            </a:r>
            <a:endParaRPr lang="en-US" sz="1700" dirty="0"/>
          </a:p>
        </p:txBody>
      </p:sp>
      <p:sp>
        <p:nvSpPr>
          <p:cNvPr id="31" name="Text 2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7388"/>
                </a:solidFill>
                <a:latin typeface="Carlito" pitchFamily="34" charset="0"/>
                <a:ea typeface="Carlito" pitchFamily="34" charset="-122"/>
                <a:cs typeface="Carlito" pitchFamily="34" charset="-120"/>
              </a:rPr>
              <a:t>MARG cloud cost plan · 90 days</a:t>
            </a:r>
            <a:endParaRPr lang="en-US" sz="1200" dirty="0"/>
          </a:p>
        </p:txBody>
      </p:sp>
      <p:sp>
        <p:nvSpPr>
          <p:cNvPr id="32" name="Text 3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7388"/>
                </a:solidFill>
                <a:latin typeface="Carlito" pitchFamily="34" charset="0"/>
                <a:ea typeface="Carlito" pitchFamily="34" charset="-122"/>
                <a:cs typeface="Carlito"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35000"/>
            <a:ext cx="2067653" cy="375907"/>
          </a:xfrm>
          <a:prstGeom prst="roundRect">
            <a:avLst>
              <a:gd name="adj" fmla="val 10135"/>
            </a:avLst>
          </a:prstGeom>
          <a:solidFill>
            <a:srgbClr val="1F7AB8"/>
          </a:solidFill>
          <a:ln/>
        </p:spPr>
        <p:txBody>
          <a:bodyPr wrap="none" lIns="0" tIns="0" rIns="0" bIns="0" rtlCol="0" anchor="ctr">
            <a:normAutofit/>
          </a:bodyPr>
          <a:lstStyle/>
          <a:p>
            <a:pPr marL="0" indent="0" algn="ctr">
              <a:lnSpc>
                <a:spcPts val="1960"/>
              </a:lnSpc>
              <a:buNone/>
            </a:pPr>
            <a:r>
              <a:rPr lang="en-US" sz="1400" b="1" kern="0" spc="150" dirty="0">
                <a:solidFill>
                  <a:srgbClr val="FFFFFF"/>
                </a:solidFill>
                <a:latin typeface="Caladea" pitchFamily="18" charset="0"/>
                <a:ea typeface="Caladea" pitchFamily="18" charset="-122"/>
                <a:cs typeface="Caladea" pitchFamily="18" charset="-120"/>
              </a:rPr>
              <a:t>STEP 1 · DAYS 0–30</a:t>
            </a:r>
            <a:endParaRPr lang="en-US" sz="1400" dirty="0"/>
          </a:p>
        </p:txBody>
      </p:sp>
      <p:sp>
        <p:nvSpPr>
          <p:cNvPr id="3" name="Text 1"/>
          <p:cNvSpPr>
            <a:spLocks noGrp="1"/>
          </p:cNvSpPr>
          <p:nvPr>
            <p:ph type="title"/>
          </p:nvPr>
        </p:nvSpPr>
        <p:spPr>
          <a:xfrm>
            <a:off x="812800" y="1214109"/>
            <a:ext cx="10883392" cy="423664"/>
          </a:xfrm>
          <a:prstGeom prst="rect">
            <a:avLst/>
          </a:prstGeom>
          <a:noFill/>
          <a:ln/>
        </p:spPr>
        <p:txBody>
          <a:bodyPr wrap="square" lIns="0" tIns="0" rIns="0" bIns="0" rtlCol="0" anchor="t">
            <a:normAutofit/>
          </a:bodyPr>
          <a:lstStyle/>
          <a:p>
            <a:pPr marL="0" indent="0" algn="l">
              <a:lnSpc>
                <a:spcPts val="3136"/>
              </a:lnSpc>
              <a:buNone/>
            </a:pPr>
            <a:r>
              <a:rPr lang="en-US" sz="2800" b="1" i="0" dirty="0">
                <a:solidFill>
                  <a:srgbClr val="14324A"/>
                </a:solidFill>
                <a:latin typeface="Caladea" pitchFamily="18" charset="0"/>
                <a:ea typeface="Caladea" pitchFamily="18" charset="-122"/>
                <a:cs typeface="Caladea" pitchFamily="18" charset="-120"/>
              </a:rPr>
              <a:t>Quick wins and urgent fixes: up to ₹4.3 L a month</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8273"/>
          <a:ext cx="10553700" cy="3727976"/>
        </p:xfrm>
        <a:graphic>
          <a:graphicData uri="http://schemas.openxmlformats.org/drawingml/2006/table">
            <a:tbl>
              <a:tblPr/>
              <a:tblGrid>
                <a:gridCol w="6332220">
                  <a:extLst>
                    <a:ext uri="{9D8B030D-6E8A-4147-A177-3AD203B41FA5}">
                      <a16:colId xmlns:a16="http://schemas.microsoft.com/office/drawing/2014/main" val="20000"/>
                    </a:ext>
                  </a:extLst>
                </a:gridCol>
                <a:gridCol w="2638425">
                  <a:extLst>
                    <a:ext uri="{9D8B030D-6E8A-4147-A177-3AD203B41FA5}">
                      <a16:colId xmlns:a16="http://schemas.microsoft.com/office/drawing/2014/main" val="20001"/>
                    </a:ext>
                  </a:extLst>
                </a:gridCol>
                <a:gridCol w="1583055">
                  <a:extLst>
                    <a:ext uri="{9D8B030D-6E8A-4147-A177-3AD203B41FA5}">
                      <a16:colId xmlns:a16="http://schemas.microsoft.com/office/drawing/2014/main" val="20002"/>
                    </a:ext>
                  </a:extLst>
                </a:gridCol>
              </a:tblGrid>
              <a:tr h="465997">
                <a:tc>
                  <a:txBody>
                    <a:bodyPr/>
                    <a:lstStyle/>
                    <a:p>
                      <a:pPr marL="0" indent="0">
                        <a:lnSpc>
                          <a:spcPts val="2380"/>
                        </a:lnSpc>
                        <a:buNone/>
                      </a:pPr>
                      <a:r>
                        <a:rPr lang="en-US" sz="1700" b="1" dirty="0">
                          <a:solidFill>
                            <a:srgbClr val="FFFFFF"/>
                          </a:solidFill>
                          <a:latin typeface="Carlito" pitchFamily="34" charset="0"/>
                          <a:ea typeface="Carlito" pitchFamily="34" charset="-122"/>
                          <a:cs typeface="Carlito" pitchFamily="34" charset="-120"/>
                        </a:rPr>
                        <a:t>What to do</a:t>
                      </a:r>
                      <a:endParaRPr lang="en-US" sz="1700" dirty="0">
                        <a:latin typeface="Carlito" charset="0"/>
                        <a:ea typeface="Carlito" charset="0"/>
                        <a:cs typeface="Carli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1D64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6494"/>
                      </a:solidFill>
                      <a:prstDash val="solid"/>
                      <a:round/>
                      <a:headEnd type="none" w="med" len="med"/>
                      <a:tailEnd type="none" w="med" len="med"/>
                    </a:lnB>
                    <a:solidFill>
                      <a:srgbClr val="1F7AB8"/>
                    </a:solidFill>
                  </a:tcPr>
                </a:tc>
                <a:tc>
                  <a:txBody>
                    <a:bodyPr/>
                    <a:lstStyle/>
                    <a:p>
                      <a:pPr marL="0" indent="0">
                        <a:lnSpc>
                          <a:spcPts val="2380"/>
                        </a:lnSpc>
                        <a:buNone/>
                      </a:pPr>
                      <a:r>
                        <a:rPr lang="en-US" sz="1700" b="1" dirty="0">
                          <a:solidFill>
                            <a:srgbClr val="FFFFFF"/>
                          </a:solidFill>
                          <a:latin typeface="Carlito" pitchFamily="34" charset="0"/>
                          <a:ea typeface="Carlito" pitchFamily="34" charset="-122"/>
                          <a:cs typeface="Carlito" pitchFamily="34" charset="-120"/>
                        </a:rPr>
                        <a:t>Saving a month</a:t>
                      </a:r>
                      <a:endParaRPr lang="en-US" sz="1700" dirty="0">
                        <a:latin typeface="Carlito" charset="0"/>
                        <a:ea typeface="Carlito" charset="0"/>
                        <a:cs typeface="Carlito" charset="0"/>
                      </a:endParaRPr>
                    </a:p>
                  </a:txBody>
                  <a:tcPr marL="75565" marR="75565" marT="75565" marB="75565">
                    <a:lnL w="12700" cap="flat" cmpd="sng" algn="ctr">
                      <a:solidFill>
                        <a:srgbClr val="1D6494"/>
                      </a:solidFill>
                      <a:prstDash val="solid"/>
                      <a:round/>
                      <a:headEnd type="none" w="med" len="med"/>
                      <a:tailEnd type="none" w="med" len="med"/>
                    </a:lnL>
                    <a:lnR w="12700" cap="flat" cmpd="sng" algn="ctr">
                      <a:solidFill>
                        <a:srgbClr val="1D64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6494"/>
                      </a:solidFill>
                      <a:prstDash val="solid"/>
                      <a:round/>
                      <a:headEnd type="none" w="med" len="med"/>
                      <a:tailEnd type="none" w="med" len="med"/>
                    </a:lnB>
                    <a:solidFill>
                      <a:srgbClr val="1F7AB8"/>
                    </a:solidFill>
                  </a:tcPr>
                </a:tc>
                <a:tc>
                  <a:txBody>
                    <a:bodyPr/>
                    <a:lstStyle/>
                    <a:p>
                      <a:pPr marL="0" indent="0">
                        <a:lnSpc>
                          <a:spcPts val="2380"/>
                        </a:lnSpc>
                        <a:buNone/>
                      </a:pPr>
                      <a:r>
                        <a:rPr lang="en-US" sz="1700" b="1" dirty="0">
                          <a:solidFill>
                            <a:srgbClr val="FFFFFF"/>
                          </a:solidFill>
                          <a:latin typeface="Carlito" pitchFamily="34" charset="0"/>
                          <a:ea typeface="Carlito" pitchFamily="34" charset="-122"/>
                          <a:cs typeface="Carlito" pitchFamily="34" charset="-120"/>
                        </a:rPr>
                        <a:t>Risk</a:t>
                      </a:r>
                      <a:endParaRPr lang="en-US" sz="1700" dirty="0">
                        <a:latin typeface="Carlito" charset="0"/>
                        <a:ea typeface="Carlito" charset="0"/>
                        <a:cs typeface="Carlito" charset="0"/>
                      </a:endParaRPr>
                    </a:p>
                  </a:txBody>
                  <a:tcPr marL="75565" marR="75565" marT="75565" marB="75565">
                    <a:lnL w="12700" cap="flat" cmpd="sng" algn="ctr">
                      <a:solidFill>
                        <a:srgbClr val="1D6494"/>
                      </a:solidFill>
                      <a:prstDash val="solid"/>
                      <a:round/>
                      <a:headEnd type="none" w="med" len="med"/>
                      <a:tailEnd type="none" w="med" len="med"/>
                    </a:lnL>
                    <a:lnR w="12700" cap="flat" cmpd="sng" algn="ctr">
                      <a:solidFill>
                        <a:srgbClr val="1D64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6494"/>
                      </a:solidFill>
                      <a:prstDash val="solid"/>
                      <a:round/>
                      <a:headEnd type="none" w="med" len="med"/>
                      <a:tailEnd type="none" w="med" len="med"/>
                    </a:lnB>
                    <a:solidFill>
                      <a:srgbClr val="1F7AB8"/>
                    </a:solidFill>
                  </a:tcPr>
                </a:tc>
                <a:extLst>
                  <a:ext uri="{0D108BD9-81ED-4DB2-BD59-A6C34878D82A}">
                    <a16:rowId xmlns:a16="http://schemas.microsoft.com/office/drawing/2014/main" val="10000"/>
                  </a:ext>
                </a:extLst>
              </a:tr>
              <a:tr h="465997">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Stop the old Azure side of 4 moved servers</a:t>
                      </a:r>
                      <a:endParaRPr lang="en-US" sz="1700" dirty="0">
                        <a:latin typeface="Carlito" charset="0"/>
                        <a:ea typeface="Carlito" charset="0"/>
                        <a:cs typeface="Carli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1D6494"/>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up to ₹2.01 L</a:t>
                      </a:r>
                      <a:endParaRPr lang="en-US" sz="1700" dirty="0">
                        <a:latin typeface="Carlito" charset="0"/>
                        <a:ea typeface="Carlito" charset="0"/>
                        <a:cs typeface="Carlito" charset="0"/>
                      </a:endParaRPr>
                    </a:p>
                  </a:txBody>
                  <a:tcPr marL="75565" marR="75565" marT="75565" marB="75565">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1D6494"/>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Medium</a:t>
                      </a:r>
                      <a:endParaRPr lang="en-US" sz="1700" dirty="0">
                        <a:latin typeface="Carlito" charset="0"/>
                        <a:ea typeface="Carlito" charset="0"/>
                        <a:cs typeface="Carlito" charset="0"/>
                      </a:endParaRPr>
                    </a:p>
                  </a:txBody>
                  <a:tcPr marL="75565" marR="75565" marT="75565" marB="75565">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1D6494"/>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extLst>
                  <a:ext uri="{0D108BD9-81ED-4DB2-BD59-A6C34878D82A}">
                    <a16:rowId xmlns:a16="http://schemas.microsoft.com/office/drawing/2014/main" val="10001"/>
                  </a:ext>
                </a:extLst>
              </a:tr>
              <a:tr h="465997">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Confirm 9 silent servers, then stop paying</a:t>
                      </a:r>
                      <a:endParaRPr lang="en-US" sz="1700" dirty="0">
                        <a:latin typeface="Carlito" charset="0"/>
                        <a:ea typeface="Carlito" charset="0"/>
                        <a:cs typeface="Carli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up to ₹1.26 L</a:t>
                      </a:r>
                      <a:endParaRPr lang="en-US" sz="1700" dirty="0">
                        <a:latin typeface="Carlito" charset="0"/>
                        <a:ea typeface="Carlito" charset="0"/>
                        <a:cs typeface="Carlito" charset="0"/>
                      </a:endParaRPr>
                    </a:p>
                  </a:txBody>
                  <a:tcPr marL="75565" marR="75565" marT="75565" marB="75565">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Medium</a:t>
                      </a:r>
                      <a:endParaRPr lang="en-US" sz="1700" dirty="0">
                        <a:latin typeface="Carlito" charset="0"/>
                        <a:ea typeface="Carlito" charset="0"/>
                        <a:cs typeface="Carlito" charset="0"/>
                      </a:endParaRPr>
                    </a:p>
                  </a:txBody>
                  <a:tcPr marL="75565" marR="75565" marT="75565" marB="75565">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extLst>
                  <a:ext uri="{0D108BD9-81ED-4DB2-BD59-A6C34878D82A}">
                    <a16:rowId xmlns:a16="http://schemas.microsoft.com/office/drawing/2014/main" val="10002"/>
                  </a:ext>
                </a:extLst>
              </a:tr>
              <a:tr h="465997">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Ask WebberStop for the missing 40% discount</a:t>
                      </a:r>
                      <a:endParaRPr lang="en-US" sz="1700" dirty="0">
                        <a:latin typeface="Carlito" charset="0"/>
                        <a:ea typeface="Carlito" charset="0"/>
                        <a:cs typeface="Carli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up to ₹89.3K</a:t>
                      </a:r>
                      <a:endParaRPr lang="en-US" sz="1700" dirty="0">
                        <a:latin typeface="Carlito" charset="0"/>
                        <a:ea typeface="Carlito" charset="0"/>
                        <a:cs typeface="Carlito" charset="0"/>
                      </a:endParaRPr>
                    </a:p>
                  </a:txBody>
                  <a:tcPr marL="75565" marR="75565" marT="75565" marB="75565">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Low</a:t>
                      </a:r>
                      <a:endParaRPr lang="en-US" sz="1700" dirty="0">
                        <a:latin typeface="Carlito" charset="0"/>
                        <a:ea typeface="Carlito" charset="0"/>
                        <a:cs typeface="Carlito" charset="0"/>
                      </a:endParaRPr>
                    </a:p>
                  </a:txBody>
                  <a:tcPr marL="75565" marR="75565" marT="75565" marB="75565">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extLst>
                  <a:ext uri="{0D108BD9-81ED-4DB2-BD59-A6C34878D82A}">
                    <a16:rowId xmlns:a16="http://schemas.microsoft.com/office/drawing/2014/main" val="10003"/>
                  </a:ext>
                </a:extLst>
              </a:tr>
              <a:tr h="465997">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Release 22 unused IPs and retired-server charges</a:t>
                      </a:r>
                      <a:endParaRPr lang="en-US" sz="1700" dirty="0">
                        <a:latin typeface="Carlito" charset="0"/>
                        <a:ea typeface="Carlito" charset="0"/>
                        <a:cs typeface="Carli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up to ₹12.4K</a:t>
                      </a:r>
                      <a:endParaRPr lang="en-US" sz="1700" dirty="0">
                        <a:latin typeface="Carlito" charset="0"/>
                        <a:ea typeface="Carlito" charset="0"/>
                        <a:cs typeface="Carlito" charset="0"/>
                      </a:endParaRPr>
                    </a:p>
                  </a:txBody>
                  <a:tcPr marL="75565" marR="75565" marT="75565" marB="75565">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Low</a:t>
                      </a:r>
                      <a:endParaRPr lang="en-US" sz="1700" dirty="0">
                        <a:latin typeface="Carlito" charset="0"/>
                        <a:ea typeface="Carlito" charset="0"/>
                        <a:cs typeface="Carlito" charset="0"/>
                      </a:endParaRPr>
                    </a:p>
                  </a:txBody>
                  <a:tcPr marL="75565" marR="75565" marT="75565" marB="75565">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extLst>
                  <a:ext uri="{0D108BD9-81ED-4DB2-BD59-A6C34878D82A}">
                    <a16:rowId xmlns:a16="http://schemas.microsoft.com/office/drawing/2014/main" val="10004"/>
                  </a:ext>
                </a:extLst>
              </a:tr>
              <a:tr h="465997">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Fix 19 servers short of CPU, memory or disk</a:t>
                      </a:r>
                      <a:endParaRPr lang="en-US" sz="1700" dirty="0">
                        <a:latin typeface="Carlito" charset="0"/>
                        <a:ea typeface="Carlito" charset="0"/>
                        <a:cs typeface="Carli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Spend to add</a:t>
                      </a:r>
                      <a:endParaRPr lang="en-US" sz="1700" dirty="0">
                        <a:latin typeface="Carlito" charset="0"/>
                        <a:ea typeface="Carlito" charset="0"/>
                        <a:cs typeface="Carlito" charset="0"/>
                      </a:endParaRPr>
                    </a:p>
                  </a:txBody>
                  <a:tcPr marL="75565" marR="75565" marT="75565" marB="75565">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High</a:t>
                      </a:r>
                      <a:endParaRPr lang="en-US" sz="1700" dirty="0">
                        <a:latin typeface="Carlito" charset="0"/>
                        <a:ea typeface="Carlito" charset="0"/>
                        <a:cs typeface="Carlito" charset="0"/>
                      </a:endParaRPr>
                    </a:p>
                  </a:txBody>
                  <a:tcPr marL="75565" marR="75565" marT="75565" marB="75565">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extLst>
                  <a:ext uri="{0D108BD9-81ED-4DB2-BD59-A6C34878D82A}">
                    <a16:rowId xmlns:a16="http://schemas.microsoft.com/office/drawing/2014/main" val="10005"/>
                  </a:ext>
                </a:extLst>
              </a:tr>
              <a:tr h="465997">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Monitor 70 billed servers nobody measures</a:t>
                      </a:r>
                      <a:endParaRPr lang="en-US" sz="1700" dirty="0">
                        <a:latin typeface="Carlito" charset="0"/>
                        <a:ea typeface="Carlito" charset="0"/>
                        <a:cs typeface="Carli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Enables ₹9.15 L</a:t>
                      </a:r>
                      <a:endParaRPr lang="en-US" sz="1700" dirty="0">
                        <a:latin typeface="Carlito" charset="0"/>
                        <a:ea typeface="Carlito" charset="0"/>
                        <a:cs typeface="Carlito" charset="0"/>
                      </a:endParaRPr>
                    </a:p>
                  </a:txBody>
                  <a:tcPr marL="75565" marR="75565" marT="75565" marB="75565">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Low</a:t>
                      </a:r>
                      <a:endParaRPr lang="en-US" sz="1700" dirty="0">
                        <a:latin typeface="Carlito" charset="0"/>
                        <a:ea typeface="Carlito" charset="0"/>
                        <a:cs typeface="Carlito" charset="0"/>
                      </a:endParaRPr>
                    </a:p>
                  </a:txBody>
                  <a:tcPr marL="75565" marR="75565" marT="75565" marB="75565">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extLst>
                  <a:ext uri="{0D108BD9-81ED-4DB2-BD59-A6C34878D82A}">
                    <a16:rowId xmlns:a16="http://schemas.microsoft.com/office/drawing/2014/main" val="10006"/>
                  </a:ext>
                </a:extLst>
              </a:tr>
              <a:tr h="465997">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Explain Kubernetes growth, curb idle workloads</a:t>
                      </a:r>
                      <a:endParaRPr lang="en-US" sz="1700" dirty="0">
                        <a:latin typeface="Carlito" charset="0"/>
                        <a:ea typeface="Carlito" charset="0"/>
                        <a:cs typeface="Carli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₹2.64 L to explain</a:t>
                      </a:r>
                      <a:endParaRPr lang="en-US" sz="1700" dirty="0">
                        <a:latin typeface="Carlito" charset="0"/>
                        <a:ea typeface="Carlito" charset="0"/>
                        <a:cs typeface="Carlito" charset="0"/>
                      </a:endParaRPr>
                    </a:p>
                  </a:txBody>
                  <a:tcPr marL="75565" marR="75565" marT="75565" marB="75565">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Medium</a:t>
                      </a:r>
                      <a:endParaRPr lang="en-US" sz="1700" dirty="0">
                        <a:latin typeface="Carlito" charset="0"/>
                        <a:ea typeface="Carlito" charset="0"/>
                        <a:cs typeface="Carlito" charset="0"/>
                      </a:endParaRPr>
                    </a:p>
                  </a:txBody>
                  <a:tcPr marL="75565" marR="75565" marT="75565" marB="75565">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extLst>
                  <a:ext uri="{0D108BD9-81ED-4DB2-BD59-A6C34878D82A}">
                    <a16:rowId xmlns:a16="http://schemas.microsoft.com/office/drawing/2014/main" val="10007"/>
                  </a:ext>
                </a:extLst>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7388"/>
                </a:solidFill>
                <a:latin typeface="Carlito" pitchFamily="34" charset="0"/>
                <a:ea typeface="Carlito" pitchFamily="34" charset="-122"/>
                <a:cs typeface="Carlito" pitchFamily="34" charset="-120"/>
              </a:rPr>
              <a:t>MARG cloud cost plan · 90 days</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7388"/>
                </a:solidFill>
                <a:latin typeface="Carlito" pitchFamily="34" charset="0"/>
                <a:ea typeface="Carlito" pitchFamily="34" charset="-122"/>
                <a:cs typeface="Carlito"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35000"/>
            <a:ext cx="2190353" cy="375907"/>
          </a:xfrm>
          <a:prstGeom prst="roundRect">
            <a:avLst>
              <a:gd name="adj" fmla="val 10135"/>
            </a:avLst>
          </a:prstGeom>
          <a:solidFill>
            <a:srgbClr val="1F7AB8"/>
          </a:solidFill>
          <a:ln/>
        </p:spPr>
        <p:txBody>
          <a:bodyPr wrap="none" lIns="0" tIns="0" rIns="0" bIns="0" rtlCol="0" anchor="ctr">
            <a:normAutofit/>
          </a:bodyPr>
          <a:lstStyle/>
          <a:p>
            <a:pPr marL="0" indent="0" algn="ctr">
              <a:lnSpc>
                <a:spcPts val="1960"/>
              </a:lnSpc>
              <a:buNone/>
            </a:pPr>
            <a:r>
              <a:rPr lang="en-US" sz="1400" b="1" kern="0" spc="150" dirty="0">
                <a:solidFill>
                  <a:srgbClr val="FFFFFF"/>
                </a:solidFill>
                <a:latin typeface="Caladea" pitchFamily="18" charset="0"/>
                <a:ea typeface="Caladea" pitchFamily="18" charset="-122"/>
                <a:cs typeface="Caladea" pitchFamily="18" charset="-120"/>
              </a:rPr>
              <a:t>STEP 2 · DAYS 30–90</a:t>
            </a:r>
            <a:endParaRPr lang="en-US" sz="1400" dirty="0"/>
          </a:p>
        </p:txBody>
      </p:sp>
      <p:sp>
        <p:nvSpPr>
          <p:cNvPr id="3" name="Text 1"/>
          <p:cNvSpPr>
            <a:spLocks noGrp="1"/>
          </p:cNvSpPr>
          <p:nvPr>
            <p:ph type="title"/>
          </p:nvPr>
        </p:nvSpPr>
        <p:spPr>
          <a:xfrm>
            <a:off x="812800" y="1214109"/>
            <a:ext cx="10883392" cy="423664"/>
          </a:xfrm>
          <a:prstGeom prst="rect">
            <a:avLst/>
          </a:prstGeom>
          <a:noFill/>
          <a:ln/>
        </p:spPr>
        <p:txBody>
          <a:bodyPr wrap="square" lIns="0" tIns="0" rIns="0" bIns="0" rtlCol="0" anchor="t">
            <a:normAutofit/>
          </a:bodyPr>
          <a:lstStyle/>
          <a:p>
            <a:pPr marL="0" indent="0" algn="l">
              <a:lnSpc>
                <a:spcPts val="3136"/>
              </a:lnSpc>
              <a:buNone/>
            </a:pPr>
            <a:r>
              <a:rPr lang="en-US" sz="2800" b="1" i="0" dirty="0">
                <a:solidFill>
                  <a:srgbClr val="14324A"/>
                </a:solidFill>
                <a:latin typeface="Caladea" pitchFamily="18" charset="0"/>
                <a:ea typeface="Caladea" pitchFamily="18" charset="-122"/>
                <a:cs typeface="Caladea" pitchFamily="18" charset="-120"/>
              </a:rPr>
              <a:t>Switch off, right-size and tune: up to ₹6.6 L a month</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8273"/>
          <a:ext cx="10553700" cy="2329985"/>
        </p:xfrm>
        <a:graphic>
          <a:graphicData uri="http://schemas.openxmlformats.org/drawingml/2006/table">
            <a:tbl>
              <a:tblPr/>
              <a:tblGrid>
                <a:gridCol w="6332220">
                  <a:extLst>
                    <a:ext uri="{9D8B030D-6E8A-4147-A177-3AD203B41FA5}">
                      <a16:colId xmlns:a16="http://schemas.microsoft.com/office/drawing/2014/main" val="20000"/>
                    </a:ext>
                  </a:extLst>
                </a:gridCol>
                <a:gridCol w="2638425">
                  <a:extLst>
                    <a:ext uri="{9D8B030D-6E8A-4147-A177-3AD203B41FA5}">
                      <a16:colId xmlns:a16="http://schemas.microsoft.com/office/drawing/2014/main" val="20001"/>
                    </a:ext>
                  </a:extLst>
                </a:gridCol>
                <a:gridCol w="1583055">
                  <a:extLst>
                    <a:ext uri="{9D8B030D-6E8A-4147-A177-3AD203B41FA5}">
                      <a16:colId xmlns:a16="http://schemas.microsoft.com/office/drawing/2014/main" val="20002"/>
                    </a:ext>
                  </a:extLst>
                </a:gridCol>
              </a:tblGrid>
              <a:tr h="465997">
                <a:tc>
                  <a:txBody>
                    <a:bodyPr/>
                    <a:lstStyle/>
                    <a:p>
                      <a:pPr marL="0" indent="0">
                        <a:lnSpc>
                          <a:spcPts val="2380"/>
                        </a:lnSpc>
                        <a:buNone/>
                      </a:pPr>
                      <a:r>
                        <a:rPr lang="en-US" sz="1700" b="1" dirty="0">
                          <a:solidFill>
                            <a:srgbClr val="FFFFFF"/>
                          </a:solidFill>
                          <a:latin typeface="Carlito" pitchFamily="34" charset="0"/>
                          <a:ea typeface="Carlito" pitchFamily="34" charset="-122"/>
                          <a:cs typeface="Carlito" pitchFamily="34" charset="-120"/>
                        </a:rPr>
                        <a:t>What to do</a:t>
                      </a:r>
                      <a:endParaRPr lang="en-US" sz="1700" dirty="0">
                        <a:latin typeface="Carlito" charset="0"/>
                        <a:ea typeface="Carlito" charset="0"/>
                        <a:cs typeface="Carli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1D64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6494"/>
                      </a:solidFill>
                      <a:prstDash val="solid"/>
                      <a:round/>
                      <a:headEnd type="none" w="med" len="med"/>
                      <a:tailEnd type="none" w="med" len="med"/>
                    </a:lnB>
                    <a:solidFill>
                      <a:srgbClr val="1F7AB8"/>
                    </a:solidFill>
                  </a:tcPr>
                </a:tc>
                <a:tc>
                  <a:txBody>
                    <a:bodyPr/>
                    <a:lstStyle/>
                    <a:p>
                      <a:pPr marL="0" indent="0">
                        <a:lnSpc>
                          <a:spcPts val="2380"/>
                        </a:lnSpc>
                        <a:buNone/>
                      </a:pPr>
                      <a:r>
                        <a:rPr lang="en-US" sz="1700" b="1" dirty="0">
                          <a:solidFill>
                            <a:srgbClr val="FFFFFF"/>
                          </a:solidFill>
                          <a:latin typeface="Carlito" pitchFamily="34" charset="0"/>
                          <a:ea typeface="Carlito" pitchFamily="34" charset="-122"/>
                          <a:cs typeface="Carlito" pitchFamily="34" charset="-120"/>
                        </a:rPr>
                        <a:t>Saving a month</a:t>
                      </a:r>
                      <a:endParaRPr lang="en-US" sz="1700" dirty="0">
                        <a:latin typeface="Carlito" charset="0"/>
                        <a:ea typeface="Carlito" charset="0"/>
                        <a:cs typeface="Carlito" charset="0"/>
                      </a:endParaRPr>
                    </a:p>
                  </a:txBody>
                  <a:tcPr marL="75565" marR="75565" marT="75565" marB="75565">
                    <a:lnL w="12700" cap="flat" cmpd="sng" algn="ctr">
                      <a:solidFill>
                        <a:srgbClr val="1D6494"/>
                      </a:solidFill>
                      <a:prstDash val="solid"/>
                      <a:round/>
                      <a:headEnd type="none" w="med" len="med"/>
                      <a:tailEnd type="none" w="med" len="med"/>
                    </a:lnL>
                    <a:lnR w="12700" cap="flat" cmpd="sng" algn="ctr">
                      <a:solidFill>
                        <a:srgbClr val="1D64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6494"/>
                      </a:solidFill>
                      <a:prstDash val="solid"/>
                      <a:round/>
                      <a:headEnd type="none" w="med" len="med"/>
                      <a:tailEnd type="none" w="med" len="med"/>
                    </a:lnB>
                    <a:solidFill>
                      <a:srgbClr val="1F7AB8"/>
                    </a:solidFill>
                  </a:tcPr>
                </a:tc>
                <a:tc>
                  <a:txBody>
                    <a:bodyPr/>
                    <a:lstStyle/>
                    <a:p>
                      <a:pPr marL="0" indent="0">
                        <a:lnSpc>
                          <a:spcPts val="2380"/>
                        </a:lnSpc>
                        <a:buNone/>
                      </a:pPr>
                      <a:r>
                        <a:rPr lang="en-US" sz="1700" b="1" dirty="0">
                          <a:solidFill>
                            <a:srgbClr val="FFFFFF"/>
                          </a:solidFill>
                          <a:latin typeface="Carlito" pitchFamily="34" charset="0"/>
                          <a:ea typeface="Carlito" pitchFamily="34" charset="-122"/>
                          <a:cs typeface="Carlito" pitchFamily="34" charset="-120"/>
                        </a:rPr>
                        <a:t>Risk</a:t>
                      </a:r>
                      <a:endParaRPr lang="en-US" sz="1700" dirty="0">
                        <a:latin typeface="Carlito" charset="0"/>
                        <a:ea typeface="Carlito" charset="0"/>
                        <a:cs typeface="Carlito" charset="0"/>
                      </a:endParaRPr>
                    </a:p>
                  </a:txBody>
                  <a:tcPr marL="75565" marR="75565" marT="75565" marB="75565">
                    <a:lnL w="12700" cap="flat" cmpd="sng" algn="ctr">
                      <a:solidFill>
                        <a:srgbClr val="1D6494"/>
                      </a:solidFill>
                      <a:prstDash val="solid"/>
                      <a:round/>
                      <a:headEnd type="none" w="med" len="med"/>
                      <a:tailEnd type="none" w="med" len="med"/>
                    </a:lnL>
                    <a:lnR w="12700" cap="flat" cmpd="sng" algn="ctr">
                      <a:solidFill>
                        <a:srgbClr val="1D64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6494"/>
                      </a:solidFill>
                      <a:prstDash val="solid"/>
                      <a:round/>
                      <a:headEnd type="none" w="med" len="med"/>
                      <a:tailEnd type="none" w="med" len="med"/>
                    </a:lnB>
                    <a:solidFill>
                      <a:srgbClr val="1F7AB8"/>
                    </a:solidFill>
                  </a:tcPr>
                </a:tc>
                <a:extLst>
                  <a:ext uri="{0D108BD9-81ED-4DB2-BD59-A6C34878D82A}">
                    <a16:rowId xmlns:a16="http://schemas.microsoft.com/office/drawing/2014/main" val="10000"/>
                  </a:ext>
                </a:extLst>
              </a:tr>
              <a:tr h="465997">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Switch off 36 idle servers, review 2 GPU servers</a:t>
                      </a:r>
                      <a:endParaRPr lang="en-US" sz="1700" dirty="0">
                        <a:latin typeface="Carlito" charset="0"/>
                        <a:ea typeface="Carlito" charset="0"/>
                        <a:cs typeface="Carli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1D6494"/>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up to ₹2.34 L</a:t>
                      </a:r>
                      <a:endParaRPr lang="en-US" sz="1700" dirty="0">
                        <a:latin typeface="Carlito" charset="0"/>
                        <a:ea typeface="Carlito" charset="0"/>
                        <a:cs typeface="Carlito" charset="0"/>
                      </a:endParaRPr>
                    </a:p>
                  </a:txBody>
                  <a:tcPr marL="75565" marR="75565" marT="75565" marB="75565">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1D6494"/>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Medium</a:t>
                      </a:r>
                      <a:endParaRPr lang="en-US" sz="1700" dirty="0">
                        <a:latin typeface="Carlito" charset="0"/>
                        <a:ea typeface="Carlito" charset="0"/>
                        <a:cs typeface="Carlito" charset="0"/>
                      </a:endParaRPr>
                    </a:p>
                  </a:txBody>
                  <a:tcPr marL="75565" marR="75565" marT="75565" marB="75565">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1D6494"/>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extLst>
                  <a:ext uri="{0D108BD9-81ED-4DB2-BD59-A6C34878D82A}">
                    <a16:rowId xmlns:a16="http://schemas.microsoft.com/office/drawing/2014/main" val="10001"/>
                  </a:ext>
                </a:extLst>
              </a:tr>
              <a:tr h="465997">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Right-size 30 servers with spare capacity</a:t>
                      </a:r>
                      <a:endParaRPr lang="en-US" sz="1700" dirty="0">
                        <a:latin typeface="Carlito" charset="0"/>
                        <a:ea typeface="Carlito" charset="0"/>
                        <a:cs typeface="Carli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up to ₹53.7K</a:t>
                      </a:r>
                      <a:endParaRPr lang="en-US" sz="1700" dirty="0">
                        <a:latin typeface="Carlito" charset="0"/>
                        <a:ea typeface="Carlito" charset="0"/>
                        <a:cs typeface="Carlito" charset="0"/>
                      </a:endParaRPr>
                    </a:p>
                  </a:txBody>
                  <a:tcPr marL="75565" marR="75565" marT="75565" marB="75565">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Medium</a:t>
                      </a:r>
                      <a:endParaRPr lang="en-US" sz="1700" dirty="0">
                        <a:latin typeface="Carlito" charset="0"/>
                        <a:ea typeface="Carlito" charset="0"/>
                        <a:cs typeface="Carlito" charset="0"/>
                      </a:endParaRPr>
                    </a:p>
                  </a:txBody>
                  <a:tcPr marL="75565" marR="75565" marT="75565" marB="75565">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extLst>
                  <a:ext uri="{0D108BD9-81ED-4DB2-BD59-A6C34878D82A}">
                    <a16:rowId xmlns:a16="http://schemas.microsoft.com/office/drawing/2014/main" val="10002"/>
                  </a:ext>
                </a:extLst>
              </a:tr>
              <a:tr h="465997">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Shrink over-provisioned disks on 59 servers</a:t>
                      </a:r>
                      <a:endParaRPr lang="en-US" sz="1700" dirty="0">
                        <a:latin typeface="Carlito" charset="0"/>
                        <a:ea typeface="Carlito" charset="0"/>
                        <a:cs typeface="Carli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up to ₹73.8K</a:t>
                      </a:r>
                      <a:endParaRPr lang="en-US" sz="1700" dirty="0">
                        <a:latin typeface="Carlito" charset="0"/>
                        <a:ea typeface="Carlito" charset="0"/>
                        <a:cs typeface="Carlito" charset="0"/>
                      </a:endParaRPr>
                    </a:p>
                  </a:txBody>
                  <a:tcPr marL="75565" marR="75565" marT="75565" marB="75565">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Medium</a:t>
                      </a:r>
                      <a:endParaRPr lang="en-US" sz="1700" dirty="0">
                        <a:latin typeface="Carlito" charset="0"/>
                        <a:ea typeface="Carlito" charset="0"/>
                        <a:cs typeface="Carlito" charset="0"/>
                      </a:endParaRPr>
                    </a:p>
                  </a:txBody>
                  <a:tcPr marL="75565" marR="75565" marT="75565" marB="75565">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extLst>
                  <a:ext uri="{0D108BD9-81ED-4DB2-BD59-A6C34878D82A}">
                    <a16:rowId xmlns:a16="http://schemas.microsoft.com/office/drawing/2014/main" val="10003"/>
                  </a:ext>
                </a:extLst>
              </a:tr>
              <a:tr h="465997">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Reserve and trim 45 Azure resources</a:t>
                      </a:r>
                      <a:endParaRPr lang="en-US" sz="1700" dirty="0">
                        <a:latin typeface="Carlito" charset="0"/>
                        <a:ea typeface="Carlito" charset="0"/>
                        <a:cs typeface="Carli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up to ₹2.95 L</a:t>
                      </a:r>
                      <a:endParaRPr lang="en-US" sz="1700" dirty="0">
                        <a:latin typeface="Carlito" charset="0"/>
                        <a:ea typeface="Carlito" charset="0"/>
                        <a:cs typeface="Carlito" charset="0"/>
                      </a:endParaRPr>
                    </a:p>
                  </a:txBody>
                  <a:tcPr marL="75565" marR="75565" marT="75565" marB="75565">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380"/>
                        </a:lnSpc>
                        <a:buNone/>
                      </a:pPr>
                      <a:r>
                        <a:rPr lang="en-US" sz="1700" dirty="0">
                          <a:solidFill>
                            <a:srgbClr val="14324A"/>
                          </a:solidFill>
                          <a:latin typeface="Carlito" pitchFamily="34" charset="0"/>
                          <a:ea typeface="Carlito" pitchFamily="34" charset="-122"/>
                          <a:cs typeface="Carlito" pitchFamily="34" charset="-120"/>
                        </a:rPr>
                        <a:t>Medium</a:t>
                      </a:r>
                      <a:endParaRPr lang="en-US" sz="1700" dirty="0">
                        <a:latin typeface="Carlito" charset="0"/>
                        <a:ea typeface="Carlito" charset="0"/>
                        <a:cs typeface="Carlito" charset="0"/>
                      </a:endParaRPr>
                    </a:p>
                  </a:txBody>
                  <a:tcPr marL="75565" marR="75565" marT="75565" marB="75565">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extLst>
                  <a:ext uri="{0D108BD9-81ED-4DB2-BD59-A6C34878D82A}">
                    <a16:rowId xmlns:a16="http://schemas.microsoft.com/office/drawing/2014/main" val="10004"/>
                  </a:ext>
                </a:extLst>
              </a:tr>
            </a:tbl>
          </a:graphicData>
        </a:graphic>
      </p:graphicFrame>
      <p:sp>
        <p:nvSpPr>
          <p:cNvPr id="5" name="Text 2"/>
          <p:cNvSpPr/>
          <p:nvPr/>
        </p:nvSpPr>
        <p:spPr>
          <a:xfrm>
            <a:off x="812800" y="4361458"/>
            <a:ext cx="5207000" cy="1178520"/>
          </a:xfrm>
          <a:prstGeom prst="roundRect">
            <a:avLst>
              <a:gd name="adj" fmla="val 4310"/>
            </a:avLst>
          </a:prstGeom>
          <a:solidFill>
            <a:srgbClr val="E6F3FB"/>
          </a:solidFill>
          <a:ln/>
        </p:spPr>
        <p:txBody>
          <a:bodyPr wrap="square" lIns="264521" tIns="162921" rIns="72751" bIns="137521" rtlCol="0" anchor="t">
            <a:normAutofit/>
          </a:bodyPr>
          <a:lstStyle/>
          <a:p>
            <a:pPr marL="0" indent="0" algn="l">
              <a:lnSpc>
                <a:spcPts val="2160"/>
              </a:lnSpc>
              <a:buNone/>
            </a:pPr>
            <a:r>
              <a:rPr lang="en-US" sz="1600" b="1" dirty="0">
                <a:solidFill>
                  <a:srgbClr val="14324A"/>
                </a:solidFill>
                <a:latin typeface="Carlito" pitchFamily="34" charset="0"/>
                <a:ea typeface="Carlito" pitchFamily="34" charset="-122"/>
                <a:cs typeface="Carlito" pitchFamily="34" charset="-120"/>
              </a:rPr>
              <a:t>Proven today:</a:t>
            </a:r>
            <a:r>
              <a:rPr lang="en-US" sz="1600" dirty="0">
                <a:solidFill>
                  <a:srgbClr val="14324A"/>
                </a:solidFill>
                <a:latin typeface="Carlito" pitchFamily="34" charset="0"/>
                <a:ea typeface="Carlito" pitchFamily="34" charset="-122"/>
                <a:cs typeface="Carlito" pitchFamily="34" charset="-120"/>
              </a:rPr>
              <a:t> ₹21.3K of the right-sizing is backed by measured load. 13 more servers need a price or DBA check.</a:t>
            </a:r>
            <a:endParaRPr lang="en-US" sz="1600" dirty="0"/>
          </a:p>
        </p:txBody>
      </p:sp>
      <p:sp>
        <p:nvSpPr>
          <p:cNvPr id="6" name="Shape 3"/>
          <p:cNvSpPr/>
          <p:nvPr/>
        </p:nvSpPr>
        <p:spPr>
          <a:xfrm>
            <a:off x="812800" y="4361458"/>
            <a:ext cx="5207000" cy="1178520"/>
          </a:xfrm>
          <a:custGeom>
            <a:avLst/>
            <a:gdLst/>
            <a:ahLst/>
            <a:cxnLst/>
            <a:rect l="l" t="t" r="r" b="b"/>
            <a:pathLst>
              <a:path w="5207000" h="1178520">
                <a:moveTo>
                  <a:pt x="50800" y="1178520"/>
                </a:moveTo>
                <a:lnTo>
                  <a:pt x="50800" y="1178520"/>
                </a:lnTo>
                <a:arcTo wR="50800" hR="50800" stAng="5400000" swAng="5400000"/>
                <a:lnTo>
                  <a:pt x="0" y="50800"/>
                </a:lnTo>
                <a:arcTo wR="50800" hR="50800" stAng="10800000" swAng="5400000"/>
                <a:lnTo>
                  <a:pt x="50800" y="0"/>
                </a:lnTo>
                <a:lnTo>
                  <a:pt x="50800" y="1178520"/>
                </a:lnTo>
                <a:close/>
              </a:path>
            </a:pathLst>
          </a:custGeom>
          <a:solidFill>
            <a:srgbClr val="A4D3F0"/>
          </a:solidFill>
          <a:ln/>
        </p:spPr>
        <p:txBody>
          <a:bodyPr/>
          <a:lstStyle/>
          <a:p>
            <a:endParaRPr lang="en-IN"/>
          </a:p>
        </p:txBody>
      </p:sp>
      <p:sp>
        <p:nvSpPr>
          <p:cNvPr id="7" name="Text 4"/>
          <p:cNvSpPr/>
          <p:nvPr/>
        </p:nvSpPr>
        <p:spPr>
          <a:xfrm>
            <a:off x="6223000" y="4361458"/>
            <a:ext cx="5156200" cy="1178520"/>
          </a:xfrm>
          <a:prstGeom prst="roundRect">
            <a:avLst>
              <a:gd name="adj" fmla="val 4310"/>
            </a:avLst>
          </a:prstGeom>
          <a:solidFill>
            <a:srgbClr val="1F7AB8"/>
          </a:solidFill>
          <a:ln/>
        </p:spPr>
        <p:txBody>
          <a:bodyPr wrap="square" lIns="213721" tIns="162921" rIns="72751" bIns="162921" rtlCol="0" anchor="t">
            <a:normAutofit/>
          </a:bodyPr>
          <a:lstStyle/>
          <a:p>
            <a:pPr marL="0" indent="0" algn="l">
              <a:lnSpc>
                <a:spcPts val="2160"/>
              </a:lnSpc>
              <a:buNone/>
            </a:pPr>
            <a:r>
              <a:rPr lang="en-US" sz="1600" b="1" dirty="0">
                <a:solidFill>
                  <a:srgbClr val="FFFFFF"/>
                </a:solidFill>
                <a:latin typeface="Carlito" pitchFamily="34" charset="0"/>
                <a:ea typeface="Carlito" pitchFamily="34" charset="-122"/>
                <a:cs typeface="Carlito" pitchFamily="34" charset="-120"/>
              </a:rPr>
              <a:t>With Step 1,</a:t>
            </a:r>
            <a:r>
              <a:rPr lang="en-US" sz="1600" dirty="0">
                <a:solidFill>
                  <a:srgbClr val="FFFFFF"/>
                </a:solidFill>
                <a:latin typeface="Carlito" pitchFamily="34" charset="0"/>
                <a:ea typeface="Carlito" pitchFamily="34" charset="-122"/>
                <a:cs typeface="Carlito" pitchFamily="34" charset="-120"/>
              </a:rPr>
              <a:t> this reaches ₹10.9 L a month, 16% of spend, by day 90.</a:t>
            </a:r>
            <a:endParaRPr lang="en-US" sz="1600" dirty="0"/>
          </a:p>
        </p:txBody>
      </p:sp>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7388"/>
                </a:solidFill>
                <a:latin typeface="Carlito" pitchFamily="34" charset="0"/>
                <a:ea typeface="Carlito" pitchFamily="34" charset="-122"/>
                <a:cs typeface="Carlito" pitchFamily="34" charset="-120"/>
              </a:rPr>
              <a:t>MARG cloud cost plan · 90 days</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7388"/>
                </a:solidFill>
                <a:latin typeface="Carlito" pitchFamily="34" charset="0"/>
                <a:ea typeface="Carlito" pitchFamily="34" charset="-122"/>
                <a:cs typeface="Carlit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35000"/>
            <a:ext cx="3016250" cy="375907"/>
          </a:xfrm>
          <a:prstGeom prst="roundRect">
            <a:avLst>
              <a:gd name="adj" fmla="val 10135"/>
            </a:avLst>
          </a:prstGeom>
          <a:solidFill>
            <a:srgbClr val="1F7AB8"/>
          </a:solidFill>
          <a:ln/>
        </p:spPr>
        <p:txBody>
          <a:bodyPr wrap="none" lIns="0" tIns="0" rIns="0" bIns="0" rtlCol="0" anchor="ctr">
            <a:normAutofit/>
          </a:bodyPr>
          <a:lstStyle/>
          <a:p>
            <a:pPr marL="0" indent="0" algn="ctr">
              <a:lnSpc>
                <a:spcPts val="1960"/>
              </a:lnSpc>
              <a:buNone/>
            </a:pPr>
            <a:r>
              <a:rPr lang="en-US" sz="1400" b="1" kern="0" spc="150" dirty="0">
                <a:solidFill>
                  <a:srgbClr val="FFFFFF"/>
                </a:solidFill>
                <a:latin typeface="Caladea" pitchFamily="18" charset="0"/>
                <a:ea typeface="Caladea" pitchFamily="18" charset="-122"/>
                <a:cs typeface="Caladea" pitchFamily="18" charset="-120"/>
              </a:rPr>
              <a:t>STEP 3 · DAY 60 TO MONTH 6</a:t>
            </a:r>
            <a:endParaRPr lang="en-US" sz="1400" dirty="0"/>
          </a:p>
        </p:txBody>
      </p:sp>
      <p:sp>
        <p:nvSpPr>
          <p:cNvPr id="3" name="Text 1"/>
          <p:cNvSpPr>
            <a:spLocks noGrp="1"/>
          </p:cNvSpPr>
          <p:nvPr>
            <p:ph type="title"/>
          </p:nvPr>
        </p:nvSpPr>
        <p:spPr>
          <a:xfrm>
            <a:off x="812800" y="1214109"/>
            <a:ext cx="10883392" cy="423664"/>
          </a:xfrm>
          <a:prstGeom prst="rect">
            <a:avLst/>
          </a:prstGeom>
          <a:noFill/>
          <a:ln/>
        </p:spPr>
        <p:txBody>
          <a:bodyPr wrap="square" lIns="0" tIns="0" rIns="0" bIns="0" rtlCol="0" anchor="t">
            <a:normAutofit/>
          </a:bodyPr>
          <a:lstStyle/>
          <a:p>
            <a:pPr marL="0" indent="0" algn="l">
              <a:lnSpc>
                <a:spcPts val="3136"/>
              </a:lnSpc>
              <a:buNone/>
            </a:pPr>
            <a:r>
              <a:rPr lang="en-US" sz="2800" b="1" i="0" dirty="0">
                <a:solidFill>
                  <a:srgbClr val="14324A"/>
                </a:solidFill>
                <a:latin typeface="Caladea" pitchFamily="18" charset="0"/>
                <a:ea typeface="Caladea" pitchFamily="18" charset="-122"/>
                <a:cs typeface="Caladea" pitchFamily="18" charset="-120"/>
              </a:rPr>
              <a:t>Moving six workloads to WebberStop saves up to ₹3.26 L</a:t>
            </a:r>
            <a:endParaRPr lang="en-US" sz="2800" dirty="0"/>
          </a:p>
        </p:txBody>
      </p:sp>
      <p:sp>
        <p:nvSpPr>
          <p:cNvPr id="4" name="Shape 2"/>
          <p:cNvSpPr/>
          <p:nvPr/>
        </p:nvSpPr>
        <p:spPr>
          <a:xfrm>
            <a:off x="812800" y="1815573"/>
            <a:ext cx="3810000" cy="3472259"/>
          </a:xfrm>
          <a:prstGeom prst="roundRect">
            <a:avLst>
              <a:gd name="adj" fmla="val 1463"/>
            </a:avLst>
          </a:prstGeom>
          <a:solidFill>
            <a:srgbClr val="1F7AB8"/>
          </a:solidFill>
          <a:ln/>
        </p:spPr>
        <p:txBody>
          <a:bodyPr/>
          <a:lstStyle/>
          <a:p>
            <a:endParaRPr lang="en-IN"/>
          </a:p>
        </p:txBody>
      </p:sp>
      <p:sp>
        <p:nvSpPr>
          <p:cNvPr id="5" name="Text 3"/>
          <p:cNvSpPr/>
          <p:nvPr/>
        </p:nvSpPr>
        <p:spPr>
          <a:xfrm>
            <a:off x="1066800" y="2069573"/>
            <a:ext cx="3556000" cy="273050"/>
          </a:xfrm>
          <a:prstGeom prst="rect">
            <a:avLst/>
          </a:prstGeom>
          <a:noFill/>
          <a:ln/>
        </p:spPr>
        <p:txBody>
          <a:bodyPr wrap="square" lIns="0" tIns="0" rIns="0" bIns="0" rtlCol="0" anchor="t">
            <a:normAutofit fontScale="92500"/>
          </a:bodyPr>
          <a:lstStyle/>
          <a:p>
            <a:pPr marL="0" indent="0" algn="l">
              <a:lnSpc>
                <a:spcPts val="1950"/>
              </a:lnSpc>
              <a:buNone/>
            </a:pPr>
            <a:r>
              <a:rPr lang="en-US" sz="1500" dirty="0">
                <a:solidFill>
                  <a:srgbClr val="FFFFFF"/>
                </a:solidFill>
                <a:latin typeface="Carlito" pitchFamily="34" charset="0"/>
                <a:ea typeface="Carlito" pitchFamily="34" charset="-122"/>
                <a:cs typeface="Carlito" pitchFamily="34" charset="-120"/>
              </a:rPr>
              <a:t>Same sizes at WebberStop’s current prices</a:t>
            </a:r>
            <a:endParaRPr lang="en-US" sz="1500" dirty="0"/>
          </a:p>
        </p:txBody>
      </p:sp>
      <p:sp>
        <p:nvSpPr>
          <p:cNvPr id="6" name="Text 4"/>
          <p:cNvSpPr/>
          <p:nvPr/>
        </p:nvSpPr>
        <p:spPr>
          <a:xfrm>
            <a:off x="1066800" y="2393423"/>
            <a:ext cx="3401060" cy="863600"/>
          </a:xfrm>
          <a:prstGeom prst="rect">
            <a:avLst/>
          </a:prstGeom>
          <a:noFill/>
          <a:ln/>
        </p:spPr>
        <p:txBody>
          <a:bodyPr wrap="square" lIns="0" tIns="0" rIns="0" bIns="0" rtlCol="0" anchor="t">
            <a:normAutofit/>
          </a:bodyPr>
          <a:lstStyle/>
          <a:p>
            <a:pPr marL="0" indent="0" algn="l">
              <a:lnSpc>
                <a:spcPts val="6600"/>
              </a:lnSpc>
              <a:buNone/>
            </a:pPr>
            <a:r>
              <a:rPr lang="en-US" sz="6000" b="1" dirty="0">
                <a:solidFill>
                  <a:srgbClr val="FFFFFF"/>
                </a:solidFill>
                <a:latin typeface="Caladea" pitchFamily="18" charset="0"/>
                <a:ea typeface="Caladea" pitchFamily="18" charset="-122"/>
                <a:cs typeface="Caladea" pitchFamily="18" charset="-120"/>
              </a:rPr>
              <a:t>₹3.26 L</a:t>
            </a:r>
            <a:endParaRPr lang="en-US" sz="6000" dirty="0"/>
          </a:p>
        </p:txBody>
      </p:sp>
      <p:sp>
        <p:nvSpPr>
          <p:cNvPr id="7" name="Text 5"/>
          <p:cNvSpPr/>
          <p:nvPr/>
        </p:nvSpPr>
        <p:spPr>
          <a:xfrm>
            <a:off x="1066800" y="3307823"/>
            <a:ext cx="3401060" cy="608277"/>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FFFFF"/>
                </a:solidFill>
                <a:latin typeface="Carlito" pitchFamily="34" charset="0"/>
                <a:ea typeface="Carlito" pitchFamily="34" charset="-122"/>
                <a:cs typeface="Carlito" pitchFamily="34" charset="-120"/>
              </a:rPr>
              <a:t>a month, an estimate: Azure ₹4.61 L falls to about ₹1.35 L</a:t>
            </a:r>
            <a:endParaRPr lang="en-US" sz="1700" dirty="0"/>
          </a:p>
        </p:txBody>
      </p:sp>
      <p:sp>
        <p:nvSpPr>
          <p:cNvPr id="8" name="Text 6"/>
          <p:cNvSpPr/>
          <p:nvPr/>
        </p:nvSpPr>
        <p:spPr>
          <a:xfrm>
            <a:off x="1066800" y="3966902"/>
            <a:ext cx="3401060"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EAF5FC"/>
                </a:solidFill>
                <a:latin typeface="Carlito" pitchFamily="34" charset="0"/>
                <a:ea typeface="Carlito" pitchFamily="34" charset="-122"/>
                <a:cs typeface="Carlito" pitchFamily="34" charset="-120"/>
              </a:rPr>
              <a:t>Data transfer and licence differences are not counted, so the real saving is likely higher.</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838700" y="1828273"/>
          <a:ext cx="6540500" cy="3075387"/>
        </p:xfrm>
        <a:graphic>
          <a:graphicData uri="http://schemas.openxmlformats.org/drawingml/2006/table">
            <a:tbl>
              <a:tblPr/>
              <a:tblGrid>
                <a:gridCol w="2747010">
                  <a:extLst>
                    <a:ext uri="{9D8B030D-6E8A-4147-A177-3AD203B41FA5}">
                      <a16:colId xmlns:a16="http://schemas.microsoft.com/office/drawing/2014/main" val="20000"/>
                    </a:ext>
                  </a:extLst>
                </a:gridCol>
                <a:gridCol w="2158365">
                  <a:extLst>
                    <a:ext uri="{9D8B030D-6E8A-4147-A177-3AD203B41FA5}">
                      <a16:colId xmlns:a16="http://schemas.microsoft.com/office/drawing/2014/main" val="20001"/>
                    </a:ext>
                  </a:extLst>
                </a:gridCol>
                <a:gridCol w="1635125">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FFFFFF"/>
                          </a:solidFill>
                          <a:latin typeface="Carlito" pitchFamily="34" charset="0"/>
                          <a:ea typeface="Carlito" pitchFamily="34" charset="-122"/>
                          <a:cs typeface="Carlito" pitchFamily="34" charset="-120"/>
                        </a:rPr>
                        <a:t>Workload</a:t>
                      </a:r>
                      <a:endParaRPr lang="en-US" sz="1600" dirty="0">
                        <a:latin typeface="Carlito" charset="0"/>
                        <a:ea typeface="Carlito" charset="0"/>
                        <a:cs typeface="Carli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1D64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6494"/>
                      </a:solidFill>
                      <a:prstDash val="solid"/>
                      <a:round/>
                      <a:headEnd type="none" w="med" len="med"/>
                      <a:tailEnd type="none" w="med" len="med"/>
                    </a:lnB>
                    <a:solidFill>
                      <a:srgbClr val="1F7AB8"/>
                    </a:solidFill>
                  </a:tcPr>
                </a:tc>
                <a:tc>
                  <a:txBody>
                    <a:bodyPr/>
                    <a:lstStyle/>
                    <a:p>
                      <a:pPr marL="0" indent="0">
                        <a:lnSpc>
                          <a:spcPts val="2240"/>
                        </a:lnSpc>
                        <a:buNone/>
                      </a:pPr>
                      <a:r>
                        <a:rPr lang="en-US" sz="1600" b="1" dirty="0">
                          <a:solidFill>
                            <a:srgbClr val="FFFFFF"/>
                          </a:solidFill>
                          <a:latin typeface="Carlito" pitchFamily="34" charset="0"/>
                          <a:ea typeface="Carlito" pitchFamily="34" charset="-122"/>
                          <a:cs typeface="Carlito" pitchFamily="34" charset="-120"/>
                        </a:rPr>
                        <a:t>Saving a month</a:t>
                      </a:r>
                      <a:endParaRPr lang="en-US" sz="1600" dirty="0">
                        <a:latin typeface="Carlito" charset="0"/>
                        <a:ea typeface="Carlito" charset="0"/>
                        <a:cs typeface="Carlito" charset="0"/>
                      </a:endParaRPr>
                    </a:p>
                  </a:txBody>
                  <a:tcPr marL="71120" marR="71120" marT="71120" marB="71120">
                    <a:lnL w="12700" cap="flat" cmpd="sng" algn="ctr">
                      <a:solidFill>
                        <a:srgbClr val="1D6494"/>
                      </a:solidFill>
                      <a:prstDash val="solid"/>
                      <a:round/>
                      <a:headEnd type="none" w="med" len="med"/>
                      <a:tailEnd type="none" w="med" len="med"/>
                    </a:lnL>
                    <a:lnR w="12700" cap="flat" cmpd="sng" algn="ctr">
                      <a:solidFill>
                        <a:srgbClr val="1D64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6494"/>
                      </a:solidFill>
                      <a:prstDash val="solid"/>
                      <a:round/>
                      <a:headEnd type="none" w="med" len="med"/>
                      <a:tailEnd type="none" w="med" len="med"/>
                    </a:lnB>
                    <a:solidFill>
                      <a:srgbClr val="1F7AB8"/>
                    </a:solidFill>
                  </a:tcPr>
                </a:tc>
                <a:tc>
                  <a:txBody>
                    <a:bodyPr/>
                    <a:lstStyle/>
                    <a:p>
                      <a:pPr marL="0" indent="0">
                        <a:lnSpc>
                          <a:spcPts val="2240"/>
                        </a:lnSpc>
                        <a:buNone/>
                      </a:pPr>
                      <a:r>
                        <a:rPr lang="en-US" sz="1600" b="1" dirty="0">
                          <a:solidFill>
                            <a:srgbClr val="FFFFFF"/>
                          </a:solidFill>
                          <a:latin typeface="Carlito" pitchFamily="34" charset="0"/>
                          <a:ea typeface="Carlito" pitchFamily="34" charset="-122"/>
                          <a:cs typeface="Carlito" pitchFamily="34" charset="-120"/>
                        </a:rPr>
                        <a:t>Lands by</a:t>
                      </a:r>
                      <a:endParaRPr lang="en-US" sz="1600" dirty="0">
                        <a:latin typeface="Carlito" charset="0"/>
                        <a:ea typeface="Carlito" charset="0"/>
                        <a:cs typeface="Carlito" charset="0"/>
                      </a:endParaRPr>
                    </a:p>
                  </a:txBody>
                  <a:tcPr marL="71120" marR="71120" marT="71120" marB="71120">
                    <a:lnL w="12700" cap="flat" cmpd="sng" algn="ctr">
                      <a:solidFill>
                        <a:srgbClr val="1D6494"/>
                      </a:solidFill>
                      <a:prstDash val="solid"/>
                      <a:round/>
                      <a:headEnd type="none" w="med" len="med"/>
                      <a:tailEnd type="none" w="med" len="med"/>
                    </a:lnL>
                    <a:lnR w="12700" cap="flat" cmpd="sng" algn="ctr">
                      <a:solidFill>
                        <a:srgbClr val="1D64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6494"/>
                      </a:solidFill>
                      <a:prstDash val="solid"/>
                      <a:round/>
                      <a:headEnd type="none" w="med" len="med"/>
                      <a:tailEnd type="none" w="med" len="med"/>
                    </a:lnB>
                    <a:solidFill>
                      <a:srgbClr val="1F7AB8"/>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VM-App2</a:t>
                      </a:r>
                      <a:endParaRPr lang="en-US" sz="1600" dirty="0">
                        <a:latin typeface="Carlito" charset="0"/>
                        <a:ea typeface="Carlito" charset="0"/>
                        <a:cs typeface="Carli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1D6494"/>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₹1.49 L</a:t>
                      </a:r>
                      <a:endParaRPr lang="en-US" sz="1600" dirty="0">
                        <a:latin typeface="Carlito" charset="0"/>
                        <a:ea typeface="Carlito" charset="0"/>
                        <a:cs typeface="Carlito" charset="0"/>
                      </a:endParaRPr>
                    </a:p>
                  </a:txBody>
                  <a:tcPr marL="71120" marR="71120" marT="71120" marB="71120">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1D6494"/>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Day 90</a:t>
                      </a:r>
                      <a:endParaRPr lang="en-US" sz="1600" dirty="0">
                        <a:latin typeface="Carlito" charset="0"/>
                        <a:ea typeface="Carlito" charset="0"/>
                        <a:cs typeface="Carlito" charset="0"/>
                      </a:endParaRPr>
                    </a:p>
                  </a:txBody>
                  <a:tcPr marL="71120" marR="71120" marT="71120" marB="71120">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1D6494"/>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VM-ReportServer</a:t>
                      </a:r>
                      <a:endParaRPr lang="en-US" sz="1600" dirty="0">
                        <a:latin typeface="Carlito" charset="0"/>
                        <a:ea typeface="Carlito" charset="0"/>
                        <a:cs typeface="Carli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₹57.6K</a:t>
                      </a:r>
                      <a:endParaRPr lang="en-US" sz="1600" dirty="0">
                        <a:latin typeface="Carlito" charset="0"/>
                        <a:ea typeface="Carlito" charset="0"/>
                        <a:cs typeface="Carlito" charset="0"/>
                      </a:endParaRPr>
                    </a:p>
                  </a:txBody>
                  <a:tcPr marL="71120" marR="71120" marT="71120" marB="71120">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Day 90</a:t>
                      </a:r>
                      <a:endParaRPr lang="en-US" sz="1600" dirty="0">
                        <a:latin typeface="Carlito" charset="0"/>
                        <a:ea typeface="Carlito" charset="0"/>
                        <a:cs typeface="Carlito" charset="0"/>
                      </a:endParaRPr>
                    </a:p>
                  </a:txBody>
                  <a:tcPr marL="71120" marR="71120" marT="71120" marB="71120">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extLst>
                  <a:ext uri="{0D108BD9-81ED-4DB2-BD59-A6C34878D82A}">
                    <a16:rowId xmlns:a16="http://schemas.microsoft.com/office/drawing/2014/main" val="10002"/>
                  </a:ext>
                </a:extLst>
              </a:tr>
              <a:tr h="439341">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VM-APP2NSYNC</a:t>
                      </a:r>
                      <a:endParaRPr lang="en-US" sz="1600" dirty="0">
                        <a:latin typeface="Carlito" charset="0"/>
                        <a:ea typeface="Carlito" charset="0"/>
                        <a:cs typeface="Carli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₹45.5K</a:t>
                      </a:r>
                      <a:endParaRPr lang="en-US" sz="1600" dirty="0">
                        <a:latin typeface="Carlito" charset="0"/>
                        <a:ea typeface="Carlito" charset="0"/>
                        <a:cs typeface="Carlito" charset="0"/>
                      </a:endParaRPr>
                    </a:p>
                  </a:txBody>
                  <a:tcPr marL="71120" marR="71120" marT="71120" marB="71120">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Day 90</a:t>
                      </a:r>
                      <a:endParaRPr lang="en-US" sz="1600" dirty="0">
                        <a:latin typeface="Carlito" charset="0"/>
                        <a:ea typeface="Carlito" charset="0"/>
                        <a:cs typeface="Carlito" charset="0"/>
                      </a:endParaRPr>
                    </a:p>
                  </a:txBody>
                  <a:tcPr marL="71120" marR="71120" marT="71120" marB="71120">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extLst>
                  <a:ext uri="{0D108BD9-81ED-4DB2-BD59-A6C34878D82A}">
                    <a16:rowId xmlns:a16="http://schemas.microsoft.com/office/drawing/2014/main" val="10003"/>
                  </a:ext>
                </a:extLst>
              </a:tr>
              <a:tr h="439341">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VM-APP2-New</a:t>
                      </a:r>
                      <a:endParaRPr lang="en-US" sz="1600" dirty="0">
                        <a:latin typeface="Carlito" charset="0"/>
                        <a:ea typeface="Carlito" charset="0"/>
                        <a:cs typeface="Carli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₹38.6K</a:t>
                      </a:r>
                      <a:endParaRPr lang="en-US" sz="1600" dirty="0">
                        <a:latin typeface="Carlito" charset="0"/>
                        <a:ea typeface="Carlito" charset="0"/>
                        <a:cs typeface="Carlito" charset="0"/>
                      </a:endParaRPr>
                    </a:p>
                  </a:txBody>
                  <a:tcPr marL="71120" marR="71120" marT="71120" marB="71120">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Month 6</a:t>
                      </a:r>
                      <a:endParaRPr lang="en-US" sz="1600" dirty="0">
                        <a:latin typeface="Carlito" charset="0"/>
                        <a:ea typeface="Carlito" charset="0"/>
                        <a:cs typeface="Carlito" charset="0"/>
                      </a:endParaRPr>
                    </a:p>
                  </a:txBody>
                  <a:tcPr marL="71120" marR="71120" marT="71120" marB="71120">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extLst>
                  <a:ext uri="{0D108BD9-81ED-4DB2-BD59-A6C34878D82A}">
                    <a16:rowId xmlns:a16="http://schemas.microsoft.com/office/drawing/2014/main" val="10004"/>
                  </a:ext>
                </a:extLst>
              </a:tr>
              <a:tr h="439341">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ECOD</a:t>
                      </a:r>
                      <a:endParaRPr lang="en-US" sz="1600" dirty="0">
                        <a:latin typeface="Carlito" charset="0"/>
                        <a:ea typeface="Carlito" charset="0"/>
                        <a:cs typeface="Carli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₹27.3K</a:t>
                      </a:r>
                      <a:endParaRPr lang="en-US" sz="1600" dirty="0">
                        <a:latin typeface="Carlito" charset="0"/>
                        <a:ea typeface="Carlito" charset="0"/>
                        <a:cs typeface="Carlito" charset="0"/>
                      </a:endParaRPr>
                    </a:p>
                  </a:txBody>
                  <a:tcPr marL="71120" marR="71120" marT="71120" marB="71120">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Month 6</a:t>
                      </a:r>
                      <a:endParaRPr lang="en-US" sz="1600" dirty="0">
                        <a:latin typeface="Carlito" charset="0"/>
                        <a:ea typeface="Carlito" charset="0"/>
                        <a:cs typeface="Carlito" charset="0"/>
                      </a:endParaRPr>
                    </a:p>
                  </a:txBody>
                  <a:tcPr marL="71120" marR="71120" marT="71120" marB="71120">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extLst>
                  <a:ext uri="{0D108BD9-81ED-4DB2-BD59-A6C34878D82A}">
                    <a16:rowId xmlns:a16="http://schemas.microsoft.com/office/drawing/2014/main" val="10005"/>
                  </a:ext>
                </a:extLst>
              </a:tr>
              <a:tr h="439341">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WhatsApp</a:t>
                      </a:r>
                      <a:endParaRPr lang="en-US" sz="1600" dirty="0">
                        <a:latin typeface="Carlito" charset="0"/>
                        <a:ea typeface="Carlito" charset="0"/>
                        <a:cs typeface="Carli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₹7.7K</a:t>
                      </a:r>
                      <a:endParaRPr lang="en-US" sz="1600" dirty="0">
                        <a:latin typeface="Carlito" charset="0"/>
                        <a:ea typeface="Carlito" charset="0"/>
                        <a:cs typeface="Carlito" charset="0"/>
                      </a:endParaRPr>
                    </a:p>
                  </a:txBody>
                  <a:tcPr marL="71120" marR="71120" marT="71120" marB="71120">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Month 6</a:t>
                      </a:r>
                      <a:endParaRPr lang="en-US" sz="1600" dirty="0">
                        <a:latin typeface="Carlito" charset="0"/>
                        <a:ea typeface="Carlito" charset="0"/>
                        <a:cs typeface="Carlito" charset="0"/>
                      </a:endParaRPr>
                    </a:p>
                  </a:txBody>
                  <a:tcPr marL="71120" marR="71120" marT="71120" marB="71120">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extLst>
                  <a:ext uri="{0D108BD9-81ED-4DB2-BD59-A6C34878D82A}">
                    <a16:rowId xmlns:a16="http://schemas.microsoft.com/office/drawing/2014/main" val="10006"/>
                  </a:ext>
                </a:extLst>
              </a:tr>
            </a:tbl>
          </a:graphicData>
        </a:graphic>
      </p:graphicFrame>
      <p:sp>
        <p:nvSpPr>
          <p:cNvPr id="10" name="Text 7"/>
          <p:cNvSpPr/>
          <p:nvPr/>
        </p:nvSpPr>
        <p:spPr>
          <a:xfrm>
            <a:off x="4826000" y="5030657"/>
            <a:ext cx="6749796"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4A6479"/>
                </a:solidFill>
                <a:latin typeface="Carlito" pitchFamily="34" charset="0"/>
                <a:ea typeface="Carlito" pitchFamily="34" charset="-122"/>
                <a:cs typeface="Carlito" pitchFamily="34" charset="-120"/>
              </a:rPr>
              <a:t>The first three, worth ₹2.52 L, land by day 90.</a:t>
            </a:r>
            <a:endParaRPr lang="en-US" sz="1500" dirty="0"/>
          </a:p>
        </p:txBody>
      </p:sp>
      <p:sp>
        <p:nvSpPr>
          <p:cNvPr id="11" name="Text 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7388"/>
                </a:solidFill>
                <a:latin typeface="Carlito" pitchFamily="34" charset="0"/>
                <a:ea typeface="Carlito" pitchFamily="34" charset="-122"/>
                <a:cs typeface="Carlito" pitchFamily="34" charset="-120"/>
              </a:rPr>
              <a:t>MARG cloud cost plan · 90 days</a:t>
            </a:r>
            <a:endParaRPr lang="en-US" sz="1200" dirty="0"/>
          </a:p>
        </p:txBody>
      </p:sp>
      <p:sp>
        <p:nvSpPr>
          <p:cNvPr id="12" name="Text 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7388"/>
                </a:solidFill>
                <a:latin typeface="Carlito" pitchFamily="34" charset="0"/>
                <a:ea typeface="Carlito" pitchFamily="34" charset="-122"/>
                <a:cs typeface="Carlit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35000"/>
            <a:ext cx="3168055" cy="375907"/>
          </a:xfrm>
          <a:prstGeom prst="roundRect">
            <a:avLst>
              <a:gd name="adj" fmla="val 10135"/>
            </a:avLst>
          </a:prstGeom>
          <a:solidFill>
            <a:srgbClr val="1F7AB8"/>
          </a:solidFill>
          <a:ln/>
        </p:spPr>
        <p:txBody>
          <a:bodyPr wrap="none" lIns="0" tIns="0" rIns="0" bIns="0" rtlCol="0" anchor="ctr">
            <a:normAutofit/>
          </a:bodyPr>
          <a:lstStyle/>
          <a:p>
            <a:pPr marL="0" indent="0" algn="ctr">
              <a:lnSpc>
                <a:spcPts val="1960"/>
              </a:lnSpc>
              <a:buNone/>
            </a:pPr>
            <a:r>
              <a:rPr lang="en-US" sz="1400" b="1" kern="0" spc="150" dirty="0">
                <a:solidFill>
                  <a:srgbClr val="FFFFFF"/>
                </a:solidFill>
                <a:latin typeface="Caladea" pitchFamily="18" charset="0"/>
                <a:ea typeface="Caladea" pitchFamily="18" charset="-122"/>
                <a:cs typeface="Caladea" pitchFamily="18" charset="-120"/>
              </a:rPr>
              <a:t>STEP 3 · BEFORE MORE MOVES</a:t>
            </a:r>
            <a:endParaRPr lang="en-US" sz="1400" dirty="0"/>
          </a:p>
        </p:txBody>
      </p:sp>
      <p:sp>
        <p:nvSpPr>
          <p:cNvPr id="3" name="Text 1"/>
          <p:cNvSpPr>
            <a:spLocks noGrp="1"/>
          </p:cNvSpPr>
          <p:nvPr>
            <p:ph type="title"/>
          </p:nvPr>
        </p:nvSpPr>
        <p:spPr>
          <a:xfrm>
            <a:off x="812800" y="1214109"/>
            <a:ext cx="10883392" cy="423664"/>
          </a:xfrm>
          <a:prstGeom prst="rect">
            <a:avLst/>
          </a:prstGeom>
          <a:noFill/>
          <a:ln/>
        </p:spPr>
        <p:txBody>
          <a:bodyPr wrap="square" lIns="0" tIns="0" rIns="0" bIns="0" rtlCol="0" anchor="t">
            <a:normAutofit/>
          </a:bodyPr>
          <a:lstStyle/>
          <a:p>
            <a:pPr marL="0" indent="0" algn="l">
              <a:lnSpc>
                <a:spcPts val="3136"/>
              </a:lnSpc>
              <a:buNone/>
            </a:pPr>
            <a:r>
              <a:rPr lang="en-US" sz="2800" b="1" i="0" dirty="0">
                <a:solidFill>
                  <a:srgbClr val="14324A"/>
                </a:solidFill>
                <a:latin typeface="Caladea" pitchFamily="18" charset="0"/>
                <a:ea typeface="Caladea" pitchFamily="18" charset="-122"/>
                <a:cs typeface="Caladea" pitchFamily="18" charset="-120"/>
              </a:rPr>
              <a:t>Three checks must clear before more workloads move</a:t>
            </a:r>
            <a:endParaRPr lang="en-US" sz="2800" dirty="0"/>
          </a:p>
        </p:txBody>
      </p:sp>
      <p:sp>
        <p:nvSpPr>
          <p:cNvPr id="4" name="Shape 2"/>
          <p:cNvSpPr/>
          <p:nvPr/>
        </p:nvSpPr>
        <p:spPr>
          <a:xfrm>
            <a:off x="812800" y="1815573"/>
            <a:ext cx="3386667" cy="3399036"/>
          </a:xfrm>
          <a:prstGeom prst="roundRect">
            <a:avLst>
              <a:gd name="adj" fmla="val 1500"/>
            </a:avLst>
          </a:prstGeom>
          <a:solidFill>
            <a:srgbClr val="E6F3FB"/>
          </a:solidFill>
          <a:ln/>
        </p:spPr>
        <p:txBody>
          <a:bodyPr/>
          <a:lstStyle/>
          <a:p>
            <a:endParaRPr lang="en-IN"/>
          </a:p>
        </p:txBody>
      </p:sp>
      <p:sp>
        <p:nvSpPr>
          <p:cNvPr id="5" name="Shape 3"/>
          <p:cNvSpPr/>
          <p:nvPr/>
        </p:nvSpPr>
        <p:spPr>
          <a:xfrm>
            <a:off x="812800" y="1815573"/>
            <a:ext cx="3386667" cy="3399036"/>
          </a:xfrm>
          <a:custGeom>
            <a:avLst/>
            <a:gdLst/>
            <a:ahLst/>
            <a:cxnLst/>
            <a:rect l="l" t="t" r="r" b="b"/>
            <a:pathLst>
              <a:path w="3386667" h="3399036">
                <a:moveTo>
                  <a:pt x="0" y="63500"/>
                </a:moveTo>
                <a:lnTo>
                  <a:pt x="0" y="50800"/>
                </a:lnTo>
                <a:arcTo wR="50800" hR="50800" stAng="10800000" swAng="5400000"/>
                <a:lnTo>
                  <a:pt x="3335867" y="0"/>
                </a:lnTo>
                <a:arcTo wR="50800" hR="50800" stAng="16200000" swAng="5400000"/>
                <a:lnTo>
                  <a:pt x="3386667" y="63500"/>
                </a:lnTo>
                <a:lnTo>
                  <a:pt x="0" y="63500"/>
                </a:lnTo>
                <a:close/>
              </a:path>
            </a:pathLst>
          </a:custGeom>
          <a:solidFill>
            <a:srgbClr val="16578A"/>
          </a:solidFill>
          <a:ln/>
        </p:spPr>
        <p:txBody>
          <a:bodyPr/>
          <a:lstStyle/>
          <a:p>
            <a:endParaRPr lang="en-IN"/>
          </a:p>
        </p:txBody>
      </p:sp>
      <p:sp>
        <p:nvSpPr>
          <p:cNvPr id="6" name="Text 4"/>
          <p:cNvSpPr/>
          <p:nvPr/>
        </p:nvSpPr>
        <p:spPr>
          <a:xfrm>
            <a:off x="1066800" y="2133073"/>
            <a:ext cx="2965027" cy="274307"/>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4A6479"/>
                </a:solidFill>
                <a:latin typeface="Carlito" pitchFamily="34" charset="0"/>
                <a:ea typeface="Carlito" pitchFamily="34" charset="-122"/>
                <a:cs typeface="Carlito" pitchFamily="34" charset="-120"/>
              </a:rPr>
              <a:t>COMPLIANCE FIRST</a:t>
            </a:r>
            <a:endParaRPr lang="en-US" sz="1400" dirty="0"/>
          </a:p>
        </p:txBody>
      </p:sp>
      <p:sp>
        <p:nvSpPr>
          <p:cNvPr id="7" name="Text 5"/>
          <p:cNvSpPr/>
          <p:nvPr/>
        </p:nvSpPr>
        <p:spPr>
          <a:xfrm>
            <a:off x="1066800" y="2445482"/>
            <a:ext cx="2965027" cy="584200"/>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14324A"/>
                </a:solidFill>
                <a:latin typeface="Caladea" pitchFamily="18" charset="0"/>
                <a:ea typeface="Caladea" pitchFamily="18" charset="-122"/>
                <a:cs typeface="Caladea" pitchFamily="18" charset="-120"/>
              </a:rPr>
              <a:t>₹7.5K</a:t>
            </a:r>
            <a:endParaRPr lang="en-US" sz="4000" dirty="0"/>
          </a:p>
        </p:txBody>
      </p:sp>
      <p:sp>
        <p:nvSpPr>
          <p:cNvPr id="8" name="Text 6"/>
          <p:cNvSpPr/>
          <p:nvPr/>
        </p:nvSpPr>
        <p:spPr>
          <a:xfrm>
            <a:off x="1066800" y="3067782"/>
            <a:ext cx="2965027"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4A6479"/>
                </a:solidFill>
                <a:latin typeface="Carlito" pitchFamily="34" charset="0"/>
                <a:ea typeface="Carlito" pitchFamily="34" charset="-122"/>
                <a:cs typeface="Carlito" pitchFamily="34" charset="-120"/>
              </a:rPr>
              <a:t>a month at stake, 1 workload</a:t>
            </a:r>
            <a:endParaRPr lang="en-US" sz="1500" dirty="0"/>
          </a:p>
        </p:txBody>
      </p:sp>
      <p:sp>
        <p:nvSpPr>
          <p:cNvPr id="9" name="Text 7"/>
          <p:cNvSpPr/>
          <p:nvPr/>
        </p:nvSpPr>
        <p:spPr>
          <a:xfrm>
            <a:off x="1066800" y="3378932"/>
            <a:ext cx="2965027" cy="608277"/>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4324A"/>
                </a:solidFill>
                <a:latin typeface="Carlito" pitchFamily="34" charset="0"/>
                <a:ea typeface="Carlito" pitchFamily="34" charset="-122"/>
                <a:cs typeface="Carlito" pitchFamily="34" charset="-120"/>
              </a:rPr>
              <a:t>Health data (ABHA) moves only after Legal and Security approve.</a:t>
            </a:r>
            <a:endParaRPr lang="en-US" sz="1700" dirty="0"/>
          </a:p>
        </p:txBody>
      </p:sp>
      <p:sp>
        <p:nvSpPr>
          <p:cNvPr id="10" name="Text 8"/>
          <p:cNvSpPr/>
          <p:nvPr/>
        </p:nvSpPr>
        <p:spPr>
          <a:xfrm>
            <a:off x="1073150" y="4634247"/>
            <a:ext cx="2014207" cy="320014"/>
          </a:xfrm>
          <a:prstGeom prst="roundRect">
            <a:avLst>
              <a:gd name="adj" fmla="val 50000"/>
            </a:avLst>
          </a:prstGeom>
          <a:noFill/>
          <a:ln w="12700">
            <a:solidFill>
              <a:srgbClr val="16578A"/>
            </a:solidFill>
            <a:prstDash val="solid"/>
          </a:ln>
        </p:spPr>
        <p:txBody>
          <a:bodyPr wrap="none" lIns="0" tIns="0" rIns="0" bIns="0" rtlCol="0" anchor="ctr">
            <a:normAutofit/>
          </a:bodyPr>
          <a:lstStyle/>
          <a:p>
            <a:pPr marL="0" indent="0" algn="ctr">
              <a:lnSpc>
                <a:spcPts val="1820"/>
              </a:lnSpc>
              <a:buNone/>
            </a:pPr>
            <a:r>
              <a:rPr lang="en-US" sz="1300" b="1" dirty="0">
                <a:solidFill>
                  <a:srgbClr val="14324A"/>
                </a:solidFill>
                <a:latin typeface="Carlito" pitchFamily="34" charset="0"/>
                <a:ea typeface="Carlito" pitchFamily="34" charset="-122"/>
                <a:cs typeface="Carlito" pitchFamily="34" charset="-120"/>
              </a:rPr>
              <a:t>Legal + Security · High risk</a:t>
            </a:r>
            <a:endParaRPr lang="en-US" sz="1300" dirty="0"/>
          </a:p>
        </p:txBody>
      </p:sp>
      <p:sp>
        <p:nvSpPr>
          <p:cNvPr id="11" name="Shape 9"/>
          <p:cNvSpPr/>
          <p:nvPr/>
        </p:nvSpPr>
        <p:spPr>
          <a:xfrm>
            <a:off x="4402667" y="1815573"/>
            <a:ext cx="3386667" cy="3399036"/>
          </a:xfrm>
          <a:prstGeom prst="roundRect">
            <a:avLst>
              <a:gd name="adj" fmla="val 1500"/>
            </a:avLst>
          </a:prstGeom>
          <a:solidFill>
            <a:srgbClr val="E6F3FB"/>
          </a:solidFill>
          <a:ln/>
        </p:spPr>
        <p:txBody>
          <a:bodyPr/>
          <a:lstStyle/>
          <a:p>
            <a:endParaRPr lang="en-IN"/>
          </a:p>
        </p:txBody>
      </p:sp>
      <p:sp>
        <p:nvSpPr>
          <p:cNvPr id="12" name="Shape 10"/>
          <p:cNvSpPr/>
          <p:nvPr/>
        </p:nvSpPr>
        <p:spPr>
          <a:xfrm>
            <a:off x="4402667" y="1815573"/>
            <a:ext cx="3386667" cy="3399036"/>
          </a:xfrm>
          <a:custGeom>
            <a:avLst/>
            <a:gdLst/>
            <a:ahLst/>
            <a:cxnLst/>
            <a:rect l="l" t="t" r="r" b="b"/>
            <a:pathLst>
              <a:path w="3386667" h="3399036">
                <a:moveTo>
                  <a:pt x="0" y="63500"/>
                </a:moveTo>
                <a:lnTo>
                  <a:pt x="0" y="50800"/>
                </a:lnTo>
                <a:arcTo wR="50800" hR="50800" stAng="10800000" swAng="5400000"/>
                <a:lnTo>
                  <a:pt x="3335867" y="0"/>
                </a:lnTo>
                <a:arcTo wR="50800" hR="50800" stAng="16200000" swAng="5400000"/>
                <a:lnTo>
                  <a:pt x="3386667" y="63500"/>
                </a:lnTo>
                <a:lnTo>
                  <a:pt x="0" y="63500"/>
                </a:lnTo>
                <a:close/>
              </a:path>
            </a:pathLst>
          </a:custGeom>
          <a:solidFill>
            <a:srgbClr val="7CC0EA"/>
          </a:solidFill>
          <a:ln/>
        </p:spPr>
        <p:txBody>
          <a:bodyPr/>
          <a:lstStyle/>
          <a:p>
            <a:endParaRPr lang="en-IN"/>
          </a:p>
        </p:txBody>
      </p:sp>
      <p:sp>
        <p:nvSpPr>
          <p:cNvPr id="13" name="Text 11"/>
          <p:cNvSpPr/>
          <p:nvPr/>
        </p:nvSpPr>
        <p:spPr>
          <a:xfrm>
            <a:off x="4656667" y="2133073"/>
            <a:ext cx="2965027" cy="274307"/>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4A6479"/>
                </a:solidFill>
                <a:latin typeface="Carlito" pitchFamily="34" charset="0"/>
                <a:ea typeface="Carlito" pitchFamily="34" charset="-122"/>
                <a:cs typeface="Carlito" pitchFamily="34" charset="-120"/>
              </a:rPr>
              <a:t>RE-PLATFORM FIRST</a:t>
            </a:r>
            <a:endParaRPr lang="en-US" sz="1400" dirty="0"/>
          </a:p>
        </p:txBody>
      </p:sp>
      <p:sp>
        <p:nvSpPr>
          <p:cNvPr id="14" name="Text 12"/>
          <p:cNvSpPr/>
          <p:nvPr/>
        </p:nvSpPr>
        <p:spPr>
          <a:xfrm>
            <a:off x="4656667" y="2445482"/>
            <a:ext cx="2965027" cy="584200"/>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14324A"/>
                </a:solidFill>
                <a:latin typeface="Caladea" pitchFamily="18" charset="0"/>
                <a:ea typeface="Caladea" pitchFamily="18" charset="-122"/>
                <a:cs typeface="Caladea" pitchFamily="18" charset="-120"/>
              </a:rPr>
              <a:t>₹1.84 L</a:t>
            </a:r>
            <a:endParaRPr lang="en-US" sz="4000" dirty="0"/>
          </a:p>
        </p:txBody>
      </p:sp>
      <p:sp>
        <p:nvSpPr>
          <p:cNvPr id="15" name="Text 13"/>
          <p:cNvSpPr/>
          <p:nvPr/>
        </p:nvSpPr>
        <p:spPr>
          <a:xfrm>
            <a:off x="4656667" y="3067782"/>
            <a:ext cx="2965027"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4A6479"/>
                </a:solidFill>
                <a:latin typeface="Carlito" pitchFamily="34" charset="0"/>
                <a:ea typeface="Carlito" pitchFamily="34" charset="-122"/>
                <a:cs typeface="Carlito" pitchFamily="34" charset="-120"/>
              </a:rPr>
              <a:t>a month on Azure SQL and App Service, 7 workloads</a:t>
            </a:r>
            <a:endParaRPr lang="en-US" sz="1500" dirty="0"/>
          </a:p>
        </p:txBody>
      </p:sp>
      <p:sp>
        <p:nvSpPr>
          <p:cNvPr id="16" name="Text 14"/>
          <p:cNvSpPr/>
          <p:nvPr/>
        </p:nvSpPr>
        <p:spPr>
          <a:xfrm>
            <a:off x="4656667" y="3626582"/>
            <a:ext cx="2965027" cy="899716"/>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4324A"/>
                </a:solidFill>
                <a:latin typeface="Carlito" pitchFamily="34" charset="0"/>
                <a:ea typeface="Carlito" pitchFamily="34" charset="-122"/>
                <a:cs typeface="Carlito" pitchFamily="34" charset="-120"/>
              </a:rPr>
              <a:t>Rebuild as servers with SQL licences first. Largest is MargBooks-VM, ₹1.27 L.</a:t>
            </a:r>
            <a:endParaRPr lang="en-US" sz="1700" dirty="0"/>
          </a:p>
        </p:txBody>
      </p:sp>
      <p:sp>
        <p:nvSpPr>
          <p:cNvPr id="17" name="Text 15"/>
          <p:cNvSpPr/>
          <p:nvPr/>
        </p:nvSpPr>
        <p:spPr>
          <a:xfrm>
            <a:off x="4663017" y="4634247"/>
            <a:ext cx="2493500" cy="320014"/>
          </a:xfrm>
          <a:prstGeom prst="roundRect">
            <a:avLst>
              <a:gd name="adj" fmla="val 50000"/>
            </a:avLst>
          </a:prstGeom>
          <a:noFill/>
          <a:ln w="12700">
            <a:solidFill>
              <a:srgbClr val="7CC0EA"/>
            </a:solidFill>
            <a:prstDash val="solid"/>
          </a:ln>
        </p:spPr>
        <p:txBody>
          <a:bodyPr wrap="none" lIns="0" tIns="0" rIns="0" bIns="0" rtlCol="0" anchor="ctr">
            <a:normAutofit/>
          </a:bodyPr>
          <a:lstStyle/>
          <a:p>
            <a:pPr marL="0" indent="0" algn="ctr">
              <a:lnSpc>
                <a:spcPts val="1820"/>
              </a:lnSpc>
              <a:buNone/>
            </a:pPr>
            <a:r>
              <a:rPr lang="en-US" sz="1300" b="1" dirty="0">
                <a:solidFill>
                  <a:srgbClr val="4A6479"/>
                </a:solidFill>
                <a:latin typeface="Carlito" pitchFamily="34" charset="0"/>
                <a:ea typeface="Carlito" pitchFamily="34" charset="-122"/>
                <a:cs typeface="Carlito" pitchFamily="34" charset="-120"/>
              </a:rPr>
              <a:t>App owners + DBA · Medium risk</a:t>
            </a:r>
            <a:endParaRPr lang="en-US" sz="1300" dirty="0"/>
          </a:p>
        </p:txBody>
      </p:sp>
      <p:sp>
        <p:nvSpPr>
          <p:cNvPr id="18" name="Shape 16"/>
          <p:cNvSpPr/>
          <p:nvPr/>
        </p:nvSpPr>
        <p:spPr>
          <a:xfrm>
            <a:off x="7992534" y="1815573"/>
            <a:ext cx="3386667" cy="3399036"/>
          </a:xfrm>
          <a:prstGeom prst="roundRect">
            <a:avLst>
              <a:gd name="adj" fmla="val 1500"/>
            </a:avLst>
          </a:prstGeom>
          <a:solidFill>
            <a:srgbClr val="E6F3FB"/>
          </a:solidFill>
          <a:ln/>
        </p:spPr>
        <p:txBody>
          <a:bodyPr/>
          <a:lstStyle/>
          <a:p>
            <a:endParaRPr lang="en-IN"/>
          </a:p>
        </p:txBody>
      </p:sp>
      <p:sp>
        <p:nvSpPr>
          <p:cNvPr id="19" name="Shape 17"/>
          <p:cNvSpPr/>
          <p:nvPr/>
        </p:nvSpPr>
        <p:spPr>
          <a:xfrm>
            <a:off x="7992534" y="1815573"/>
            <a:ext cx="3386667" cy="3399036"/>
          </a:xfrm>
          <a:custGeom>
            <a:avLst/>
            <a:gdLst/>
            <a:ahLst/>
            <a:cxnLst/>
            <a:rect l="l" t="t" r="r" b="b"/>
            <a:pathLst>
              <a:path w="3386667" h="3399036">
                <a:moveTo>
                  <a:pt x="0" y="63500"/>
                </a:moveTo>
                <a:lnTo>
                  <a:pt x="0" y="50800"/>
                </a:lnTo>
                <a:arcTo wR="50800" hR="50800" stAng="10800000" swAng="5400000"/>
                <a:lnTo>
                  <a:pt x="3335867" y="0"/>
                </a:lnTo>
                <a:arcTo wR="50800" hR="50800" stAng="16200000" swAng="5400000"/>
                <a:lnTo>
                  <a:pt x="3386667" y="63500"/>
                </a:lnTo>
                <a:lnTo>
                  <a:pt x="0" y="63500"/>
                </a:lnTo>
                <a:close/>
              </a:path>
            </a:pathLst>
          </a:custGeom>
          <a:solidFill>
            <a:srgbClr val="A4D3F0"/>
          </a:solidFill>
          <a:ln/>
        </p:spPr>
        <p:txBody>
          <a:bodyPr/>
          <a:lstStyle/>
          <a:p>
            <a:endParaRPr lang="en-IN"/>
          </a:p>
        </p:txBody>
      </p:sp>
      <p:sp>
        <p:nvSpPr>
          <p:cNvPr id="20" name="Text 18"/>
          <p:cNvSpPr/>
          <p:nvPr/>
        </p:nvSpPr>
        <p:spPr>
          <a:xfrm>
            <a:off x="8246534" y="2133073"/>
            <a:ext cx="2965027" cy="274307"/>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4A6479"/>
                </a:solidFill>
                <a:latin typeface="Carlito" pitchFamily="34" charset="0"/>
                <a:ea typeface="Carlito" pitchFamily="34" charset="-122"/>
                <a:cs typeface="Carlito" pitchFamily="34" charset="-120"/>
              </a:rPr>
              <a:t>SERVER SIZES FIRST</a:t>
            </a:r>
            <a:endParaRPr lang="en-US" sz="1400" dirty="0"/>
          </a:p>
        </p:txBody>
      </p:sp>
      <p:sp>
        <p:nvSpPr>
          <p:cNvPr id="21" name="Text 19"/>
          <p:cNvSpPr/>
          <p:nvPr/>
        </p:nvSpPr>
        <p:spPr>
          <a:xfrm>
            <a:off x="8246534" y="2445482"/>
            <a:ext cx="2965027" cy="584200"/>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14324A"/>
                </a:solidFill>
                <a:latin typeface="Caladea" pitchFamily="18" charset="0"/>
                <a:ea typeface="Caladea" pitchFamily="18" charset="-122"/>
                <a:cs typeface="Caladea" pitchFamily="18" charset="-120"/>
              </a:rPr>
              <a:t>₹7.18 L</a:t>
            </a:r>
            <a:endParaRPr lang="en-US" sz="4000" dirty="0"/>
          </a:p>
        </p:txBody>
      </p:sp>
      <p:sp>
        <p:nvSpPr>
          <p:cNvPr id="22" name="Text 20"/>
          <p:cNvSpPr/>
          <p:nvPr/>
        </p:nvSpPr>
        <p:spPr>
          <a:xfrm>
            <a:off x="8246534" y="3067782"/>
            <a:ext cx="2965027"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4A6479"/>
                </a:solidFill>
                <a:latin typeface="Carlito" pitchFamily="34" charset="0"/>
                <a:ea typeface="Carlito" pitchFamily="34" charset="-122"/>
                <a:cs typeface="Carlito" pitchFamily="34" charset="-120"/>
              </a:rPr>
              <a:t>a month on Azure, 7 workloads not in Zabbix</a:t>
            </a:r>
            <a:endParaRPr lang="en-US" sz="1500" dirty="0"/>
          </a:p>
        </p:txBody>
      </p:sp>
      <p:sp>
        <p:nvSpPr>
          <p:cNvPr id="23" name="Text 21"/>
          <p:cNvSpPr/>
          <p:nvPr/>
        </p:nvSpPr>
        <p:spPr>
          <a:xfrm>
            <a:off x="8246534" y="3626582"/>
            <a:ext cx="2965027" cy="899716"/>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4324A"/>
                </a:solidFill>
                <a:latin typeface="Carlito" pitchFamily="34" charset="0"/>
                <a:ea typeface="Carlito" pitchFamily="34" charset="-122"/>
                <a:cs typeface="Carlito" pitchFamily="34" charset="-120"/>
              </a:rPr>
              <a:t>Sizes are unknown, so they cannot be priced. Largest is VM-MargME9, ₹2.98 L.</a:t>
            </a:r>
            <a:endParaRPr lang="en-US" sz="1700" dirty="0"/>
          </a:p>
        </p:txBody>
      </p:sp>
      <p:sp>
        <p:nvSpPr>
          <p:cNvPr id="24" name="Text 22"/>
          <p:cNvSpPr/>
          <p:nvPr/>
        </p:nvSpPr>
        <p:spPr>
          <a:xfrm>
            <a:off x="8252884" y="4634247"/>
            <a:ext cx="1450314" cy="320014"/>
          </a:xfrm>
          <a:prstGeom prst="roundRect">
            <a:avLst>
              <a:gd name="adj" fmla="val 50000"/>
            </a:avLst>
          </a:prstGeom>
          <a:noFill/>
          <a:ln w="12700">
            <a:solidFill>
              <a:srgbClr val="A4D3F0"/>
            </a:solidFill>
            <a:prstDash val="solid"/>
          </a:ln>
        </p:spPr>
        <p:txBody>
          <a:bodyPr wrap="none" lIns="0" tIns="0" rIns="0" bIns="0" rtlCol="0" anchor="ctr">
            <a:normAutofit/>
          </a:bodyPr>
          <a:lstStyle/>
          <a:p>
            <a:pPr marL="0" indent="0" algn="ctr">
              <a:lnSpc>
                <a:spcPts val="1820"/>
              </a:lnSpc>
              <a:buNone/>
            </a:pPr>
            <a:r>
              <a:rPr lang="en-US" sz="1300" b="1" dirty="0">
                <a:solidFill>
                  <a:srgbClr val="1F5F8F"/>
                </a:solidFill>
                <a:latin typeface="Carlito" pitchFamily="34" charset="0"/>
                <a:ea typeface="Carlito" pitchFamily="34" charset="-122"/>
                <a:cs typeface="Carlito" pitchFamily="34" charset="-120"/>
              </a:rPr>
              <a:t>DevOps · Low risk</a:t>
            </a:r>
            <a:endParaRPr lang="en-US" sz="1300" dirty="0"/>
          </a:p>
        </p:txBody>
      </p:sp>
      <p:sp>
        <p:nvSpPr>
          <p:cNvPr id="25" name="Text 2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7388"/>
                </a:solidFill>
                <a:latin typeface="Carlito" pitchFamily="34" charset="0"/>
                <a:ea typeface="Carlito" pitchFamily="34" charset="-122"/>
                <a:cs typeface="Carlito" pitchFamily="34" charset="-120"/>
              </a:rPr>
              <a:t>MARG cloud cost plan · 90 days</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7388"/>
                </a:solidFill>
                <a:latin typeface="Carlito" pitchFamily="34" charset="0"/>
                <a:ea typeface="Carlito" pitchFamily="34" charset="-122"/>
                <a:cs typeface="Carlit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35000"/>
            <a:ext cx="1535972" cy="375907"/>
          </a:xfrm>
          <a:prstGeom prst="roundRect">
            <a:avLst>
              <a:gd name="adj" fmla="val 10135"/>
            </a:avLst>
          </a:prstGeom>
          <a:solidFill>
            <a:srgbClr val="1F7AB8"/>
          </a:solidFill>
          <a:ln/>
        </p:spPr>
        <p:txBody>
          <a:bodyPr wrap="none" lIns="0" tIns="0" rIns="0" bIns="0" rtlCol="0" anchor="ctr">
            <a:normAutofit/>
          </a:bodyPr>
          <a:lstStyle/>
          <a:p>
            <a:pPr marL="0" indent="0" algn="ctr">
              <a:lnSpc>
                <a:spcPts val="1960"/>
              </a:lnSpc>
              <a:buNone/>
            </a:pPr>
            <a:r>
              <a:rPr lang="en-US" sz="1400" b="1" kern="0" spc="150" dirty="0">
                <a:solidFill>
                  <a:srgbClr val="FFFFFF"/>
                </a:solidFill>
                <a:latin typeface="Caladea" pitchFamily="18" charset="0"/>
                <a:ea typeface="Caladea" pitchFamily="18" charset="-122"/>
                <a:cs typeface="Caladea" pitchFamily="18" charset="-120"/>
              </a:rPr>
              <a:t>SAFEGUARDS</a:t>
            </a:r>
            <a:endParaRPr lang="en-US" sz="1400" dirty="0"/>
          </a:p>
        </p:txBody>
      </p:sp>
      <p:sp>
        <p:nvSpPr>
          <p:cNvPr id="3" name="Text 1"/>
          <p:cNvSpPr>
            <a:spLocks noGrp="1"/>
          </p:cNvSpPr>
          <p:nvPr>
            <p:ph type="title"/>
          </p:nvPr>
        </p:nvSpPr>
        <p:spPr>
          <a:xfrm>
            <a:off x="812800" y="1214109"/>
            <a:ext cx="10883392" cy="423664"/>
          </a:xfrm>
          <a:prstGeom prst="rect">
            <a:avLst/>
          </a:prstGeom>
          <a:noFill/>
          <a:ln/>
        </p:spPr>
        <p:txBody>
          <a:bodyPr wrap="square" lIns="0" tIns="0" rIns="0" bIns="0" rtlCol="0" anchor="t">
            <a:normAutofit/>
          </a:bodyPr>
          <a:lstStyle/>
          <a:p>
            <a:pPr marL="0" indent="0" algn="l">
              <a:lnSpc>
                <a:spcPts val="3136"/>
              </a:lnSpc>
              <a:buNone/>
            </a:pPr>
            <a:r>
              <a:rPr lang="en-US" sz="2800" b="1" i="0" dirty="0">
                <a:solidFill>
                  <a:srgbClr val="14324A"/>
                </a:solidFill>
                <a:latin typeface="Caladea" pitchFamily="18" charset="0"/>
                <a:ea typeface="Caladea" pitchFamily="18" charset="-122"/>
                <a:cs typeface="Caladea" pitchFamily="18" charset="-120"/>
              </a:rPr>
              <a:t>Every action has a check and a way back</a:t>
            </a:r>
            <a:endParaRPr lang="en-US" sz="2800" dirty="0"/>
          </a:p>
        </p:txBody>
      </p:sp>
      <p:sp>
        <p:nvSpPr>
          <p:cNvPr id="4" name="Shape 2"/>
          <p:cNvSpPr/>
          <p:nvPr/>
        </p:nvSpPr>
        <p:spPr>
          <a:xfrm>
            <a:off x="812800" y="1815573"/>
            <a:ext cx="5181600" cy="1395677"/>
          </a:xfrm>
          <a:prstGeom prst="roundRect">
            <a:avLst>
              <a:gd name="adj" fmla="val 3640"/>
            </a:avLst>
          </a:prstGeom>
          <a:solidFill>
            <a:srgbClr val="E6F3FB"/>
          </a:solidFill>
          <a:ln/>
        </p:spPr>
        <p:txBody>
          <a:bodyPr/>
          <a:lstStyle/>
          <a:p>
            <a:endParaRPr lang="en-IN"/>
          </a:p>
        </p:txBody>
      </p:sp>
      <p:sp>
        <p:nvSpPr>
          <p:cNvPr id="5" name="Shape 3"/>
          <p:cNvSpPr/>
          <p:nvPr/>
        </p:nvSpPr>
        <p:spPr>
          <a:xfrm>
            <a:off x="812800" y="1815573"/>
            <a:ext cx="5181600" cy="1395677"/>
          </a:xfrm>
          <a:custGeom>
            <a:avLst/>
            <a:gdLst/>
            <a:ahLst/>
            <a:cxnLst/>
            <a:rect l="l" t="t" r="r" b="b"/>
            <a:pathLst>
              <a:path w="5181600" h="1395677">
                <a:moveTo>
                  <a:pt x="63500" y="1395677"/>
                </a:moveTo>
                <a:lnTo>
                  <a:pt x="50800" y="1395677"/>
                </a:lnTo>
                <a:arcTo wR="50800" hR="50800" stAng="5400000" swAng="5400000"/>
                <a:lnTo>
                  <a:pt x="0" y="50800"/>
                </a:lnTo>
                <a:arcTo wR="50800" hR="50800" stAng="10800000" swAng="5400000"/>
                <a:lnTo>
                  <a:pt x="63500" y="0"/>
                </a:lnTo>
                <a:lnTo>
                  <a:pt x="63500" y="1395677"/>
                </a:lnTo>
                <a:close/>
              </a:path>
            </a:pathLst>
          </a:custGeom>
          <a:solidFill>
            <a:srgbClr val="1F7AB8"/>
          </a:solidFill>
          <a:ln/>
        </p:spPr>
        <p:txBody>
          <a:bodyPr/>
          <a:lstStyle/>
          <a:p>
            <a:endParaRPr lang="en-IN"/>
          </a:p>
        </p:txBody>
      </p:sp>
      <p:sp>
        <p:nvSpPr>
          <p:cNvPr id="6" name="Text 4"/>
          <p:cNvSpPr/>
          <p:nvPr/>
        </p:nvSpPr>
        <p:spPr>
          <a:xfrm>
            <a:off x="1130300" y="2044173"/>
            <a:ext cx="4748403"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4324A"/>
                </a:solidFill>
                <a:latin typeface="Caladea" pitchFamily="18" charset="0"/>
                <a:ea typeface="Caladea" pitchFamily="18" charset="-122"/>
                <a:cs typeface="Caladea" pitchFamily="18" charset="-120"/>
              </a:rPr>
              <a:t>Stop, then delete</a:t>
            </a:r>
            <a:endParaRPr lang="en-US" sz="2000" dirty="0"/>
          </a:p>
        </p:txBody>
      </p:sp>
      <p:sp>
        <p:nvSpPr>
          <p:cNvPr id="7" name="Text 5"/>
          <p:cNvSpPr/>
          <p:nvPr/>
        </p:nvSpPr>
        <p:spPr>
          <a:xfrm>
            <a:off x="1130300" y="2399773"/>
            <a:ext cx="4748403" cy="608277"/>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4324A"/>
                </a:solidFill>
                <a:latin typeface="Carlito" pitchFamily="34" charset="0"/>
                <a:ea typeface="Carlito" pitchFamily="34" charset="-122"/>
                <a:cs typeface="Carlito" pitchFamily="34" charset="-120"/>
              </a:rPr>
              <a:t>Servers are snapshotted and stopped, then kept for two weeks before removal.</a:t>
            </a:r>
            <a:endParaRPr lang="en-US" sz="1700" dirty="0"/>
          </a:p>
        </p:txBody>
      </p:sp>
      <p:sp>
        <p:nvSpPr>
          <p:cNvPr id="8" name="Shape 6"/>
          <p:cNvSpPr/>
          <p:nvPr/>
        </p:nvSpPr>
        <p:spPr>
          <a:xfrm>
            <a:off x="6197600" y="1815573"/>
            <a:ext cx="5181600" cy="1395677"/>
          </a:xfrm>
          <a:prstGeom prst="roundRect">
            <a:avLst>
              <a:gd name="adj" fmla="val 3640"/>
            </a:avLst>
          </a:prstGeom>
          <a:solidFill>
            <a:srgbClr val="E6F3FB"/>
          </a:solidFill>
          <a:ln/>
        </p:spPr>
        <p:txBody>
          <a:bodyPr/>
          <a:lstStyle/>
          <a:p>
            <a:endParaRPr lang="en-IN"/>
          </a:p>
        </p:txBody>
      </p:sp>
      <p:sp>
        <p:nvSpPr>
          <p:cNvPr id="9" name="Shape 7"/>
          <p:cNvSpPr/>
          <p:nvPr/>
        </p:nvSpPr>
        <p:spPr>
          <a:xfrm>
            <a:off x="6197600" y="1815573"/>
            <a:ext cx="5181600" cy="1395677"/>
          </a:xfrm>
          <a:custGeom>
            <a:avLst/>
            <a:gdLst/>
            <a:ahLst/>
            <a:cxnLst/>
            <a:rect l="l" t="t" r="r" b="b"/>
            <a:pathLst>
              <a:path w="5181600" h="1395677">
                <a:moveTo>
                  <a:pt x="63500" y="1395677"/>
                </a:moveTo>
                <a:lnTo>
                  <a:pt x="50800" y="1395677"/>
                </a:lnTo>
                <a:arcTo wR="50800" hR="50800" stAng="5400000" swAng="5400000"/>
                <a:lnTo>
                  <a:pt x="0" y="50800"/>
                </a:lnTo>
                <a:arcTo wR="50800" hR="50800" stAng="10800000" swAng="5400000"/>
                <a:lnTo>
                  <a:pt x="63500" y="0"/>
                </a:lnTo>
                <a:lnTo>
                  <a:pt x="63500" y="1395677"/>
                </a:lnTo>
                <a:close/>
              </a:path>
            </a:pathLst>
          </a:custGeom>
          <a:solidFill>
            <a:srgbClr val="1F7AB8"/>
          </a:solidFill>
          <a:ln/>
        </p:spPr>
        <p:txBody>
          <a:bodyPr/>
          <a:lstStyle/>
          <a:p>
            <a:endParaRPr lang="en-IN"/>
          </a:p>
        </p:txBody>
      </p:sp>
      <p:sp>
        <p:nvSpPr>
          <p:cNvPr id="10" name="Text 8"/>
          <p:cNvSpPr/>
          <p:nvPr/>
        </p:nvSpPr>
        <p:spPr>
          <a:xfrm>
            <a:off x="6515100" y="2044173"/>
            <a:ext cx="4748403"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4324A"/>
                </a:solidFill>
                <a:latin typeface="Caladea" pitchFamily="18" charset="0"/>
                <a:ea typeface="Caladea" pitchFamily="18" charset="-122"/>
                <a:cs typeface="Caladea" pitchFamily="18" charset="-120"/>
              </a:rPr>
              <a:t>Fix before shrinking</a:t>
            </a:r>
            <a:endParaRPr lang="en-US" sz="2000" dirty="0"/>
          </a:p>
        </p:txBody>
      </p:sp>
      <p:sp>
        <p:nvSpPr>
          <p:cNvPr id="11" name="Text 9"/>
          <p:cNvSpPr/>
          <p:nvPr/>
        </p:nvSpPr>
        <p:spPr>
          <a:xfrm>
            <a:off x="6515100" y="2399773"/>
            <a:ext cx="4748403" cy="608277"/>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4324A"/>
                </a:solidFill>
                <a:latin typeface="Carlito" pitchFamily="34" charset="0"/>
                <a:ea typeface="Carlito" pitchFamily="34" charset="-122"/>
                <a:cs typeface="Carlito" pitchFamily="34" charset="-120"/>
              </a:rPr>
              <a:t>The 19 servers short of capacity are fixed first and are never shrunk.</a:t>
            </a:r>
            <a:endParaRPr lang="en-US" sz="1700" dirty="0"/>
          </a:p>
        </p:txBody>
      </p:sp>
      <p:sp>
        <p:nvSpPr>
          <p:cNvPr id="12" name="Shape 10"/>
          <p:cNvSpPr/>
          <p:nvPr/>
        </p:nvSpPr>
        <p:spPr>
          <a:xfrm>
            <a:off x="812800" y="3414452"/>
            <a:ext cx="5181600" cy="1395677"/>
          </a:xfrm>
          <a:prstGeom prst="roundRect">
            <a:avLst>
              <a:gd name="adj" fmla="val 3640"/>
            </a:avLst>
          </a:prstGeom>
          <a:solidFill>
            <a:srgbClr val="E6F3FB"/>
          </a:solidFill>
          <a:ln/>
        </p:spPr>
        <p:txBody>
          <a:bodyPr/>
          <a:lstStyle/>
          <a:p>
            <a:endParaRPr lang="en-IN"/>
          </a:p>
        </p:txBody>
      </p:sp>
      <p:sp>
        <p:nvSpPr>
          <p:cNvPr id="13" name="Shape 11"/>
          <p:cNvSpPr/>
          <p:nvPr/>
        </p:nvSpPr>
        <p:spPr>
          <a:xfrm>
            <a:off x="812800" y="3414452"/>
            <a:ext cx="5181600" cy="1395677"/>
          </a:xfrm>
          <a:custGeom>
            <a:avLst/>
            <a:gdLst/>
            <a:ahLst/>
            <a:cxnLst/>
            <a:rect l="l" t="t" r="r" b="b"/>
            <a:pathLst>
              <a:path w="5181600" h="1395677">
                <a:moveTo>
                  <a:pt x="63500" y="1395677"/>
                </a:moveTo>
                <a:lnTo>
                  <a:pt x="50800" y="1395677"/>
                </a:lnTo>
                <a:arcTo wR="50800" hR="50800" stAng="5400000" swAng="5400000"/>
                <a:lnTo>
                  <a:pt x="0" y="50800"/>
                </a:lnTo>
                <a:arcTo wR="50800" hR="50800" stAng="10800000" swAng="5400000"/>
                <a:lnTo>
                  <a:pt x="63500" y="0"/>
                </a:lnTo>
                <a:lnTo>
                  <a:pt x="63500" y="1395677"/>
                </a:lnTo>
                <a:close/>
              </a:path>
            </a:pathLst>
          </a:custGeom>
          <a:solidFill>
            <a:srgbClr val="1F7AB8"/>
          </a:solidFill>
          <a:ln/>
        </p:spPr>
        <p:txBody>
          <a:bodyPr/>
          <a:lstStyle/>
          <a:p>
            <a:endParaRPr lang="en-IN"/>
          </a:p>
        </p:txBody>
      </p:sp>
      <p:sp>
        <p:nvSpPr>
          <p:cNvPr id="14" name="Text 12"/>
          <p:cNvSpPr/>
          <p:nvPr/>
        </p:nvSpPr>
        <p:spPr>
          <a:xfrm>
            <a:off x="1130300" y="3643052"/>
            <a:ext cx="4748403"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4324A"/>
                </a:solidFill>
                <a:latin typeface="Caladea" pitchFamily="18" charset="0"/>
                <a:ea typeface="Caladea" pitchFamily="18" charset="-122"/>
                <a:cs typeface="Caladea" pitchFamily="18" charset="-120"/>
              </a:rPr>
              <a:t>One change at a time</a:t>
            </a:r>
            <a:endParaRPr lang="en-US" sz="2000" dirty="0"/>
          </a:p>
        </p:txBody>
      </p:sp>
      <p:sp>
        <p:nvSpPr>
          <p:cNvPr id="15" name="Text 13"/>
          <p:cNvSpPr/>
          <p:nvPr/>
        </p:nvSpPr>
        <p:spPr>
          <a:xfrm>
            <a:off x="1130300" y="3998652"/>
            <a:ext cx="4748403" cy="608277"/>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4324A"/>
                </a:solidFill>
                <a:latin typeface="Carlito" pitchFamily="34" charset="0"/>
                <a:ea typeface="Carlito" pitchFamily="34" charset="-122"/>
                <a:cs typeface="Carlito" pitchFamily="34" charset="-120"/>
              </a:rPr>
              <a:t>Resizing runs one server per maintenance window, with the DBA checking databases.</a:t>
            </a:r>
            <a:endParaRPr lang="en-US" sz="1700" dirty="0"/>
          </a:p>
        </p:txBody>
      </p:sp>
      <p:sp>
        <p:nvSpPr>
          <p:cNvPr id="16" name="Shape 14"/>
          <p:cNvSpPr/>
          <p:nvPr/>
        </p:nvSpPr>
        <p:spPr>
          <a:xfrm>
            <a:off x="6197600" y="3414452"/>
            <a:ext cx="5181600" cy="1395677"/>
          </a:xfrm>
          <a:prstGeom prst="roundRect">
            <a:avLst>
              <a:gd name="adj" fmla="val 3640"/>
            </a:avLst>
          </a:prstGeom>
          <a:solidFill>
            <a:srgbClr val="E6F3FB"/>
          </a:solidFill>
          <a:ln/>
        </p:spPr>
        <p:txBody>
          <a:bodyPr/>
          <a:lstStyle/>
          <a:p>
            <a:endParaRPr lang="en-IN"/>
          </a:p>
        </p:txBody>
      </p:sp>
      <p:sp>
        <p:nvSpPr>
          <p:cNvPr id="17" name="Shape 15"/>
          <p:cNvSpPr/>
          <p:nvPr/>
        </p:nvSpPr>
        <p:spPr>
          <a:xfrm>
            <a:off x="6197600" y="3414452"/>
            <a:ext cx="5181600" cy="1395677"/>
          </a:xfrm>
          <a:custGeom>
            <a:avLst/>
            <a:gdLst/>
            <a:ahLst/>
            <a:cxnLst/>
            <a:rect l="l" t="t" r="r" b="b"/>
            <a:pathLst>
              <a:path w="5181600" h="1395677">
                <a:moveTo>
                  <a:pt x="63500" y="1395677"/>
                </a:moveTo>
                <a:lnTo>
                  <a:pt x="50800" y="1395677"/>
                </a:lnTo>
                <a:arcTo wR="50800" hR="50800" stAng="5400000" swAng="5400000"/>
                <a:lnTo>
                  <a:pt x="0" y="50800"/>
                </a:lnTo>
                <a:arcTo wR="50800" hR="50800" stAng="10800000" swAng="5400000"/>
                <a:lnTo>
                  <a:pt x="63500" y="0"/>
                </a:lnTo>
                <a:lnTo>
                  <a:pt x="63500" y="1395677"/>
                </a:lnTo>
                <a:close/>
              </a:path>
            </a:pathLst>
          </a:custGeom>
          <a:solidFill>
            <a:srgbClr val="1F7AB8"/>
          </a:solidFill>
          <a:ln/>
        </p:spPr>
        <p:txBody>
          <a:bodyPr/>
          <a:lstStyle/>
          <a:p>
            <a:endParaRPr lang="en-IN"/>
          </a:p>
        </p:txBody>
      </p:sp>
      <p:sp>
        <p:nvSpPr>
          <p:cNvPr id="18" name="Text 16"/>
          <p:cNvSpPr/>
          <p:nvPr/>
        </p:nvSpPr>
        <p:spPr>
          <a:xfrm>
            <a:off x="6515100" y="3643052"/>
            <a:ext cx="4748403"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4324A"/>
                </a:solidFill>
                <a:latin typeface="Caladea" pitchFamily="18" charset="0"/>
                <a:ea typeface="Caladea" pitchFamily="18" charset="-122"/>
                <a:cs typeface="Caladea" pitchFamily="18" charset="-120"/>
              </a:rPr>
              <a:t>Proof before credit</a:t>
            </a:r>
            <a:endParaRPr lang="en-US" sz="2000" dirty="0"/>
          </a:p>
        </p:txBody>
      </p:sp>
      <p:sp>
        <p:nvSpPr>
          <p:cNvPr id="19" name="Text 17"/>
          <p:cNvSpPr/>
          <p:nvPr/>
        </p:nvSpPr>
        <p:spPr>
          <a:xfrm>
            <a:off x="6515100" y="3998652"/>
            <a:ext cx="4748403" cy="608277"/>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4324A"/>
                </a:solidFill>
                <a:latin typeface="Carlito" pitchFamily="34" charset="0"/>
                <a:ea typeface="Carlito" pitchFamily="34" charset="-122"/>
                <a:cs typeface="Carlito" pitchFamily="34" charset="-120"/>
              </a:rPr>
              <a:t>A saving counts only with a bill, measured load or a written answer from the owner.</a:t>
            </a:r>
            <a:endParaRPr lang="en-US" sz="170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7388"/>
                </a:solidFill>
                <a:latin typeface="Carlito" pitchFamily="34" charset="0"/>
                <a:ea typeface="Carlito" pitchFamily="34" charset="-122"/>
                <a:cs typeface="Carlito" pitchFamily="34" charset="-120"/>
              </a:rPr>
              <a:t>MARG cloud cost plan · 90 days</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7388"/>
                </a:solidFill>
                <a:latin typeface="Carlito" pitchFamily="34" charset="0"/>
                <a:ea typeface="Carlito" pitchFamily="34" charset="-122"/>
                <a:cs typeface="Carlito"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35000"/>
            <a:ext cx="1980935" cy="375907"/>
          </a:xfrm>
          <a:prstGeom prst="roundRect">
            <a:avLst>
              <a:gd name="adj" fmla="val 10135"/>
            </a:avLst>
          </a:prstGeom>
          <a:solidFill>
            <a:srgbClr val="1F7AB8"/>
          </a:solidFill>
          <a:ln/>
        </p:spPr>
        <p:txBody>
          <a:bodyPr wrap="none" lIns="0" tIns="0" rIns="0" bIns="0" rtlCol="0" anchor="ctr">
            <a:normAutofit/>
          </a:bodyPr>
          <a:lstStyle/>
          <a:p>
            <a:pPr marL="0" indent="0" algn="ctr">
              <a:lnSpc>
                <a:spcPts val="1960"/>
              </a:lnSpc>
              <a:buNone/>
            </a:pPr>
            <a:r>
              <a:rPr lang="en-US" sz="1400" b="1" kern="0" spc="150" dirty="0">
                <a:solidFill>
                  <a:srgbClr val="FFFFFF"/>
                </a:solidFill>
                <a:latin typeface="Caladea" pitchFamily="18" charset="0"/>
                <a:ea typeface="Caladea" pitchFamily="18" charset="-122"/>
                <a:cs typeface="Caladea" pitchFamily="18" charset="-120"/>
              </a:rPr>
              <a:t>ACCOUNTABILITY</a:t>
            </a:r>
            <a:endParaRPr lang="en-US" sz="1400" dirty="0"/>
          </a:p>
        </p:txBody>
      </p:sp>
      <p:sp>
        <p:nvSpPr>
          <p:cNvPr id="3" name="Text 1"/>
          <p:cNvSpPr>
            <a:spLocks noGrp="1"/>
          </p:cNvSpPr>
          <p:nvPr>
            <p:ph type="title"/>
          </p:nvPr>
        </p:nvSpPr>
        <p:spPr>
          <a:xfrm>
            <a:off x="812800" y="1214109"/>
            <a:ext cx="10883392" cy="423664"/>
          </a:xfrm>
          <a:prstGeom prst="rect">
            <a:avLst/>
          </a:prstGeom>
          <a:noFill/>
          <a:ln/>
        </p:spPr>
        <p:txBody>
          <a:bodyPr wrap="square" lIns="0" tIns="0" rIns="0" bIns="0" rtlCol="0" anchor="t">
            <a:normAutofit/>
          </a:bodyPr>
          <a:lstStyle/>
          <a:p>
            <a:pPr marL="0" indent="0" algn="l">
              <a:lnSpc>
                <a:spcPts val="3136"/>
              </a:lnSpc>
              <a:buNone/>
            </a:pPr>
            <a:r>
              <a:rPr lang="en-US" sz="2800" b="1" i="0" dirty="0">
                <a:solidFill>
                  <a:srgbClr val="14324A"/>
                </a:solidFill>
                <a:latin typeface="Caladea" pitchFamily="18" charset="0"/>
                <a:ea typeface="Caladea" pitchFamily="18" charset="-122"/>
                <a:cs typeface="Caladea" pitchFamily="18" charset="-120"/>
              </a:rPr>
              <a:t>Six owners confirm the actions, each with a date</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8273"/>
          <a:ext cx="10553700" cy="3075387"/>
        </p:xfrm>
        <a:graphic>
          <a:graphicData uri="http://schemas.openxmlformats.org/drawingml/2006/table">
            <a:tbl>
              <a:tblPr/>
              <a:tblGrid>
                <a:gridCol w="2955036">
                  <a:extLst>
                    <a:ext uri="{9D8B030D-6E8A-4147-A177-3AD203B41FA5}">
                      <a16:colId xmlns:a16="http://schemas.microsoft.com/office/drawing/2014/main" val="20000"/>
                    </a:ext>
                  </a:extLst>
                </a:gridCol>
                <a:gridCol w="5276850">
                  <a:extLst>
                    <a:ext uri="{9D8B030D-6E8A-4147-A177-3AD203B41FA5}">
                      <a16:colId xmlns:a16="http://schemas.microsoft.com/office/drawing/2014/main" val="20001"/>
                    </a:ext>
                  </a:extLst>
                </a:gridCol>
                <a:gridCol w="2321814">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FFFFFF"/>
                          </a:solidFill>
                          <a:latin typeface="Carlito" pitchFamily="34" charset="0"/>
                          <a:ea typeface="Carlito" pitchFamily="34" charset="-122"/>
                          <a:cs typeface="Carlito" pitchFamily="34" charset="-120"/>
                        </a:rPr>
                        <a:t>Owner</a:t>
                      </a:r>
                      <a:endParaRPr lang="en-US" sz="1600" dirty="0">
                        <a:latin typeface="Carlito" charset="0"/>
                        <a:ea typeface="Carlito" charset="0"/>
                        <a:cs typeface="Carli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1D64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6494"/>
                      </a:solidFill>
                      <a:prstDash val="solid"/>
                      <a:round/>
                      <a:headEnd type="none" w="med" len="med"/>
                      <a:tailEnd type="none" w="med" len="med"/>
                    </a:lnB>
                    <a:solidFill>
                      <a:srgbClr val="1F7AB8"/>
                    </a:solidFill>
                  </a:tcPr>
                </a:tc>
                <a:tc>
                  <a:txBody>
                    <a:bodyPr/>
                    <a:lstStyle/>
                    <a:p>
                      <a:pPr marL="0" indent="0">
                        <a:lnSpc>
                          <a:spcPts val="2240"/>
                        </a:lnSpc>
                        <a:buNone/>
                      </a:pPr>
                      <a:r>
                        <a:rPr lang="en-US" sz="1600" b="1" dirty="0">
                          <a:solidFill>
                            <a:srgbClr val="FFFFFF"/>
                          </a:solidFill>
                          <a:latin typeface="Carlito" pitchFamily="34" charset="0"/>
                          <a:ea typeface="Carlito" pitchFamily="34" charset="-122"/>
                          <a:cs typeface="Carlito" pitchFamily="34" charset="-120"/>
                        </a:rPr>
                        <a:t>Confirms</a:t>
                      </a:r>
                      <a:endParaRPr lang="en-US" sz="1600" dirty="0">
                        <a:latin typeface="Carlito" charset="0"/>
                        <a:ea typeface="Carlito" charset="0"/>
                        <a:cs typeface="Carlito" charset="0"/>
                      </a:endParaRPr>
                    </a:p>
                  </a:txBody>
                  <a:tcPr marL="71120" marR="71120" marT="71120" marB="71120">
                    <a:lnL w="12700" cap="flat" cmpd="sng" algn="ctr">
                      <a:solidFill>
                        <a:srgbClr val="1D6494"/>
                      </a:solidFill>
                      <a:prstDash val="solid"/>
                      <a:round/>
                      <a:headEnd type="none" w="med" len="med"/>
                      <a:tailEnd type="none" w="med" len="med"/>
                    </a:lnL>
                    <a:lnR w="12700" cap="flat" cmpd="sng" algn="ctr">
                      <a:solidFill>
                        <a:srgbClr val="1D64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6494"/>
                      </a:solidFill>
                      <a:prstDash val="solid"/>
                      <a:round/>
                      <a:headEnd type="none" w="med" len="med"/>
                      <a:tailEnd type="none" w="med" len="med"/>
                    </a:lnB>
                    <a:solidFill>
                      <a:srgbClr val="1F7AB8"/>
                    </a:solidFill>
                  </a:tcPr>
                </a:tc>
                <a:tc>
                  <a:txBody>
                    <a:bodyPr/>
                    <a:lstStyle/>
                    <a:p>
                      <a:pPr marL="0" indent="0">
                        <a:lnSpc>
                          <a:spcPts val="2240"/>
                        </a:lnSpc>
                        <a:buNone/>
                      </a:pPr>
                      <a:r>
                        <a:rPr lang="en-US" sz="1600" b="1" dirty="0">
                          <a:solidFill>
                            <a:srgbClr val="FFFFFF"/>
                          </a:solidFill>
                          <a:latin typeface="Carlito" pitchFamily="34" charset="0"/>
                          <a:ea typeface="Carlito" pitchFamily="34" charset="-122"/>
                          <a:cs typeface="Carlito" pitchFamily="34" charset="-120"/>
                        </a:rPr>
                        <a:t>By when</a:t>
                      </a:r>
                      <a:endParaRPr lang="en-US" sz="1600" dirty="0">
                        <a:latin typeface="Carlito" charset="0"/>
                        <a:ea typeface="Carlito" charset="0"/>
                        <a:cs typeface="Carlito" charset="0"/>
                      </a:endParaRPr>
                    </a:p>
                  </a:txBody>
                  <a:tcPr marL="71120" marR="71120" marT="71120" marB="71120">
                    <a:lnL w="12700" cap="flat" cmpd="sng" algn="ctr">
                      <a:solidFill>
                        <a:srgbClr val="1D6494"/>
                      </a:solidFill>
                      <a:prstDash val="solid"/>
                      <a:round/>
                      <a:headEnd type="none" w="med" len="med"/>
                      <a:tailEnd type="none" w="med" len="med"/>
                    </a:lnL>
                    <a:lnR w="12700" cap="flat" cmpd="sng" algn="ctr">
                      <a:solidFill>
                        <a:srgbClr val="1D649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6494"/>
                      </a:solidFill>
                      <a:prstDash val="solid"/>
                      <a:round/>
                      <a:headEnd type="none" w="med" len="med"/>
                      <a:tailEnd type="none" w="med" len="med"/>
                    </a:lnB>
                    <a:solidFill>
                      <a:srgbClr val="1F7AB8"/>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Infra lead</a:t>
                      </a:r>
                      <a:endParaRPr lang="en-US" sz="1600" dirty="0">
                        <a:latin typeface="Carlito" charset="0"/>
                        <a:ea typeface="Carlito" charset="0"/>
                        <a:cs typeface="Carli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1D6494"/>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Old Azure side of 4 servers (₹2.01 L)</a:t>
                      </a:r>
                      <a:endParaRPr lang="en-US" sz="1600" dirty="0">
                        <a:latin typeface="Carlito" charset="0"/>
                        <a:ea typeface="Carlito" charset="0"/>
                        <a:cs typeface="Carlito" charset="0"/>
                      </a:endParaRPr>
                    </a:p>
                  </a:txBody>
                  <a:tcPr marL="71120" marR="71120" marT="71120" marB="71120">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1D6494"/>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Day 30</a:t>
                      </a:r>
                      <a:endParaRPr lang="en-US" sz="1600" dirty="0">
                        <a:latin typeface="Carlito" charset="0"/>
                        <a:ea typeface="Carlito" charset="0"/>
                        <a:cs typeface="Carlito" charset="0"/>
                      </a:endParaRPr>
                    </a:p>
                  </a:txBody>
                  <a:tcPr marL="71120" marR="71120" marT="71120" marB="71120">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1D6494"/>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Procurement</a:t>
                      </a:r>
                      <a:endParaRPr lang="en-US" sz="1600" dirty="0">
                        <a:latin typeface="Carlito" charset="0"/>
                        <a:ea typeface="Carlito" charset="0"/>
                        <a:cs typeface="Carli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WebberStop discount (₹89.3K) and move quote</a:t>
                      </a:r>
                      <a:endParaRPr lang="en-US" sz="1600" dirty="0">
                        <a:latin typeface="Carlito" charset="0"/>
                        <a:ea typeface="Carlito" charset="0"/>
                        <a:cs typeface="Carlito" charset="0"/>
                      </a:endParaRPr>
                    </a:p>
                  </a:txBody>
                  <a:tcPr marL="71120" marR="71120" marT="71120" marB="71120">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Day 30</a:t>
                      </a:r>
                      <a:endParaRPr lang="en-US" sz="1600" dirty="0">
                        <a:latin typeface="Carlito" charset="0"/>
                        <a:ea typeface="Carlito" charset="0"/>
                        <a:cs typeface="Carlito" charset="0"/>
                      </a:endParaRPr>
                    </a:p>
                  </a:txBody>
                  <a:tcPr marL="71120" marR="71120" marT="71120" marB="71120">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extLst>
                  <a:ext uri="{0D108BD9-81ED-4DB2-BD59-A6C34878D82A}">
                    <a16:rowId xmlns:a16="http://schemas.microsoft.com/office/drawing/2014/main" val="10002"/>
                  </a:ext>
                </a:extLst>
              </a:tr>
              <a:tr h="439341">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DevOps, app owners</a:t>
                      </a:r>
                      <a:endParaRPr lang="en-US" sz="1600" dirty="0">
                        <a:latin typeface="Carlito" charset="0"/>
                        <a:ea typeface="Carlito" charset="0"/>
                        <a:cs typeface="Carli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Silent servers, capacity fixes, idle servers</a:t>
                      </a:r>
                      <a:endParaRPr lang="en-US" sz="1600" dirty="0">
                        <a:latin typeface="Carlito" charset="0"/>
                        <a:ea typeface="Carlito" charset="0"/>
                        <a:cs typeface="Carlito" charset="0"/>
                      </a:endParaRPr>
                    </a:p>
                  </a:txBody>
                  <a:tcPr marL="71120" marR="71120" marT="71120" marB="71120">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Day 30 and 90</a:t>
                      </a:r>
                      <a:endParaRPr lang="en-US" sz="1600" dirty="0">
                        <a:latin typeface="Carlito" charset="0"/>
                        <a:ea typeface="Carlito" charset="0"/>
                        <a:cs typeface="Carlito" charset="0"/>
                      </a:endParaRPr>
                    </a:p>
                  </a:txBody>
                  <a:tcPr marL="71120" marR="71120" marT="71120" marB="71120">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extLst>
                  <a:ext uri="{0D108BD9-81ED-4DB2-BD59-A6C34878D82A}">
                    <a16:rowId xmlns:a16="http://schemas.microsoft.com/office/drawing/2014/main" val="10003"/>
                  </a:ext>
                </a:extLst>
              </a:tr>
              <a:tr h="439341">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DBA</a:t>
                      </a:r>
                      <a:endParaRPr lang="en-US" sz="1600" dirty="0">
                        <a:latin typeface="Carlito" charset="0"/>
                        <a:ea typeface="Carlito" charset="0"/>
                        <a:cs typeface="Carli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Database resizing and re-platforming</a:t>
                      </a:r>
                      <a:endParaRPr lang="en-US" sz="1600" dirty="0">
                        <a:latin typeface="Carlito" charset="0"/>
                        <a:ea typeface="Carlito" charset="0"/>
                        <a:cs typeface="Carlito" charset="0"/>
                      </a:endParaRPr>
                    </a:p>
                  </a:txBody>
                  <a:tcPr marL="71120" marR="71120" marT="71120" marB="71120">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Days 30–90</a:t>
                      </a:r>
                      <a:endParaRPr lang="en-US" sz="1600" dirty="0">
                        <a:latin typeface="Carlito" charset="0"/>
                        <a:ea typeface="Carlito" charset="0"/>
                        <a:cs typeface="Carlito" charset="0"/>
                      </a:endParaRPr>
                    </a:p>
                  </a:txBody>
                  <a:tcPr marL="71120" marR="71120" marT="71120" marB="71120">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extLst>
                  <a:ext uri="{0D108BD9-81ED-4DB2-BD59-A6C34878D82A}">
                    <a16:rowId xmlns:a16="http://schemas.microsoft.com/office/drawing/2014/main" val="10004"/>
                  </a:ext>
                </a:extLst>
              </a:tr>
              <a:tr h="439341">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Legal + Security</a:t>
                      </a:r>
                      <a:endParaRPr lang="en-US" sz="1600" dirty="0">
                        <a:latin typeface="Carlito" charset="0"/>
                        <a:ea typeface="Carlito" charset="0"/>
                        <a:cs typeface="Carli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Data location and contracts, ABHA first</a:t>
                      </a:r>
                      <a:endParaRPr lang="en-US" sz="1600" dirty="0">
                        <a:latin typeface="Carlito" charset="0"/>
                        <a:ea typeface="Carlito" charset="0"/>
                        <a:cs typeface="Carlito" charset="0"/>
                      </a:endParaRPr>
                    </a:p>
                  </a:txBody>
                  <a:tcPr marL="71120" marR="71120" marT="71120" marB="71120">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Day 45</a:t>
                      </a:r>
                      <a:endParaRPr lang="en-US" sz="1600" dirty="0">
                        <a:latin typeface="Carlito" charset="0"/>
                        <a:ea typeface="Carlito" charset="0"/>
                        <a:cs typeface="Carlito" charset="0"/>
                      </a:endParaRPr>
                    </a:p>
                  </a:txBody>
                  <a:tcPr marL="71120" marR="71120" marT="71120" marB="71120">
                    <a:lnL w="12700" cap="flat" cmpd="sng" algn="ctr">
                      <a:solidFill>
                        <a:srgbClr val="B8C2C8"/>
                      </a:solidFill>
                      <a:prstDash val="solid"/>
                      <a:round/>
                      <a:headEnd type="none" w="med" len="med"/>
                      <a:tailEnd type="none" w="med" len="med"/>
                    </a:lnL>
                    <a:lnR w="12700" cap="flat" cmpd="sng" algn="ctr">
                      <a:solidFill>
                        <a:srgbClr val="B8C2C8"/>
                      </a:solidFill>
                      <a:prstDash val="solid"/>
                      <a:round/>
                      <a:headEnd type="none" w="med" len="med"/>
                      <a:tailEnd type="none" w="med" len="med"/>
                    </a:lnR>
                    <a:lnT w="12700" cap="flat" cmpd="sng" algn="ctr">
                      <a:solidFill>
                        <a:srgbClr val="C3C7CA"/>
                      </a:solidFill>
                      <a:prstDash val="solid"/>
                      <a:round/>
                      <a:headEnd type="none" w="med" len="med"/>
                      <a:tailEnd type="none" w="med" len="med"/>
                    </a:lnT>
                    <a:lnB w="12700" cap="flat" cmpd="sng" algn="ctr">
                      <a:solidFill>
                        <a:srgbClr val="B8C2C8"/>
                      </a:solidFill>
                      <a:prstDash val="solid"/>
                      <a:round/>
                      <a:headEnd type="none" w="med" len="med"/>
                      <a:tailEnd type="none" w="med" len="med"/>
                    </a:lnB>
                    <a:solidFill>
                      <a:srgbClr val="E6F3FB"/>
                    </a:solidFill>
                  </a:tcPr>
                </a:tc>
                <a:extLst>
                  <a:ext uri="{0D108BD9-81ED-4DB2-BD59-A6C34878D82A}">
                    <a16:rowId xmlns:a16="http://schemas.microsoft.com/office/drawing/2014/main" val="10005"/>
                  </a:ext>
                </a:extLst>
              </a:tr>
              <a:tr h="439341">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Cloud lead</a:t>
                      </a:r>
                      <a:endParaRPr lang="en-US" sz="1600" dirty="0">
                        <a:latin typeface="Carlito" charset="0"/>
                        <a:ea typeface="Carlito" charset="0"/>
                        <a:cs typeface="Carli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Reservations, trims, first 3 moves (₹2.52 L)</a:t>
                      </a:r>
                      <a:endParaRPr lang="en-US" sz="1600" dirty="0">
                        <a:latin typeface="Carlito" charset="0"/>
                        <a:ea typeface="Carlito" charset="0"/>
                        <a:cs typeface="Carlito" charset="0"/>
                      </a:endParaRPr>
                    </a:p>
                  </a:txBody>
                  <a:tcPr marL="71120" marR="71120" marT="71120" marB="71120">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tc>
                  <a:txBody>
                    <a:bodyPr/>
                    <a:lstStyle/>
                    <a:p>
                      <a:pPr marL="0" indent="0">
                        <a:lnSpc>
                          <a:spcPts val="2240"/>
                        </a:lnSpc>
                        <a:buNone/>
                      </a:pPr>
                      <a:r>
                        <a:rPr lang="en-US" sz="1600" dirty="0">
                          <a:solidFill>
                            <a:srgbClr val="14324A"/>
                          </a:solidFill>
                          <a:latin typeface="Carlito" pitchFamily="34" charset="0"/>
                          <a:ea typeface="Carlito" pitchFamily="34" charset="-122"/>
                          <a:cs typeface="Carlito" pitchFamily="34" charset="-120"/>
                        </a:rPr>
                        <a:t>Day 90</a:t>
                      </a:r>
                      <a:endParaRPr lang="en-US" sz="1600" dirty="0">
                        <a:latin typeface="Carlito" charset="0"/>
                        <a:ea typeface="Carlito" charset="0"/>
                        <a:cs typeface="Carlito" charset="0"/>
                      </a:endParaRPr>
                    </a:p>
                  </a:txBody>
                  <a:tcPr marL="71120" marR="71120" marT="71120" marB="71120">
                    <a:lnL w="12700" cap="flat" cmpd="sng" algn="ctr">
                      <a:solidFill>
                        <a:srgbClr val="C3C7CA"/>
                      </a:solidFill>
                      <a:prstDash val="solid"/>
                      <a:round/>
                      <a:headEnd type="none" w="med" len="med"/>
                      <a:tailEnd type="none" w="med" len="med"/>
                    </a:lnL>
                    <a:lnR w="12700" cap="flat" cmpd="sng" algn="ctr">
                      <a:solidFill>
                        <a:srgbClr val="C3C7CA"/>
                      </a:solidFill>
                      <a:prstDash val="solid"/>
                      <a:round/>
                      <a:headEnd type="none" w="med" len="med"/>
                      <a:tailEnd type="none" w="med" len="med"/>
                    </a:lnR>
                    <a:lnT w="12700" cap="flat" cmpd="sng" algn="ctr">
                      <a:solidFill>
                        <a:srgbClr val="B8C2C8"/>
                      </a:solidFill>
                      <a:prstDash val="solid"/>
                      <a:round/>
                      <a:headEnd type="none" w="med" len="med"/>
                      <a:tailEnd type="none" w="med" len="med"/>
                    </a:lnT>
                    <a:lnB w="12700" cap="flat" cmpd="sng" algn="ctr">
                      <a:solidFill>
                        <a:srgbClr val="C3C7CA"/>
                      </a:solidFill>
                      <a:prstDash val="solid"/>
                      <a:round/>
                      <a:headEnd type="none" w="med" len="med"/>
                      <a:tailEnd type="none" w="med" len="med"/>
                    </a:lnB>
                    <a:solidFill>
                      <a:srgbClr val="F4F9FD"/>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5106857"/>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6479"/>
                </a:solidFill>
                <a:latin typeface="Carlito" pitchFamily="34" charset="0"/>
                <a:ea typeface="Carlito" pitchFamily="34" charset="-122"/>
                <a:cs typeface="Carlito" pitchFamily="34" charset="-120"/>
              </a:rPr>
              <a:t>Owners are the roles named in the plan. Days count from approval of this plan.</a:t>
            </a:r>
            <a:endParaRPr lang="en-US" sz="14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7388"/>
                </a:solidFill>
                <a:latin typeface="Carlito" pitchFamily="34" charset="0"/>
                <a:ea typeface="Carlito" pitchFamily="34" charset="-122"/>
                <a:cs typeface="Carlito" pitchFamily="34" charset="-120"/>
              </a:rPr>
              <a:t>MARG cloud cost plan · 90 days</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7388"/>
                </a:solidFill>
                <a:latin typeface="Carlito" pitchFamily="34" charset="0"/>
                <a:ea typeface="Carlito" pitchFamily="34" charset="-122"/>
                <a:cs typeface="Carlito"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35000"/>
            <a:ext cx="1985632" cy="375907"/>
          </a:xfrm>
          <a:prstGeom prst="roundRect">
            <a:avLst>
              <a:gd name="adj" fmla="val 10135"/>
            </a:avLst>
          </a:prstGeom>
          <a:solidFill>
            <a:srgbClr val="1F7AB8"/>
          </a:solidFill>
          <a:ln/>
        </p:spPr>
        <p:txBody>
          <a:bodyPr wrap="none" lIns="0" tIns="0" rIns="0" bIns="0" rtlCol="0" anchor="ctr">
            <a:normAutofit/>
          </a:bodyPr>
          <a:lstStyle/>
          <a:p>
            <a:pPr marL="0" indent="0" algn="ctr">
              <a:lnSpc>
                <a:spcPts val="1960"/>
              </a:lnSpc>
              <a:buNone/>
            </a:pPr>
            <a:r>
              <a:rPr lang="en-US" sz="1400" b="1" kern="0" spc="150" dirty="0">
                <a:solidFill>
                  <a:srgbClr val="FFFFFF"/>
                </a:solidFill>
                <a:latin typeface="Caladea" pitchFamily="18" charset="0"/>
                <a:ea typeface="Caladea" pitchFamily="18" charset="-122"/>
                <a:cs typeface="Caladea" pitchFamily="18" charset="-120"/>
              </a:rPr>
              <a:t>STEP 4 · ONGOING</a:t>
            </a:r>
            <a:endParaRPr lang="en-US" sz="1400" dirty="0"/>
          </a:p>
        </p:txBody>
      </p:sp>
      <p:sp>
        <p:nvSpPr>
          <p:cNvPr id="3" name="Text 1"/>
          <p:cNvSpPr>
            <a:spLocks noGrp="1"/>
          </p:cNvSpPr>
          <p:nvPr>
            <p:ph type="title"/>
          </p:nvPr>
        </p:nvSpPr>
        <p:spPr>
          <a:xfrm>
            <a:off x="812800" y="1214109"/>
            <a:ext cx="10883392" cy="423664"/>
          </a:xfrm>
          <a:prstGeom prst="rect">
            <a:avLst/>
          </a:prstGeom>
          <a:noFill/>
          <a:ln/>
        </p:spPr>
        <p:txBody>
          <a:bodyPr wrap="square" lIns="0" tIns="0" rIns="0" bIns="0" rtlCol="0" anchor="t">
            <a:normAutofit/>
          </a:bodyPr>
          <a:lstStyle/>
          <a:p>
            <a:pPr marL="0" indent="0" algn="l">
              <a:lnSpc>
                <a:spcPts val="3136"/>
              </a:lnSpc>
              <a:buNone/>
            </a:pPr>
            <a:r>
              <a:rPr lang="en-US" sz="2800" b="1" i="0" dirty="0">
                <a:solidFill>
                  <a:srgbClr val="14324A"/>
                </a:solidFill>
                <a:latin typeface="Caladea" pitchFamily="18" charset="0"/>
                <a:ea typeface="Caladea" pitchFamily="18" charset="-122"/>
                <a:cs typeface="Caladea" pitchFamily="18" charset="-120"/>
              </a:rPr>
              <a:t>A monthly cycle keeps the savings coming</a:t>
            </a:r>
            <a:endParaRPr lang="en-US" sz="2800" dirty="0"/>
          </a:p>
        </p:txBody>
      </p:sp>
      <p:sp>
        <p:nvSpPr>
          <p:cNvPr id="4" name="Shape 2"/>
          <p:cNvSpPr/>
          <p:nvPr/>
        </p:nvSpPr>
        <p:spPr>
          <a:xfrm>
            <a:off x="812800" y="1815573"/>
            <a:ext cx="3386667" cy="2357636"/>
          </a:xfrm>
          <a:prstGeom prst="roundRect">
            <a:avLst>
              <a:gd name="adj" fmla="val 2155"/>
            </a:avLst>
          </a:prstGeom>
          <a:solidFill>
            <a:srgbClr val="E6F3FB"/>
          </a:solidFill>
          <a:ln/>
        </p:spPr>
        <p:txBody>
          <a:bodyPr/>
          <a:lstStyle/>
          <a:p>
            <a:endParaRPr lang="en-IN"/>
          </a:p>
        </p:txBody>
      </p:sp>
      <p:sp>
        <p:nvSpPr>
          <p:cNvPr id="5" name="Text 3"/>
          <p:cNvSpPr/>
          <p:nvPr/>
        </p:nvSpPr>
        <p:spPr>
          <a:xfrm>
            <a:off x="1066800" y="2069573"/>
            <a:ext cx="508000" cy="508000"/>
          </a:xfrm>
          <a:custGeom>
            <a:avLst/>
            <a:gdLst/>
            <a:ahLst/>
            <a:cxnLst/>
            <a:rect l="l" t="t" r="r" b="b"/>
            <a:pathLst>
              <a:path w="508000" h="508000">
                <a:moveTo>
                  <a:pt x="50800" y="0"/>
                </a:moveTo>
                <a:lnTo>
                  <a:pt x="457200" y="0"/>
                </a:lnTo>
                <a:arcTo wR="50800" hR="50800" stAng="16200000" swAng="5400000"/>
                <a:lnTo>
                  <a:pt x="508000" y="457200"/>
                </a:lnTo>
                <a:arcTo wR="50800" hR="50800" stAng="0" swAng="5400000"/>
                <a:lnTo>
                  <a:pt x="50800" y="508000"/>
                </a:lnTo>
                <a:arcTo wR="50800" hR="50800" stAng="5400000" swAng="5400000"/>
                <a:lnTo>
                  <a:pt x="0" y="50800"/>
                </a:lnTo>
                <a:arcTo wR="50800" hR="50800" stAng="10800000" swAng="5400000"/>
                <a:close/>
              </a:path>
            </a:pathLst>
          </a:custGeom>
          <a:solidFill>
            <a:srgbClr val="1F7AB8"/>
          </a:solidFill>
          <a:ln/>
        </p:spPr>
        <p:txBody>
          <a:bodyPr wrap="square" lIns="0" tIns="0" rIns="0" bIns="0" rtlCol="0" anchor="t">
            <a:normAutofit/>
          </a:bodyPr>
          <a:lstStyle/>
          <a:p>
            <a:pPr marL="0" indent="0" algn="ctr">
              <a:lnSpc>
                <a:spcPts val="4004"/>
              </a:lnSpc>
              <a:buNone/>
            </a:pPr>
            <a:r>
              <a:rPr lang="en-US" sz="2600" b="1" dirty="0">
                <a:solidFill>
                  <a:srgbClr val="FFFFFF"/>
                </a:solidFill>
                <a:latin typeface="Caladea" pitchFamily="18" charset="0"/>
                <a:ea typeface="Caladea" pitchFamily="18" charset="-122"/>
                <a:cs typeface="Caladea" pitchFamily="18" charset="-120"/>
              </a:rPr>
              <a:t>1</a:t>
            </a:r>
            <a:endParaRPr lang="en-US" sz="2600" dirty="0"/>
          </a:p>
        </p:txBody>
      </p:sp>
      <p:sp>
        <p:nvSpPr>
          <p:cNvPr id="6" name="Text 4"/>
          <p:cNvSpPr/>
          <p:nvPr/>
        </p:nvSpPr>
        <p:spPr>
          <a:xfrm>
            <a:off x="1066800" y="2666473"/>
            <a:ext cx="2965027" cy="31492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14324A"/>
                </a:solidFill>
                <a:latin typeface="Caladea" pitchFamily="18" charset="0"/>
                <a:ea typeface="Caladea" pitchFamily="18" charset="-122"/>
                <a:cs typeface="Caladea" pitchFamily="18" charset="-120"/>
              </a:rPr>
              <a:t>Re-run monthly</a:t>
            </a:r>
            <a:endParaRPr lang="en-US" sz="1900" dirty="0"/>
          </a:p>
        </p:txBody>
      </p:sp>
      <p:sp>
        <p:nvSpPr>
          <p:cNvPr id="7" name="Text 5"/>
          <p:cNvSpPr/>
          <p:nvPr/>
        </p:nvSpPr>
        <p:spPr>
          <a:xfrm>
            <a:off x="1066800" y="3044893"/>
            <a:ext cx="2965027" cy="899716"/>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4324A"/>
                </a:solidFill>
                <a:latin typeface="Carlito" pitchFamily="34" charset="0"/>
                <a:ea typeface="Carlito" pitchFamily="34" charset="-122"/>
                <a:cs typeface="Carlito" pitchFamily="34" charset="-120"/>
              </a:rPr>
              <a:t>Fresh server data and bills re-price the list and catch new idle or silent servers.</a:t>
            </a:r>
            <a:endParaRPr lang="en-US" sz="1700" dirty="0"/>
          </a:p>
        </p:txBody>
      </p:sp>
      <p:sp>
        <p:nvSpPr>
          <p:cNvPr id="8" name="Shape 6"/>
          <p:cNvSpPr/>
          <p:nvPr/>
        </p:nvSpPr>
        <p:spPr>
          <a:xfrm>
            <a:off x="4402667" y="1815573"/>
            <a:ext cx="3386667" cy="2357636"/>
          </a:xfrm>
          <a:prstGeom prst="roundRect">
            <a:avLst>
              <a:gd name="adj" fmla="val 2155"/>
            </a:avLst>
          </a:prstGeom>
          <a:solidFill>
            <a:srgbClr val="E6F3FB"/>
          </a:solidFill>
          <a:ln/>
        </p:spPr>
        <p:txBody>
          <a:bodyPr/>
          <a:lstStyle/>
          <a:p>
            <a:endParaRPr lang="en-IN"/>
          </a:p>
        </p:txBody>
      </p:sp>
      <p:sp>
        <p:nvSpPr>
          <p:cNvPr id="9" name="Text 7"/>
          <p:cNvSpPr/>
          <p:nvPr/>
        </p:nvSpPr>
        <p:spPr>
          <a:xfrm>
            <a:off x="4656667" y="2069573"/>
            <a:ext cx="508000" cy="508000"/>
          </a:xfrm>
          <a:custGeom>
            <a:avLst/>
            <a:gdLst/>
            <a:ahLst/>
            <a:cxnLst/>
            <a:rect l="l" t="t" r="r" b="b"/>
            <a:pathLst>
              <a:path w="508000" h="508000">
                <a:moveTo>
                  <a:pt x="50800" y="0"/>
                </a:moveTo>
                <a:lnTo>
                  <a:pt x="457200" y="0"/>
                </a:lnTo>
                <a:arcTo wR="50800" hR="50800" stAng="16200000" swAng="5400000"/>
                <a:lnTo>
                  <a:pt x="508000" y="457200"/>
                </a:lnTo>
                <a:arcTo wR="50800" hR="50800" stAng="0" swAng="5400000"/>
                <a:lnTo>
                  <a:pt x="50800" y="508000"/>
                </a:lnTo>
                <a:arcTo wR="50800" hR="50800" stAng="5400000" swAng="5400000"/>
                <a:lnTo>
                  <a:pt x="0" y="50800"/>
                </a:lnTo>
                <a:arcTo wR="50800" hR="50800" stAng="10800000" swAng="5400000"/>
                <a:close/>
              </a:path>
            </a:pathLst>
          </a:custGeom>
          <a:solidFill>
            <a:srgbClr val="1F7AB8"/>
          </a:solidFill>
          <a:ln/>
        </p:spPr>
        <p:txBody>
          <a:bodyPr wrap="square" lIns="0" tIns="0" rIns="0" bIns="0" rtlCol="0" anchor="t">
            <a:normAutofit/>
          </a:bodyPr>
          <a:lstStyle/>
          <a:p>
            <a:pPr marL="0" indent="0" algn="ctr">
              <a:lnSpc>
                <a:spcPts val="4004"/>
              </a:lnSpc>
              <a:buNone/>
            </a:pPr>
            <a:r>
              <a:rPr lang="en-US" sz="2600" b="1" dirty="0">
                <a:solidFill>
                  <a:srgbClr val="FFFFFF"/>
                </a:solidFill>
                <a:latin typeface="Caladea" pitchFamily="18" charset="0"/>
                <a:ea typeface="Caladea" pitchFamily="18" charset="-122"/>
                <a:cs typeface="Caladea" pitchFamily="18" charset="-120"/>
              </a:rPr>
              <a:t>2</a:t>
            </a:r>
            <a:endParaRPr lang="en-US" sz="2600" dirty="0"/>
          </a:p>
        </p:txBody>
      </p:sp>
      <p:sp>
        <p:nvSpPr>
          <p:cNvPr id="10" name="Text 8"/>
          <p:cNvSpPr/>
          <p:nvPr/>
        </p:nvSpPr>
        <p:spPr>
          <a:xfrm>
            <a:off x="4656667" y="2666473"/>
            <a:ext cx="2965027" cy="31492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14324A"/>
                </a:solidFill>
                <a:latin typeface="Caladea" pitchFamily="18" charset="0"/>
                <a:ea typeface="Caladea" pitchFamily="18" charset="-122"/>
                <a:cs typeface="Caladea" pitchFamily="18" charset="-120"/>
              </a:rPr>
              <a:t>Report in three buckets</a:t>
            </a:r>
            <a:endParaRPr lang="en-US" sz="1900" dirty="0"/>
          </a:p>
        </p:txBody>
      </p:sp>
      <p:sp>
        <p:nvSpPr>
          <p:cNvPr id="11" name="Text 9"/>
          <p:cNvSpPr/>
          <p:nvPr/>
        </p:nvSpPr>
        <p:spPr>
          <a:xfrm>
            <a:off x="4656667" y="3044893"/>
            <a:ext cx="2965027" cy="899716"/>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4324A"/>
                </a:solidFill>
                <a:latin typeface="Carlito" pitchFamily="34" charset="0"/>
                <a:ea typeface="Carlito" pitchFamily="34" charset="-122"/>
                <a:cs typeface="Carlito" pitchFamily="34" charset="-120"/>
              </a:rPr>
              <a:t>Proven, confirmed and assumed savings, shown separately against the 15–20% goal.</a:t>
            </a:r>
            <a:endParaRPr lang="en-US" sz="1700" dirty="0"/>
          </a:p>
        </p:txBody>
      </p:sp>
      <p:sp>
        <p:nvSpPr>
          <p:cNvPr id="12" name="Shape 10"/>
          <p:cNvSpPr/>
          <p:nvPr/>
        </p:nvSpPr>
        <p:spPr>
          <a:xfrm>
            <a:off x="7992534" y="1815573"/>
            <a:ext cx="3386667" cy="2357636"/>
          </a:xfrm>
          <a:prstGeom prst="roundRect">
            <a:avLst>
              <a:gd name="adj" fmla="val 2155"/>
            </a:avLst>
          </a:prstGeom>
          <a:solidFill>
            <a:srgbClr val="E6F3FB"/>
          </a:solidFill>
          <a:ln/>
        </p:spPr>
        <p:txBody>
          <a:bodyPr/>
          <a:lstStyle/>
          <a:p>
            <a:endParaRPr lang="en-IN"/>
          </a:p>
        </p:txBody>
      </p:sp>
      <p:sp>
        <p:nvSpPr>
          <p:cNvPr id="13" name="Text 11"/>
          <p:cNvSpPr/>
          <p:nvPr/>
        </p:nvSpPr>
        <p:spPr>
          <a:xfrm>
            <a:off x="8246534" y="2069573"/>
            <a:ext cx="508000" cy="508000"/>
          </a:xfrm>
          <a:custGeom>
            <a:avLst/>
            <a:gdLst/>
            <a:ahLst/>
            <a:cxnLst/>
            <a:rect l="l" t="t" r="r" b="b"/>
            <a:pathLst>
              <a:path w="508000" h="508000">
                <a:moveTo>
                  <a:pt x="50800" y="0"/>
                </a:moveTo>
                <a:lnTo>
                  <a:pt x="457200" y="0"/>
                </a:lnTo>
                <a:arcTo wR="50800" hR="50800" stAng="16200000" swAng="5400000"/>
                <a:lnTo>
                  <a:pt x="508000" y="457200"/>
                </a:lnTo>
                <a:arcTo wR="50800" hR="50800" stAng="0" swAng="5400000"/>
                <a:lnTo>
                  <a:pt x="50800" y="508000"/>
                </a:lnTo>
                <a:arcTo wR="50800" hR="50800" stAng="5400000" swAng="5400000"/>
                <a:lnTo>
                  <a:pt x="0" y="50800"/>
                </a:lnTo>
                <a:arcTo wR="50800" hR="50800" stAng="10800000" swAng="5400000"/>
                <a:close/>
              </a:path>
            </a:pathLst>
          </a:custGeom>
          <a:solidFill>
            <a:srgbClr val="1F7AB8"/>
          </a:solidFill>
          <a:ln/>
        </p:spPr>
        <p:txBody>
          <a:bodyPr wrap="square" lIns="0" tIns="0" rIns="0" bIns="0" rtlCol="0" anchor="t">
            <a:normAutofit/>
          </a:bodyPr>
          <a:lstStyle/>
          <a:p>
            <a:pPr marL="0" indent="0" algn="ctr">
              <a:lnSpc>
                <a:spcPts val="4004"/>
              </a:lnSpc>
              <a:buNone/>
            </a:pPr>
            <a:r>
              <a:rPr lang="en-US" sz="2600" b="1" dirty="0">
                <a:solidFill>
                  <a:srgbClr val="FFFFFF"/>
                </a:solidFill>
                <a:latin typeface="Caladea" pitchFamily="18" charset="0"/>
                <a:ea typeface="Caladea" pitchFamily="18" charset="-122"/>
                <a:cs typeface="Caladea" pitchFamily="18" charset="-120"/>
              </a:rPr>
              <a:t>3</a:t>
            </a:r>
            <a:endParaRPr lang="en-US" sz="2600" dirty="0"/>
          </a:p>
        </p:txBody>
      </p:sp>
      <p:sp>
        <p:nvSpPr>
          <p:cNvPr id="14" name="Text 12"/>
          <p:cNvSpPr/>
          <p:nvPr/>
        </p:nvSpPr>
        <p:spPr>
          <a:xfrm>
            <a:off x="8246534" y="2666473"/>
            <a:ext cx="2965027" cy="31492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14324A"/>
                </a:solidFill>
                <a:latin typeface="Caladea" pitchFamily="18" charset="0"/>
                <a:ea typeface="Caladea" pitchFamily="18" charset="-122"/>
                <a:cs typeface="Caladea" pitchFamily="18" charset="-120"/>
              </a:rPr>
              <a:t>Set next month’s list</a:t>
            </a:r>
            <a:endParaRPr lang="en-US" sz="1900" dirty="0"/>
          </a:p>
        </p:txBody>
      </p:sp>
      <p:sp>
        <p:nvSpPr>
          <p:cNvPr id="15" name="Text 13"/>
          <p:cNvSpPr/>
          <p:nvPr/>
        </p:nvSpPr>
        <p:spPr>
          <a:xfrm>
            <a:off x="8246534" y="3044893"/>
            <a:ext cx="2965027" cy="899716"/>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14324A"/>
                </a:solidFill>
                <a:latin typeface="Carlito" pitchFamily="34" charset="0"/>
                <a:ea typeface="Carlito" pitchFamily="34" charset="-122"/>
                <a:cs typeface="Carlito" pitchFamily="34" charset="-120"/>
              </a:rPr>
              <a:t>Owners get a short list of decisions, largest saving first, each with a due date.</a:t>
            </a:r>
            <a:endParaRPr lang="en-US" sz="1700" dirty="0"/>
          </a:p>
        </p:txBody>
      </p:sp>
      <p:sp>
        <p:nvSpPr>
          <p:cNvPr id="16" name="Text 14"/>
          <p:cNvSpPr/>
          <p:nvPr/>
        </p:nvSpPr>
        <p:spPr>
          <a:xfrm>
            <a:off x="812800" y="4376409"/>
            <a:ext cx="10566400" cy="585457"/>
          </a:xfrm>
          <a:prstGeom prst="roundRect">
            <a:avLst>
              <a:gd name="adj" fmla="val 8677"/>
            </a:avLst>
          </a:prstGeom>
          <a:solidFill>
            <a:srgbClr val="1F7AB8"/>
          </a:solidFill>
          <a:ln/>
        </p:spPr>
        <p:txBody>
          <a:bodyPr wrap="square" lIns="239121" tIns="137521" rIns="0" bIns="112121" rtlCol="0" anchor="t">
            <a:normAutofit/>
          </a:bodyPr>
          <a:lstStyle/>
          <a:p>
            <a:pPr marL="0" indent="0" algn="l">
              <a:lnSpc>
                <a:spcPts val="2210"/>
              </a:lnSpc>
              <a:buNone/>
            </a:pPr>
            <a:r>
              <a:rPr lang="en-US" sz="1700" b="1" dirty="0">
                <a:solidFill>
                  <a:srgbClr val="FFFFFF"/>
                </a:solidFill>
                <a:latin typeface="Carlito" pitchFamily="34" charset="0"/>
                <a:ea typeface="Carlito" pitchFamily="34" charset="-122"/>
                <a:cs typeface="Carlito" pitchFamily="34" charset="-120"/>
              </a:rPr>
              <a:t>Also in Step 4:</a:t>
            </a:r>
            <a:r>
              <a:rPr lang="en-US" sz="1700" dirty="0">
                <a:solidFill>
                  <a:srgbClr val="FFFFFF"/>
                </a:solidFill>
                <a:latin typeface="Carlito" pitchFamily="34" charset="0"/>
                <a:ea typeface="Carlito" pitchFamily="34" charset="-122"/>
                <a:cs typeface="Carlito" pitchFamily="34" charset="-120"/>
              </a:rPr>
              <a:t> tuning the remaining Azure services adds up to ₹44.3K a month.</a:t>
            </a:r>
            <a:endParaRPr lang="en-US" sz="17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7388"/>
                </a:solidFill>
                <a:latin typeface="Carlito" pitchFamily="34" charset="0"/>
                <a:ea typeface="Carlito" pitchFamily="34" charset="-122"/>
                <a:cs typeface="Carlito" pitchFamily="34" charset="-120"/>
              </a:rPr>
              <a:t>MARG cloud cost plan · 90 days</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7388"/>
                </a:solidFill>
                <a:latin typeface="Carlito" pitchFamily="34" charset="0"/>
                <a:ea typeface="Carlito" pitchFamily="34" charset="-122"/>
                <a:cs typeface="Carlito"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7AB8"/>
        </a:solidFill>
        <a:effectLst/>
      </p:bgPr>
    </p:bg>
    <p:spTree>
      <p:nvGrpSpPr>
        <p:cNvPr id="1" name=""/>
        <p:cNvGrpSpPr/>
        <p:nvPr/>
      </p:nvGrpSpPr>
      <p:grpSpPr>
        <a:xfrm>
          <a:off x="0" y="0"/>
          <a:ext cx="0" cy="0"/>
          <a:chOff x="0" y="0"/>
          <a:chExt cx="0" cy="0"/>
        </a:xfrm>
      </p:grpSpPr>
      <p:sp>
        <p:nvSpPr>
          <p:cNvPr id="2" name="Text 0"/>
          <p:cNvSpPr/>
          <p:nvPr/>
        </p:nvSpPr>
        <p:spPr>
          <a:xfrm>
            <a:off x="812800" y="635000"/>
            <a:ext cx="2151129" cy="375907"/>
          </a:xfrm>
          <a:prstGeom prst="roundRect">
            <a:avLst>
              <a:gd name="adj" fmla="val 10135"/>
            </a:avLst>
          </a:prstGeom>
          <a:solidFill>
            <a:srgbClr val="FFFFFF"/>
          </a:solidFill>
          <a:ln/>
        </p:spPr>
        <p:txBody>
          <a:bodyPr wrap="none" lIns="0" tIns="0" rIns="0" bIns="0" rtlCol="0" anchor="ctr">
            <a:normAutofit/>
          </a:bodyPr>
          <a:lstStyle/>
          <a:p>
            <a:pPr marL="0" indent="0" algn="ctr">
              <a:lnSpc>
                <a:spcPts val="1960"/>
              </a:lnSpc>
              <a:buNone/>
            </a:pPr>
            <a:r>
              <a:rPr lang="en-US" sz="1400" b="1" kern="0" spc="150" dirty="0">
                <a:solidFill>
                  <a:srgbClr val="14324A"/>
                </a:solidFill>
                <a:latin typeface="Caladea" pitchFamily="18" charset="0"/>
                <a:ea typeface="Caladea" pitchFamily="18" charset="-122"/>
                <a:cs typeface="Caladea" pitchFamily="18" charset="-120"/>
              </a:rPr>
              <a:t>DECISIONS NEEDED</a:t>
            </a:r>
            <a:endParaRPr lang="en-US" sz="1400" dirty="0"/>
          </a:p>
        </p:txBody>
      </p:sp>
      <p:sp>
        <p:nvSpPr>
          <p:cNvPr id="3" name="Text 1"/>
          <p:cNvSpPr>
            <a:spLocks noGrp="1"/>
          </p:cNvSpPr>
          <p:nvPr>
            <p:ph type="title"/>
          </p:nvPr>
        </p:nvSpPr>
        <p:spPr>
          <a:xfrm>
            <a:off x="812800" y="1214115"/>
            <a:ext cx="10883392" cy="423664"/>
          </a:xfrm>
          <a:prstGeom prst="rect">
            <a:avLst/>
          </a:prstGeom>
          <a:noFill/>
          <a:ln/>
        </p:spPr>
        <p:txBody>
          <a:bodyPr wrap="square" lIns="0" tIns="0" rIns="0" bIns="0" rtlCol="0" anchor="t">
            <a:normAutofit/>
          </a:bodyPr>
          <a:lstStyle/>
          <a:p>
            <a:pPr marL="0" indent="0" algn="l">
              <a:lnSpc>
                <a:spcPts val="3136"/>
              </a:lnSpc>
              <a:buNone/>
            </a:pPr>
            <a:r>
              <a:rPr lang="en-US" sz="2800" b="1" i="0" dirty="0">
                <a:solidFill>
                  <a:srgbClr val="FFFFFF"/>
                </a:solidFill>
                <a:latin typeface="Caladea" pitchFamily="18" charset="0"/>
                <a:ea typeface="Caladea" pitchFamily="18" charset="-122"/>
                <a:cs typeface="Caladea" pitchFamily="18" charset="-120"/>
              </a:rPr>
              <a:t>What we need from management this week</a:t>
            </a:r>
            <a:endParaRPr lang="en-US" sz="2800" dirty="0"/>
          </a:p>
        </p:txBody>
      </p:sp>
      <p:sp>
        <p:nvSpPr>
          <p:cNvPr id="4" name="Text 2"/>
          <p:cNvSpPr/>
          <p:nvPr/>
        </p:nvSpPr>
        <p:spPr>
          <a:xfrm>
            <a:off x="812800" y="1800663"/>
            <a:ext cx="457200" cy="457200"/>
          </a:xfrm>
          <a:custGeom>
            <a:avLst/>
            <a:gdLst/>
            <a:ahLst/>
            <a:cxnLst/>
            <a:rect l="l" t="t" r="r" b="b"/>
            <a:pathLst>
              <a:path w="457200" h="457200">
                <a:moveTo>
                  <a:pt x="50800" y="0"/>
                </a:moveTo>
                <a:lnTo>
                  <a:pt x="406400" y="0"/>
                </a:lnTo>
                <a:arcTo wR="50800" hR="50800" stAng="16200000" swAng="5400000"/>
                <a:lnTo>
                  <a:pt x="457200" y="406400"/>
                </a:lnTo>
                <a:arcTo wR="50800" hR="50800" stAng="0" swAng="5400000"/>
                <a:lnTo>
                  <a:pt x="50800" y="457200"/>
                </a:lnTo>
                <a:arcTo wR="50800" hR="50800" stAng="5400000" swAng="5400000"/>
                <a:lnTo>
                  <a:pt x="0" y="50800"/>
                </a:lnTo>
                <a:arcTo wR="50800" hR="50800" stAng="10800000" swAng="5400000"/>
                <a:close/>
              </a:path>
            </a:pathLst>
          </a:custGeom>
          <a:solidFill>
            <a:srgbClr val="FFFFFF"/>
          </a:solidFill>
          <a:ln/>
        </p:spPr>
        <p:txBody>
          <a:bodyPr wrap="square" lIns="0" tIns="0" rIns="0" bIns="0" rtlCol="0" anchor="t">
            <a:normAutofit/>
          </a:bodyPr>
          <a:lstStyle/>
          <a:p>
            <a:pPr marL="0" indent="0" algn="ctr">
              <a:lnSpc>
                <a:spcPts val="3608"/>
              </a:lnSpc>
              <a:buNone/>
            </a:pPr>
            <a:r>
              <a:rPr lang="en-US" sz="2200" b="1" dirty="0">
                <a:solidFill>
                  <a:srgbClr val="1F7AB8"/>
                </a:solidFill>
                <a:latin typeface="Caladea" pitchFamily="18" charset="0"/>
                <a:ea typeface="Caladea" pitchFamily="18" charset="-122"/>
                <a:cs typeface="Caladea" pitchFamily="18" charset="-120"/>
              </a:rPr>
              <a:t>1</a:t>
            </a:r>
            <a:endParaRPr lang="en-US" sz="2200" dirty="0"/>
          </a:p>
        </p:txBody>
      </p:sp>
      <p:sp>
        <p:nvSpPr>
          <p:cNvPr id="5" name="Text 3"/>
          <p:cNvSpPr/>
          <p:nvPr/>
        </p:nvSpPr>
        <p:spPr>
          <a:xfrm>
            <a:off x="1447800" y="1720693"/>
            <a:ext cx="10229342" cy="363207"/>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FFFFFF"/>
                </a:solidFill>
                <a:latin typeface="Caladea" pitchFamily="18" charset="0"/>
                <a:ea typeface="Caladea" pitchFamily="18" charset="-122"/>
                <a:cs typeface="Caladea" pitchFamily="18" charset="-120"/>
              </a:rPr>
              <a:t>Mandate owners to answer within 14 days</a:t>
            </a:r>
            <a:endParaRPr lang="en-US" sz="1900" dirty="0"/>
          </a:p>
        </p:txBody>
      </p:sp>
      <p:sp>
        <p:nvSpPr>
          <p:cNvPr id="6" name="Text 4"/>
          <p:cNvSpPr/>
          <p:nvPr/>
        </p:nvSpPr>
        <p:spPr>
          <a:xfrm>
            <a:off x="1447800" y="2071196"/>
            <a:ext cx="1022934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0F8FD"/>
                </a:solidFill>
                <a:latin typeface="Carlito" pitchFamily="34" charset="0"/>
                <a:ea typeface="Carlito" pitchFamily="34" charset="-122"/>
                <a:cs typeface="Carlito" pitchFamily="34" charset="-120"/>
              </a:rPr>
              <a:t>Up to ₹7.7 L a month depends on their yes or no.</a:t>
            </a:r>
            <a:endParaRPr lang="en-US" sz="1500" dirty="0"/>
          </a:p>
        </p:txBody>
      </p:sp>
      <p:sp>
        <p:nvSpPr>
          <p:cNvPr id="7" name="Text 5"/>
          <p:cNvSpPr/>
          <p:nvPr/>
        </p:nvSpPr>
        <p:spPr>
          <a:xfrm>
            <a:off x="812800" y="2557566"/>
            <a:ext cx="457200" cy="457200"/>
          </a:xfrm>
          <a:custGeom>
            <a:avLst/>
            <a:gdLst/>
            <a:ahLst/>
            <a:cxnLst/>
            <a:rect l="l" t="t" r="r" b="b"/>
            <a:pathLst>
              <a:path w="457200" h="457200">
                <a:moveTo>
                  <a:pt x="50800" y="0"/>
                </a:moveTo>
                <a:lnTo>
                  <a:pt x="406400" y="0"/>
                </a:lnTo>
                <a:arcTo wR="50800" hR="50800" stAng="16200000" swAng="5400000"/>
                <a:lnTo>
                  <a:pt x="457200" y="406400"/>
                </a:lnTo>
                <a:arcTo wR="50800" hR="50800" stAng="0" swAng="5400000"/>
                <a:lnTo>
                  <a:pt x="50800" y="457200"/>
                </a:lnTo>
                <a:arcTo wR="50800" hR="50800" stAng="5400000" swAng="5400000"/>
                <a:lnTo>
                  <a:pt x="0" y="50800"/>
                </a:lnTo>
                <a:arcTo wR="50800" hR="50800" stAng="10800000" swAng="5400000"/>
                <a:close/>
              </a:path>
            </a:pathLst>
          </a:custGeom>
          <a:solidFill>
            <a:srgbClr val="FFFFFF"/>
          </a:solidFill>
          <a:ln/>
        </p:spPr>
        <p:txBody>
          <a:bodyPr wrap="square" lIns="0" tIns="0" rIns="0" bIns="0" rtlCol="0" anchor="t">
            <a:normAutofit/>
          </a:bodyPr>
          <a:lstStyle/>
          <a:p>
            <a:pPr marL="0" indent="0" algn="ctr">
              <a:lnSpc>
                <a:spcPts val="3608"/>
              </a:lnSpc>
              <a:buNone/>
            </a:pPr>
            <a:r>
              <a:rPr lang="en-US" sz="2200" b="1" dirty="0">
                <a:solidFill>
                  <a:srgbClr val="1F7AB8"/>
                </a:solidFill>
                <a:latin typeface="Caladea" pitchFamily="18" charset="0"/>
                <a:ea typeface="Caladea" pitchFamily="18" charset="-122"/>
                <a:cs typeface="Caladea" pitchFamily="18" charset="-120"/>
              </a:rPr>
              <a:t>2</a:t>
            </a:r>
            <a:endParaRPr lang="en-US" sz="2200" dirty="0"/>
          </a:p>
        </p:txBody>
      </p:sp>
      <p:sp>
        <p:nvSpPr>
          <p:cNvPr id="8" name="Text 6"/>
          <p:cNvSpPr/>
          <p:nvPr/>
        </p:nvSpPr>
        <p:spPr>
          <a:xfrm>
            <a:off x="1447800" y="2477596"/>
            <a:ext cx="10229342" cy="363207"/>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FFFFFF"/>
                </a:solidFill>
                <a:latin typeface="Caladea" pitchFamily="18" charset="0"/>
                <a:ea typeface="Caladea" pitchFamily="18" charset="-122"/>
                <a:cs typeface="Caladea" pitchFamily="18" charset="-120"/>
              </a:rPr>
              <a:t>Authorise two requests to WebberStop</a:t>
            </a:r>
            <a:endParaRPr lang="en-US" sz="1900" dirty="0"/>
          </a:p>
        </p:txBody>
      </p:sp>
      <p:sp>
        <p:nvSpPr>
          <p:cNvPr id="9" name="Text 7"/>
          <p:cNvSpPr/>
          <p:nvPr/>
        </p:nvSpPr>
        <p:spPr>
          <a:xfrm>
            <a:off x="1447800" y="2828098"/>
            <a:ext cx="1022934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0F8FD"/>
                </a:solidFill>
                <a:latin typeface="Carlito" pitchFamily="34" charset="0"/>
                <a:ea typeface="Carlito" pitchFamily="34" charset="-122"/>
                <a:cs typeface="Carlito" pitchFamily="34" charset="-120"/>
              </a:rPr>
              <a:t>The missing 40% discount, and a quote for six workloads (₹3.26 L estimate).</a:t>
            </a:r>
            <a:endParaRPr lang="en-US" sz="1500" dirty="0"/>
          </a:p>
        </p:txBody>
      </p:sp>
      <p:sp>
        <p:nvSpPr>
          <p:cNvPr id="10" name="Text 8"/>
          <p:cNvSpPr/>
          <p:nvPr/>
        </p:nvSpPr>
        <p:spPr>
          <a:xfrm>
            <a:off x="812800" y="3314469"/>
            <a:ext cx="457200" cy="457200"/>
          </a:xfrm>
          <a:custGeom>
            <a:avLst/>
            <a:gdLst/>
            <a:ahLst/>
            <a:cxnLst/>
            <a:rect l="l" t="t" r="r" b="b"/>
            <a:pathLst>
              <a:path w="457200" h="457200">
                <a:moveTo>
                  <a:pt x="50800" y="0"/>
                </a:moveTo>
                <a:lnTo>
                  <a:pt x="406400" y="0"/>
                </a:lnTo>
                <a:arcTo wR="50800" hR="50800" stAng="16200000" swAng="5400000"/>
                <a:lnTo>
                  <a:pt x="457200" y="406400"/>
                </a:lnTo>
                <a:arcTo wR="50800" hR="50800" stAng="0" swAng="5400000"/>
                <a:lnTo>
                  <a:pt x="50800" y="457200"/>
                </a:lnTo>
                <a:arcTo wR="50800" hR="50800" stAng="5400000" swAng="5400000"/>
                <a:lnTo>
                  <a:pt x="0" y="50800"/>
                </a:lnTo>
                <a:arcTo wR="50800" hR="50800" stAng="10800000" swAng="5400000"/>
                <a:close/>
              </a:path>
            </a:pathLst>
          </a:custGeom>
          <a:solidFill>
            <a:srgbClr val="FFFFFF"/>
          </a:solidFill>
          <a:ln/>
        </p:spPr>
        <p:txBody>
          <a:bodyPr wrap="square" lIns="0" tIns="0" rIns="0" bIns="0" rtlCol="0" anchor="t">
            <a:normAutofit/>
          </a:bodyPr>
          <a:lstStyle/>
          <a:p>
            <a:pPr marL="0" indent="0" algn="ctr">
              <a:lnSpc>
                <a:spcPts val="3608"/>
              </a:lnSpc>
              <a:buNone/>
            </a:pPr>
            <a:r>
              <a:rPr lang="en-US" sz="2200" b="1" dirty="0">
                <a:solidFill>
                  <a:srgbClr val="1F7AB8"/>
                </a:solidFill>
                <a:latin typeface="Caladea" pitchFamily="18" charset="0"/>
                <a:ea typeface="Caladea" pitchFamily="18" charset="-122"/>
                <a:cs typeface="Caladea" pitchFamily="18" charset="-120"/>
              </a:rPr>
              <a:t>3</a:t>
            </a:r>
            <a:endParaRPr lang="en-US" sz="2200" dirty="0"/>
          </a:p>
        </p:txBody>
      </p:sp>
      <p:sp>
        <p:nvSpPr>
          <p:cNvPr id="11" name="Text 9"/>
          <p:cNvSpPr/>
          <p:nvPr/>
        </p:nvSpPr>
        <p:spPr>
          <a:xfrm>
            <a:off x="1447800" y="3234498"/>
            <a:ext cx="10229342" cy="363207"/>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FFFFFF"/>
                </a:solidFill>
                <a:latin typeface="Caladea" pitchFamily="18" charset="0"/>
                <a:ea typeface="Caladea" pitchFamily="18" charset="-122"/>
                <a:cs typeface="Caladea" pitchFamily="18" charset="-120"/>
              </a:rPr>
              <a:t>Start the legal and security review now</a:t>
            </a:r>
            <a:endParaRPr lang="en-US" sz="1900" dirty="0"/>
          </a:p>
        </p:txBody>
      </p:sp>
      <p:sp>
        <p:nvSpPr>
          <p:cNvPr id="12" name="Text 10"/>
          <p:cNvSpPr/>
          <p:nvPr/>
        </p:nvSpPr>
        <p:spPr>
          <a:xfrm>
            <a:off x="1447800" y="3585013"/>
            <a:ext cx="1022934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0F8FD"/>
                </a:solidFill>
                <a:latin typeface="Carlito" pitchFamily="34" charset="0"/>
                <a:ea typeface="Carlito" pitchFamily="34" charset="-122"/>
                <a:cs typeface="Carlito" pitchFamily="34" charset="-120"/>
              </a:rPr>
              <a:t>Data location and contracts come before any move. ABHA is first.</a:t>
            </a:r>
            <a:endParaRPr lang="en-US" sz="1500" dirty="0"/>
          </a:p>
        </p:txBody>
      </p:sp>
      <p:sp>
        <p:nvSpPr>
          <p:cNvPr id="13" name="Text 11"/>
          <p:cNvSpPr/>
          <p:nvPr/>
        </p:nvSpPr>
        <p:spPr>
          <a:xfrm>
            <a:off x="812800" y="4071384"/>
            <a:ext cx="457200" cy="457200"/>
          </a:xfrm>
          <a:custGeom>
            <a:avLst/>
            <a:gdLst/>
            <a:ahLst/>
            <a:cxnLst/>
            <a:rect l="l" t="t" r="r" b="b"/>
            <a:pathLst>
              <a:path w="457200" h="457200">
                <a:moveTo>
                  <a:pt x="50800" y="0"/>
                </a:moveTo>
                <a:lnTo>
                  <a:pt x="406400" y="0"/>
                </a:lnTo>
                <a:arcTo wR="50800" hR="50800" stAng="16200000" swAng="5400000"/>
                <a:lnTo>
                  <a:pt x="457200" y="406400"/>
                </a:lnTo>
                <a:arcTo wR="50800" hR="50800" stAng="0" swAng="5400000"/>
                <a:lnTo>
                  <a:pt x="50800" y="457200"/>
                </a:lnTo>
                <a:arcTo wR="50800" hR="50800" stAng="5400000" swAng="5400000"/>
                <a:lnTo>
                  <a:pt x="0" y="50800"/>
                </a:lnTo>
                <a:arcTo wR="50800" hR="50800" stAng="10800000" swAng="5400000"/>
                <a:close/>
              </a:path>
            </a:pathLst>
          </a:custGeom>
          <a:solidFill>
            <a:srgbClr val="FFFFFF"/>
          </a:solidFill>
          <a:ln/>
        </p:spPr>
        <p:txBody>
          <a:bodyPr wrap="square" lIns="0" tIns="0" rIns="0" bIns="0" rtlCol="0" anchor="t">
            <a:normAutofit/>
          </a:bodyPr>
          <a:lstStyle/>
          <a:p>
            <a:pPr marL="0" indent="0" algn="ctr">
              <a:lnSpc>
                <a:spcPts val="3608"/>
              </a:lnSpc>
              <a:buNone/>
            </a:pPr>
            <a:r>
              <a:rPr lang="en-US" sz="2200" b="1" dirty="0">
                <a:solidFill>
                  <a:srgbClr val="1F7AB8"/>
                </a:solidFill>
                <a:latin typeface="Caladea" pitchFamily="18" charset="0"/>
                <a:ea typeface="Caladea" pitchFamily="18" charset="-122"/>
                <a:cs typeface="Caladea" pitchFamily="18" charset="-120"/>
              </a:rPr>
              <a:t>4</a:t>
            </a:r>
            <a:endParaRPr lang="en-US" sz="2200" dirty="0"/>
          </a:p>
        </p:txBody>
      </p:sp>
      <p:sp>
        <p:nvSpPr>
          <p:cNvPr id="14" name="Text 12"/>
          <p:cNvSpPr/>
          <p:nvPr/>
        </p:nvSpPr>
        <p:spPr>
          <a:xfrm>
            <a:off x="1447800" y="3991413"/>
            <a:ext cx="10229342" cy="363207"/>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FFFFFF"/>
                </a:solidFill>
                <a:latin typeface="Caladea" pitchFamily="18" charset="0"/>
                <a:ea typeface="Caladea" pitchFamily="18" charset="-122"/>
                <a:cs typeface="Caladea" pitchFamily="18" charset="-120"/>
              </a:rPr>
              <a:t>Set aside budget for capacity fixes</a:t>
            </a:r>
            <a:endParaRPr lang="en-US" sz="1900" dirty="0"/>
          </a:p>
        </p:txBody>
      </p:sp>
      <p:sp>
        <p:nvSpPr>
          <p:cNvPr id="15" name="Text 13"/>
          <p:cNvSpPr/>
          <p:nvPr/>
        </p:nvSpPr>
        <p:spPr>
          <a:xfrm>
            <a:off x="1447800" y="4341916"/>
            <a:ext cx="1022934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0F8FD"/>
                </a:solidFill>
                <a:latin typeface="Carlito" pitchFamily="34" charset="0"/>
                <a:ea typeface="Carlito" pitchFamily="34" charset="-122"/>
                <a:cs typeface="Carlito" pitchFamily="34" charset="-120"/>
              </a:rPr>
              <a:t>19 servers are short of capacity. DevOps and DBA size the amount in week 1.</a:t>
            </a:r>
            <a:endParaRPr lang="en-US" sz="1500" dirty="0"/>
          </a:p>
        </p:txBody>
      </p:sp>
      <p:sp>
        <p:nvSpPr>
          <p:cNvPr id="16" name="Text 14"/>
          <p:cNvSpPr/>
          <p:nvPr/>
        </p:nvSpPr>
        <p:spPr>
          <a:xfrm>
            <a:off x="812800" y="4828286"/>
            <a:ext cx="457200" cy="457200"/>
          </a:xfrm>
          <a:custGeom>
            <a:avLst/>
            <a:gdLst/>
            <a:ahLst/>
            <a:cxnLst/>
            <a:rect l="l" t="t" r="r" b="b"/>
            <a:pathLst>
              <a:path w="457200" h="457200">
                <a:moveTo>
                  <a:pt x="50800" y="0"/>
                </a:moveTo>
                <a:lnTo>
                  <a:pt x="406400" y="0"/>
                </a:lnTo>
                <a:arcTo wR="50800" hR="50800" stAng="16200000" swAng="5400000"/>
                <a:lnTo>
                  <a:pt x="457200" y="406400"/>
                </a:lnTo>
                <a:arcTo wR="50800" hR="50800" stAng="0" swAng="5400000"/>
                <a:lnTo>
                  <a:pt x="50800" y="457200"/>
                </a:lnTo>
                <a:arcTo wR="50800" hR="50800" stAng="5400000" swAng="5400000"/>
                <a:lnTo>
                  <a:pt x="0" y="50800"/>
                </a:lnTo>
                <a:arcTo wR="50800" hR="50800" stAng="10800000" swAng="5400000"/>
                <a:close/>
              </a:path>
            </a:pathLst>
          </a:custGeom>
          <a:solidFill>
            <a:srgbClr val="FFFFFF"/>
          </a:solidFill>
          <a:ln/>
        </p:spPr>
        <p:txBody>
          <a:bodyPr wrap="square" lIns="0" tIns="0" rIns="0" bIns="0" rtlCol="0" anchor="t">
            <a:normAutofit/>
          </a:bodyPr>
          <a:lstStyle/>
          <a:p>
            <a:pPr marL="0" indent="0" algn="ctr">
              <a:lnSpc>
                <a:spcPts val="3608"/>
              </a:lnSpc>
              <a:buNone/>
            </a:pPr>
            <a:r>
              <a:rPr lang="en-US" sz="2200" b="1" dirty="0">
                <a:solidFill>
                  <a:srgbClr val="1F7AB8"/>
                </a:solidFill>
                <a:latin typeface="Caladea" pitchFamily="18" charset="0"/>
                <a:ea typeface="Caladea" pitchFamily="18" charset="-122"/>
                <a:cs typeface="Caladea" pitchFamily="18" charset="-120"/>
              </a:rPr>
              <a:t>5</a:t>
            </a:r>
            <a:endParaRPr lang="en-US" sz="2200" dirty="0"/>
          </a:p>
        </p:txBody>
      </p:sp>
      <p:sp>
        <p:nvSpPr>
          <p:cNvPr id="17" name="Text 15"/>
          <p:cNvSpPr/>
          <p:nvPr/>
        </p:nvSpPr>
        <p:spPr>
          <a:xfrm>
            <a:off x="1447800" y="4748316"/>
            <a:ext cx="10229342" cy="363207"/>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FFFFFF"/>
                </a:solidFill>
                <a:latin typeface="Caladea" pitchFamily="18" charset="0"/>
                <a:ea typeface="Caladea" pitchFamily="18" charset="-122"/>
                <a:cs typeface="Caladea" pitchFamily="18" charset="-120"/>
              </a:rPr>
              <a:t>Review progress at day 30 and day 90</a:t>
            </a:r>
            <a:endParaRPr lang="en-US" sz="1900" dirty="0"/>
          </a:p>
        </p:txBody>
      </p:sp>
      <p:sp>
        <p:nvSpPr>
          <p:cNvPr id="18" name="Text 16"/>
          <p:cNvSpPr/>
          <p:nvPr/>
        </p:nvSpPr>
        <p:spPr>
          <a:xfrm>
            <a:off x="1447800" y="5098819"/>
            <a:ext cx="1022934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0F8FD"/>
                </a:solidFill>
                <a:latin typeface="Carlito" pitchFamily="34" charset="0"/>
                <a:ea typeface="Carlito" pitchFamily="34" charset="-122"/>
                <a:cs typeface="Carlito" pitchFamily="34" charset="-120"/>
              </a:rPr>
              <a:t>Proven, confirmed and assumed savings, against ₹10.2 L to ₹13.6 L a month.</a:t>
            </a:r>
            <a:endParaRPr lang="en-US" sz="1500" dirty="0"/>
          </a:p>
        </p:txBody>
      </p:sp>
      <p:sp>
        <p:nvSpPr>
          <p:cNvPr id="19" name="Text 1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6F3FB"/>
                </a:solidFill>
                <a:latin typeface="Carlito" pitchFamily="34" charset="0"/>
                <a:ea typeface="Carlito" pitchFamily="34" charset="-122"/>
                <a:cs typeface="Carlito" pitchFamily="34" charset="-120"/>
              </a:rPr>
              <a:t>MARG cloud cost plan · 90 days</a:t>
            </a:r>
            <a:endParaRPr lang="en-US" sz="1200" dirty="0"/>
          </a:p>
        </p:txBody>
      </p:sp>
      <p:sp>
        <p:nvSpPr>
          <p:cNvPr id="20" name="Text 1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E6F3FB"/>
                </a:solidFill>
                <a:latin typeface="Carlito" pitchFamily="34" charset="0"/>
                <a:ea typeface="Carlito" pitchFamily="34" charset="-122"/>
                <a:cs typeface="Carlito" pitchFamily="34" charset="-120"/>
              </a:rPr>
              <a:t>16</a:t>
            </a:r>
            <a:endParaRPr lang="en-US" sz="1200" dirty="0"/>
          </a:p>
        </p:txBody>
      </p:sp>
      <p:sp>
        <p:nvSpPr>
          <p:cNvPr id="22" name="Text 14">
            <a:extLst>
              <a:ext uri="{FF2B5EF4-FFF2-40B4-BE49-F238E27FC236}">
                <a16:creationId xmlns:a16="http://schemas.microsoft.com/office/drawing/2014/main" id="{F11F0F9B-4966-0BE8-1222-1B923B2C08EE}"/>
              </a:ext>
            </a:extLst>
          </p:cNvPr>
          <p:cNvSpPr/>
          <p:nvPr/>
        </p:nvSpPr>
        <p:spPr>
          <a:xfrm>
            <a:off x="818555" y="5550025"/>
            <a:ext cx="457200" cy="457200"/>
          </a:xfrm>
          <a:custGeom>
            <a:avLst/>
            <a:gdLst/>
            <a:ahLst/>
            <a:cxnLst/>
            <a:rect l="l" t="t" r="r" b="b"/>
            <a:pathLst>
              <a:path w="457200" h="457200">
                <a:moveTo>
                  <a:pt x="50800" y="0"/>
                </a:moveTo>
                <a:lnTo>
                  <a:pt x="406400" y="0"/>
                </a:lnTo>
                <a:arcTo wR="50800" hR="50800" stAng="16200000" swAng="5400000"/>
                <a:lnTo>
                  <a:pt x="457200" y="406400"/>
                </a:lnTo>
                <a:arcTo wR="50800" hR="50800" stAng="0" swAng="5400000"/>
                <a:lnTo>
                  <a:pt x="50800" y="457200"/>
                </a:lnTo>
                <a:arcTo wR="50800" hR="50800" stAng="5400000" swAng="5400000"/>
                <a:lnTo>
                  <a:pt x="0" y="50800"/>
                </a:lnTo>
                <a:arcTo wR="50800" hR="50800" stAng="10800000" swAng="5400000"/>
                <a:close/>
              </a:path>
            </a:pathLst>
          </a:custGeom>
          <a:solidFill>
            <a:srgbClr val="FFFFFF"/>
          </a:solidFill>
          <a:ln/>
        </p:spPr>
        <p:txBody>
          <a:bodyPr wrap="square" lIns="0" tIns="0" rIns="0" bIns="0" rtlCol="0" anchor="t">
            <a:normAutofit/>
          </a:bodyPr>
          <a:lstStyle/>
          <a:p>
            <a:pPr marL="0" indent="0" algn="ctr">
              <a:lnSpc>
                <a:spcPts val="3608"/>
              </a:lnSpc>
              <a:buNone/>
            </a:pPr>
            <a:r>
              <a:rPr lang="en-US" sz="2200" b="1" dirty="0">
                <a:solidFill>
                  <a:srgbClr val="1F7AB8"/>
                </a:solidFill>
                <a:latin typeface="Caladea" pitchFamily="18" charset="0"/>
                <a:ea typeface="Caladea" pitchFamily="18" charset="-122"/>
                <a:cs typeface="Caladea" pitchFamily="18" charset="-120"/>
              </a:rPr>
              <a:t>6</a:t>
            </a:r>
            <a:endParaRPr lang="en-US" sz="2200" dirty="0"/>
          </a:p>
        </p:txBody>
      </p:sp>
      <p:sp>
        <p:nvSpPr>
          <p:cNvPr id="24" name="Text 15">
            <a:extLst>
              <a:ext uri="{FF2B5EF4-FFF2-40B4-BE49-F238E27FC236}">
                <a16:creationId xmlns:a16="http://schemas.microsoft.com/office/drawing/2014/main" id="{501B6B18-2D1E-1AAF-7420-5F355A1AC521}"/>
              </a:ext>
            </a:extLst>
          </p:cNvPr>
          <p:cNvSpPr/>
          <p:nvPr/>
        </p:nvSpPr>
        <p:spPr>
          <a:xfrm>
            <a:off x="1462181" y="5470055"/>
            <a:ext cx="10229342" cy="363207"/>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FFFFFF"/>
                </a:solidFill>
                <a:latin typeface="Caladea" pitchFamily="18" charset="0"/>
                <a:ea typeface="Caladea" pitchFamily="18" charset="-122"/>
                <a:cs typeface="Caladea" pitchFamily="18" charset="-120"/>
              </a:rPr>
              <a:t>Decide on urgent basis the live order database migration for MARG ERP to Webber.</a:t>
            </a:r>
            <a:endParaRPr lang="en-US" sz="1900" dirty="0"/>
          </a:p>
        </p:txBody>
      </p:sp>
      <p:sp>
        <p:nvSpPr>
          <p:cNvPr id="26" name="Text 16">
            <a:extLst>
              <a:ext uri="{FF2B5EF4-FFF2-40B4-BE49-F238E27FC236}">
                <a16:creationId xmlns:a16="http://schemas.microsoft.com/office/drawing/2014/main" id="{CBA10744-D11E-91D3-FA28-B6757A9F8D80}"/>
              </a:ext>
            </a:extLst>
          </p:cNvPr>
          <p:cNvSpPr/>
          <p:nvPr/>
        </p:nvSpPr>
        <p:spPr>
          <a:xfrm>
            <a:off x="1462181" y="5820558"/>
            <a:ext cx="1022934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0F8FD"/>
                </a:solidFill>
                <a:latin typeface="Carlito" pitchFamily="34" charset="0"/>
                <a:ea typeface="Carlito" pitchFamily="34" charset="-122"/>
                <a:cs typeface="Carlito" pitchFamily="34" charset="-120"/>
              </a:rPr>
              <a:t>Confirmed and assumed savings, around ₹15.0 L a month at a minimum.</a:t>
            </a:r>
            <a:endParaRPr lang="en-US" sz="1500" dirty="0"/>
          </a:p>
        </p:txBody>
      </p:sp>
    </p:spTree>
  </p:cSld>
  <p:clrMapOvr>
    <a:masterClrMapping/>
  </p:clrMapOvr>
</p:sld>
</file>

<file path=ppt/theme/theme1.xml><?xml version="1.0" encoding="utf-8"?>
<a:theme xmlns:a="http://schemas.openxmlformats.org/drawingml/2006/main" name="MARG cloud cost action plan">
  <a:themeElements>
    <a:clrScheme name="MARG cloud cost action plan">
      <a:dk1>
        <a:srgbClr val="14324A"/>
      </a:dk1>
      <a:lt1>
        <a:srgbClr val="FFFFFF"/>
      </a:lt1>
      <a:dk2>
        <a:srgbClr val="4F6577"/>
      </a:dk2>
      <a:lt2>
        <a:srgbClr val="E8EBED"/>
      </a:lt2>
      <a:accent1>
        <a:srgbClr val="4A6479"/>
      </a:accent1>
      <a:accent2>
        <a:srgbClr val="1F7AB8"/>
      </a:accent2>
      <a:accent3>
        <a:srgbClr val="5B7388"/>
      </a:accent3>
      <a:accent4>
        <a:srgbClr val="7CC0EA"/>
      </a:accent4>
      <a:accent5>
        <a:srgbClr val="16578A"/>
      </a:accent5>
      <a:accent6>
        <a:srgbClr val="A4D3F0"/>
      </a:accent6>
      <a:hlink>
        <a:srgbClr val="0563C1"/>
      </a:hlink>
      <a:folHlink>
        <a:srgbClr val="954F72"/>
      </a:folHlink>
    </a:clrScheme>
    <a:fontScheme name="MARG cloud cost action plan">
      <a:majorFont>
        <a:latin typeface="Calade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rl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3405</Words>
  <Application>Microsoft Office PowerPoint</Application>
  <PresentationFormat>Widescreen</PresentationFormat>
  <Paragraphs>350</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Caladea</vt:lpstr>
      <vt:lpstr>Carlito</vt:lpstr>
      <vt:lpstr>MARG cloud cost action plan</vt:lpstr>
      <vt:lpstr>Cut MARG’s cloud bill by 15–20% in 90 days</vt:lpstr>
      <vt:lpstr>₹68.1 L a month today; up to ₹14.7 L* can be saved</vt:lpstr>
      <vt:lpstr>Spend is up 9% since April, driven by WebberStop</vt:lpstr>
      <vt:lpstr>Servers use only 8% of the CPU we pay for</vt:lpstr>
      <vt:lpstr>Every saving is labelled by how firm it is</vt:lpstr>
      <vt:lpstr>Eight actions carry most of the saving</vt:lpstr>
      <vt:lpstr>The 90-day target is up to ₹14.7 L a month*</vt:lpstr>
      <vt:lpstr>Quick wins first, then size, then move</vt:lpstr>
      <vt:lpstr>Quick wins and urgent fixes: up to ₹4.3 L a month</vt:lpstr>
      <vt:lpstr>Switch off, right-size and tune: up to ₹6.6 L a month</vt:lpstr>
      <vt:lpstr>Moving six workloads to WebberStop saves up to ₹3.26 L</vt:lpstr>
      <vt:lpstr>Three checks must clear before more workloads move</vt:lpstr>
      <vt:lpstr>Every action has a check and a way back</vt:lpstr>
      <vt:lpstr>Six owners confirm the actions, each with a date</vt:lpstr>
      <vt:lpstr>A monthly cycle keeps the savings coming</vt:lpstr>
      <vt:lpstr>What we need from management this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MARG cloud cost action plan</dc:title>
  <dc:subject/>
  <dc:creator/>
  <cp:lastModifiedBy>Ram Nagaraja</cp:lastModifiedBy>
  <cp:revision>10</cp:revision>
  <dcterms:created xsi:type="dcterms:W3CDTF">2026-10-20T10:55:19Z</dcterms:created>
  <dcterms:modified xsi:type="dcterms:W3CDTF">2026-10-20T13:51:48Z</dcterms:modified>
</cp:coreProperties>
</file>