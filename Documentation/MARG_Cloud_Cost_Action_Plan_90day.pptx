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56"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Azure (net)</c:v>
                </c:pt>
              </c:strCache>
            </c:strRef>
          </c:tx>
          <c:spPr>
            <a:solidFill>
              <a:srgbClr val="33475B"/>
            </a:solidFill>
            <a:effectLst/>
          </c:spPr>
          <c:invertIfNegative val="0"/>
          <c:dLbls>
            <c:numFmt formatCode="0.0" sourceLinked="0"/>
            <c:spPr>
              <a:noFill/>
              <a:ln>
                <a:noFill/>
              </a:ln>
              <a:effectLst/>
            </c:spPr>
            <c:txPr>
              <a:bodyPr/>
              <a:lstStyle/>
              <a:p>
                <a:pPr>
                  <a:defRPr sz="16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Apr (62.4)</c:v>
                </c:pt>
                <c:pt idx="1">
                  <c:v>May (60.9)</c:v>
                </c:pt>
                <c:pt idx="2">
                  <c:v>Jun (54.4)</c:v>
                </c:pt>
                <c:pt idx="3">
                  <c:v>Jul (60.4)</c:v>
                </c:pt>
                <c:pt idx="4">
                  <c:v>Aug (64.5)</c:v>
                </c:pt>
                <c:pt idx="5">
                  <c:v>Sep (68.1)</c:v>
                </c:pt>
              </c:strCache>
            </c:strRef>
          </c:cat>
          <c:val>
            <c:numRef>
              <c:f>Sheet1!$B$2:$B$7</c:f>
              <c:numCache>
                <c:formatCode>General</c:formatCode>
                <c:ptCount val="6"/>
                <c:pt idx="0">
                  <c:v>31.54</c:v>
                </c:pt>
                <c:pt idx="1">
                  <c:v>29.59</c:v>
                </c:pt>
                <c:pt idx="2">
                  <c:v>24.49</c:v>
                </c:pt>
                <c:pt idx="3">
                  <c:v>26.86</c:v>
                </c:pt>
                <c:pt idx="4">
                  <c:v>29.47</c:v>
                </c:pt>
                <c:pt idx="5">
                  <c:v>29.81</c:v>
                </c:pt>
              </c:numCache>
            </c:numRef>
          </c:val>
          <c:extLst>
            <c:ext xmlns:c16="http://schemas.microsoft.com/office/drawing/2014/chart" uri="{C3380CC4-5D6E-409C-BE32-E72D297353CC}">
              <c16:uniqueId val="{00000000-5779-4094-BB56-ADED5B17A8C8}"/>
            </c:ext>
          </c:extLst>
        </c:ser>
        <c:ser>
          <c:idx val="1"/>
          <c:order val="1"/>
          <c:tx>
            <c:strRef>
              <c:f>Sheet1!$C$1</c:f>
              <c:strCache>
                <c:ptCount val="1"/>
                <c:pt idx="0">
                  <c:v>WebberStop servers</c:v>
                </c:pt>
              </c:strCache>
            </c:strRef>
          </c:tx>
          <c:spPr>
            <a:solidFill>
              <a:srgbClr val="7A1C1C"/>
            </a:solidFill>
            <a:effectLst/>
          </c:spPr>
          <c:invertIfNegative val="0"/>
          <c:dLbls>
            <c:numFmt formatCode="0.0" sourceLinked="0"/>
            <c:spPr>
              <a:noFill/>
              <a:ln>
                <a:noFill/>
              </a:ln>
              <a:effectLst/>
            </c:spPr>
            <c:txPr>
              <a:bodyPr/>
              <a:lstStyle/>
              <a:p>
                <a:pPr>
                  <a:defRPr sz="16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Apr (62.4)</c:v>
                </c:pt>
                <c:pt idx="1">
                  <c:v>May (60.9)</c:v>
                </c:pt>
                <c:pt idx="2">
                  <c:v>Jun (54.4)</c:v>
                </c:pt>
                <c:pt idx="3">
                  <c:v>Jul (60.4)</c:v>
                </c:pt>
                <c:pt idx="4">
                  <c:v>Aug (64.5)</c:v>
                </c:pt>
                <c:pt idx="5">
                  <c:v>Sep (68.1)</c:v>
                </c:pt>
              </c:strCache>
            </c:strRef>
          </c:cat>
          <c:val>
            <c:numRef>
              <c:f>Sheet1!$C$2:$C$7</c:f>
              <c:numCache>
                <c:formatCode>General</c:formatCode>
                <c:ptCount val="6"/>
                <c:pt idx="0">
                  <c:v>25.16</c:v>
                </c:pt>
                <c:pt idx="1">
                  <c:v>25.7</c:v>
                </c:pt>
                <c:pt idx="2">
                  <c:v>24.74</c:v>
                </c:pt>
                <c:pt idx="3">
                  <c:v>25.88</c:v>
                </c:pt>
                <c:pt idx="4">
                  <c:v>26.59</c:v>
                </c:pt>
                <c:pt idx="5">
                  <c:v>29.58</c:v>
                </c:pt>
              </c:numCache>
            </c:numRef>
          </c:val>
          <c:extLst>
            <c:ext xmlns:c16="http://schemas.microsoft.com/office/drawing/2014/chart" uri="{C3380CC4-5D6E-409C-BE32-E72D297353CC}">
              <c16:uniqueId val="{00000001-5779-4094-BB56-ADED5B17A8C8}"/>
            </c:ext>
          </c:extLst>
        </c:ser>
        <c:ser>
          <c:idx val="2"/>
          <c:order val="2"/>
          <c:tx>
            <c:strRef>
              <c:f>Sheet1!$D$1</c:f>
              <c:strCache>
                <c:ptCount val="1"/>
                <c:pt idx="0">
                  <c:v>WebberStop shared (backup, Kubernetes, firewall)</c:v>
                </c:pt>
              </c:strCache>
            </c:strRef>
          </c:tx>
          <c:spPr>
            <a:solidFill>
              <a:srgbClr val="6B7F94"/>
            </a:solidFill>
            <a:effectLst/>
          </c:spPr>
          <c:invertIfNegative val="0"/>
          <c:dLbls>
            <c:numFmt formatCode="0.0" sourceLinked="0"/>
            <c:spPr>
              <a:noFill/>
              <a:ln>
                <a:noFill/>
              </a:ln>
              <a:effectLst/>
            </c:spPr>
            <c:txPr>
              <a:bodyPr/>
              <a:lstStyle/>
              <a:p>
                <a:pPr>
                  <a:defRPr sz="16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Apr (62.4)</c:v>
                </c:pt>
                <c:pt idx="1">
                  <c:v>May (60.9)</c:v>
                </c:pt>
                <c:pt idx="2">
                  <c:v>Jun (54.4)</c:v>
                </c:pt>
                <c:pt idx="3">
                  <c:v>Jul (60.4)</c:v>
                </c:pt>
                <c:pt idx="4">
                  <c:v>Aug (64.5)</c:v>
                </c:pt>
                <c:pt idx="5">
                  <c:v>Sep (68.1)</c:v>
                </c:pt>
              </c:strCache>
            </c:strRef>
          </c:cat>
          <c:val>
            <c:numRef>
              <c:f>Sheet1!$D$2:$D$7</c:f>
              <c:numCache>
                <c:formatCode>General</c:formatCode>
                <c:ptCount val="6"/>
                <c:pt idx="0">
                  <c:v>5.7</c:v>
                </c:pt>
                <c:pt idx="1">
                  <c:v>5.56</c:v>
                </c:pt>
                <c:pt idx="2">
                  <c:v>5.17</c:v>
                </c:pt>
                <c:pt idx="3">
                  <c:v>7.61</c:v>
                </c:pt>
                <c:pt idx="4">
                  <c:v>8.41</c:v>
                </c:pt>
                <c:pt idx="5">
                  <c:v>8.7200000000000006</c:v>
                </c:pt>
              </c:numCache>
            </c:numRef>
          </c:val>
          <c:extLst>
            <c:ext xmlns:c16="http://schemas.microsoft.com/office/drawing/2014/chart" uri="{C3380CC4-5D6E-409C-BE32-E72D297353CC}">
              <c16:uniqueId val="{00000002-5779-4094-BB56-ADED5B17A8C8}"/>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D2733"/>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CFD6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56273"/>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600">
              <a:solidFill>
                <a:srgbClr val="1D27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Azure VMs</c:v>
                </c:pt>
              </c:strCache>
            </c:strRef>
          </c:tx>
          <c:spPr>
            <a:ln w="38100" cap="flat">
              <a:solidFill>
                <a:srgbClr val="33475B"/>
              </a:solidFill>
              <a:prstDash val="solid"/>
              <a:round/>
            </a:ln>
            <a:effectLst/>
          </c:spPr>
          <c:marker>
            <c:symbol val="circle"/>
            <c:size val="8"/>
            <c:spPr>
              <a:solidFill>
                <a:srgbClr val="33475B"/>
              </a:solidFill>
              <a:ln w="9525" cap="flat">
                <a:solidFill>
                  <a:srgbClr val="33475B"/>
                </a:solidFill>
                <a:prstDash val="solid"/>
                <a:round/>
              </a:ln>
              <a:effectLst/>
            </c:spPr>
          </c:marker>
          <c:cat>
            <c:strRef>
              <c:f>Sheet1!$A$2:$A$7</c:f>
              <c:strCache>
                <c:ptCount val="6"/>
                <c:pt idx="0">
                  <c:v>May</c:v>
                </c:pt>
                <c:pt idx="1">
                  <c:v>Jun</c:v>
                </c:pt>
                <c:pt idx="2">
                  <c:v>Jul</c:v>
                </c:pt>
                <c:pt idx="3">
                  <c:v>Aug</c:v>
                </c:pt>
                <c:pt idx="4">
                  <c:v>Sep</c:v>
                </c:pt>
                <c:pt idx="5">
                  <c:v>Oct*</c:v>
                </c:pt>
              </c:strCache>
            </c:strRef>
          </c:cat>
          <c:val>
            <c:numRef>
              <c:f>Sheet1!$B$2:$B$7</c:f>
              <c:numCache>
                <c:formatCode>General</c:formatCode>
                <c:ptCount val="6"/>
                <c:pt idx="0">
                  <c:v>14.8</c:v>
                </c:pt>
                <c:pt idx="1">
                  <c:v>16.2</c:v>
                </c:pt>
                <c:pt idx="2">
                  <c:v>15.6</c:v>
                </c:pt>
                <c:pt idx="3">
                  <c:v>16.100000000000001</c:v>
                </c:pt>
                <c:pt idx="4">
                  <c:v>17.5</c:v>
                </c:pt>
                <c:pt idx="5">
                  <c:v>17.8</c:v>
                </c:pt>
              </c:numCache>
            </c:numRef>
          </c:val>
          <c:smooth val="0"/>
          <c:extLst>
            <c:ext xmlns:c16="http://schemas.microsoft.com/office/drawing/2014/chart" uri="{C3380CC4-5D6E-409C-BE32-E72D297353CC}">
              <c16:uniqueId val="{00000000-25CC-4FD7-859B-6079230EC30F}"/>
            </c:ext>
          </c:extLst>
        </c:ser>
        <c:ser>
          <c:idx val="1"/>
          <c:order val="1"/>
          <c:tx>
            <c:strRef>
              <c:f>Sheet1!$C$1</c:f>
              <c:strCache>
                <c:ptCount val="1"/>
                <c:pt idx="0">
                  <c:v>BOOKS</c:v>
                </c:pt>
              </c:strCache>
            </c:strRef>
          </c:tx>
          <c:spPr>
            <a:ln w="38100" cap="flat">
              <a:solidFill>
                <a:srgbClr val="7A1C1C"/>
              </a:solidFill>
              <a:prstDash val="solid"/>
              <a:round/>
            </a:ln>
            <a:effectLst/>
          </c:spPr>
          <c:marker>
            <c:symbol val="circle"/>
            <c:size val="8"/>
            <c:spPr>
              <a:solidFill>
                <a:srgbClr val="7A1C1C"/>
              </a:solidFill>
              <a:ln w="9525" cap="flat">
                <a:solidFill>
                  <a:srgbClr val="7A1C1C"/>
                </a:solidFill>
                <a:prstDash val="solid"/>
                <a:round/>
              </a:ln>
              <a:effectLst/>
            </c:spPr>
          </c:marker>
          <c:cat>
            <c:strRef>
              <c:f>Sheet1!$A$2:$A$7</c:f>
              <c:strCache>
                <c:ptCount val="6"/>
                <c:pt idx="0">
                  <c:v>May</c:v>
                </c:pt>
                <c:pt idx="1">
                  <c:v>Jun</c:v>
                </c:pt>
                <c:pt idx="2">
                  <c:v>Jul</c:v>
                </c:pt>
                <c:pt idx="3">
                  <c:v>Aug</c:v>
                </c:pt>
                <c:pt idx="4">
                  <c:v>Sep</c:v>
                </c:pt>
                <c:pt idx="5">
                  <c:v>Oct*</c:v>
                </c:pt>
              </c:strCache>
            </c:strRef>
          </c:cat>
          <c:val>
            <c:numRef>
              <c:f>Sheet1!$C$2:$C$7</c:f>
              <c:numCache>
                <c:formatCode>General</c:formatCode>
                <c:ptCount val="6"/>
                <c:pt idx="0">
                  <c:v>6</c:v>
                </c:pt>
                <c:pt idx="1">
                  <c:v>6.3</c:v>
                </c:pt>
                <c:pt idx="2">
                  <c:v>7.1</c:v>
                </c:pt>
                <c:pt idx="3">
                  <c:v>5.7</c:v>
                </c:pt>
                <c:pt idx="4">
                  <c:v>7</c:v>
                </c:pt>
                <c:pt idx="5">
                  <c:v>8.1999999999999993</c:v>
                </c:pt>
              </c:numCache>
            </c:numRef>
          </c:val>
          <c:smooth val="0"/>
          <c:extLst>
            <c:ext xmlns:c16="http://schemas.microsoft.com/office/drawing/2014/chart" uri="{C3380CC4-5D6E-409C-BE32-E72D297353CC}">
              <c16:uniqueId val="{00000001-25CC-4FD7-859B-6079230EC30F}"/>
            </c:ext>
          </c:extLst>
        </c:ser>
        <c:ser>
          <c:idx val="2"/>
          <c:order val="2"/>
          <c:tx>
            <c:strRef>
              <c:f>Sheet1!$D$1</c:f>
              <c:strCache>
                <c:ptCount val="1"/>
                <c:pt idx="0">
                  <c:v>CLOUD</c:v>
                </c:pt>
              </c:strCache>
            </c:strRef>
          </c:tx>
          <c:spPr>
            <a:ln w="38100" cap="flat">
              <a:solidFill>
                <a:srgbClr val="3D7A58"/>
              </a:solidFill>
              <a:prstDash val="solid"/>
              <a:round/>
            </a:ln>
            <a:effectLst/>
          </c:spPr>
          <c:marker>
            <c:symbol val="circle"/>
            <c:size val="8"/>
            <c:spPr>
              <a:solidFill>
                <a:srgbClr val="3D7A58"/>
              </a:solidFill>
              <a:ln w="9525" cap="flat">
                <a:solidFill>
                  <a:srgbClr val="3D7A58"/>
                </a:solidFill>
                <a:prstDash val="solid"/>
                <a:round/>
              </a:ln>
              <a:effectLst/>
            </c:spPr>
          </c:marker>
          <c:cat>
            <c:strRef>
              <c:f>Sheet1!$A$2:$A$7</c:f>
              <c:strCache>
                <c:ptCount val="6"/>
                <c:pt idx="0">
                  <c:v>May</c:v>
                </c:pt>
                <c:pt idx="1">
                  <c:v>Jun</c:v>
                </c:pt>
                <c:pt idx="2">
                  <c:v>Jul</c:v>
                </c:pt>
                <c:pt idx="3">
                  <c:v>Aug</c:v>
                </c:pt>
                <c:pt idx="4">
                  <c:v>Sep</c:v>
                </c:pt>
                <c:pt idx="5">
                  <c:v>Oct*</c:v>
                </c:pt>
              </c:strCache>
            </c:strRef>
          </c:cat>
          <c:val>
            <c:numRef>
              <c:f>Sheet1!$D$2:$D$7</c:f>
              <c:numCache>
                <c:formatCode>General</c:formatCode>
                <c:ptCount val="6"/>
                <c:pt idx="0">
                  <c:v>6.1</c:v>
                </c:pt>
                <c:pt idx="1">
                  <c:v>6.5</c:v>
                </c:pt>
                <c:pt idx="2">
                  <c:v>6.9</c:v>
                </c:pt>
                <c:pt idx="3">
                  <c:v>6.6</c:v>
                </c:pt>
                <c:pt idx="4">
                  <c:v>7.8</c:v>
                </c:pt>
                <c:pt idx="5">
                  <c:v>7.2</c:v>
                </c:pt>
              </c:numCache>
            </c:numRef>
          </c:val>
          <c:smooth val="0"/>
          <c:extLst>
            <c:ext xmlns:c16="http://schemas.microsoft.com/office/drawing/2014/chart" uri="{C3380CC4-5D6E-409C-BE32-E72D297353CC}">
              <c16:uniqueId val="{00000002-25CC-4FD7-859B-6079230EC30F}"/>
            </c:ext>
          </c:extLst>
        </c:ser>
        <c:ser>
          <c:idx val="3"/>
          <c:order val="3"/>
          <c:tx>
            <c:strRef>
              <c:f>Sheet1!$E$1</c:f>
              <c:strCache>
                <c:ptCount val="1"/>
                <c:pt idx="0">
                  <c:v>ERP</c:v>
                </c:pt>
              </c:strCache>
            </c:strRef>
          </c:tx>
          <c:spPr>
            <a:ln w="38100" cap="flat">
              <a:solidFill>
                <a:srgbClr val="8892A0"/>
              </a:solidFill>
              <a:prstDash val="solid"/>
              <a:round/>
            </a:ln>
            <a:effectLst/>
          </c:spPr>
          <c:marker>
            <c:symbol val="circle"/>
            <c:size val="8"/>
            <c:spPr>
              <a:solidFill>
                <a:srgbClr val="8892A0"/>
              </a:solidFill>
              <a:ln w="9525" cap="flat">
                <a:solidFill>
                  <a:srgbClr val="8892A0"/>
                </a:solidFill>
                <a:prstDash val="solid"/>
                <a:round/>
              </a:ln>
              <a:effectLst/>
            </c:spPr>
          </c:marker>
          <c:cat>
            <c:strRef>
              <c:f>Sheet1!$A$2:$A$7</c:f>
              <c:strCache>
                <c:ptCount val="6"/>
                <c:pt idx="0">
                  <c:v>May</c:v>
                </c:pt>
                <c:pt idx="1">
                  <c:v>Jun</c:v>
                </c:pt>
                <c:pt idx="2">
                  <c:v>Jul</c:v>
                </c:pt>
                <c:pt idx="3">
                  <c:v>Aug</c:v>
                </c:pt>
                <c:pt idx="4">
                  <c:v>Sep</c:v>
                </c:pt>
                <c:pt idx="5">
                  <c:v>Oct*</c:v>
                </c:pt>
              </c:strCache>
            </c:strRef>
          </c:cat>
          <c:val>
            <c:numRef>
              <c:f>Sheet1!$E$2:$E$7</c:f>
              <c:numCache>
                <c:formatCode>General</c:formatCode>
                <c:ptCount val="6"/>
                <c:pt idx="0">
                  <c:v>1.2</c:v>
                </c:pt>
                <c:pt idx="1">
                  <c:v>1.2</c:v>
                </c:pt>
                <c:pt idx="2">
                  <c:v>1.3</c:v>
                </c:pt>
                <c:pt idx="3">
                  <c:v>1.9</c:v>
                </c:pt>
                <c:pt idx="4">
                  <c:v>1.9</c:v>
                </c:pt>
                <c:pt idx="5">
                  <c:v>2.1</c:v>
                </c:pt>
              </c:numCache>
            </c:numRef>
          </c:val>
          <c:smooth val="0"/>
          <c:extLst>
            <c:ext xmlns:c16="http://schemas.microsoft.com/office/drawing/2014/chart" uri="{C3380CC4-5D6E-409C-BE32-E72D297353CC}">
              <c16:uniqueId val="{00000003-25CC-4FD7-859B-6079230EC30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D2733"/>
                </a:solidFill>
                <a:latin typeface="Calibri"/>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9525" cap="flat">
              <a:solidFill>
                <a:srgbClr val="CFD6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56273"/>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600">
              <a:solidFill>
                <a:srgbClr val="1D27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Cumulative saving</c:v>
                </c:pt>
              </c:strCache>
            </c:strRef>
          </c:tx>
          <c:spPr>
            <a:solidFill>
              <a:srgbClr val="33475B"/>
            </a:solidFill>
            <a:effectLst/>
          </c:spPr>
          <c:invertIfNegative val="0"/>
          <c:dLbls>
            <c:numFmt formatCode="0.0" sourceLinked="0"/>
            <c:spPr>
              <a:noFill/>
              <a:ln>
                <a:noFill/>
              </a:ln>
              <a:effectLst/>
            </c:spPr>
            <c:txPr>
              <a:bodyPr/>
              <a:lstStyle/>
              <a:p>
                <a:pPr>
                  <a:defRPr sz="1800" b="1" i="0" u="none" strike="noStrike">
                    <a:solidFill>
                      <a:srgbClr val="1D27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Step 1 · day 30</c:v>
                </c:pt>
                <c:pt idx="1">
                  <c:v>Step 2 · day 90</c:v>
                </c:pt>
                <c:pt idx="2">
                  <c:v>+ First 3 moves</c:v>
                </c:pt>
                <c:pt idx="3">
                  <c:v>+ Kubernetes curb</c:v>
                </c:pt>
              </c:strCache>
            </c:strRef>
          </c:cat>
          <c:val>
            <c:numRef>
              <c:f>Sheet1!$B$2:$B$5</c:f>
              <c:numCache>
                <c:formatCode>General</c:formatCode>
                <c:ptCount val="4"/>
                <c:pt idx="0">
                  <c:v>4.29</c:v>
                </c:pt>
                <c:pt idx="1">
                  <c:v>10.85</c:v>
                </c:pt>
                <c:pt idx="2">
                  <c:v>13.37</c:v>
                </c:pt>
                <c:pt idx="3">
                  <c:v>14.7</c:v>
                </c:pt>
              </c:numCache>
            </c:numRef>
          </c:val>
          <c:extLst>
            <c:ext xmlns:c16="http://schemas.microsoft.com/office/drawing/2014/chart" uri="{C3380CC4-5D6E-409C-BE32-E72D297353CC}">
              <c16:uniqueId val="{00000000-AFE3-47DD-9C2A-2425434F738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D2733"/>
                </a:solidFill>
                <a:latin typeface="Calibri"/>
              </a:defRPr>
            </a:pPr>
            <a:endParaRPr lang="en-US"/>
          </a:p>
        </c:txPr>
        <c:crossAx val="2094734552"/>
        <c:crosses val="autoZero"/>
        <c:auto val="1"/>
        <c:lblAlgn val="ctr"/>
        <c:lblOffset val="100"/>
        <c:noMultiLvlLbl val="1"/>
      </c:catAx>
      <c:valAx>
        <c:axId val="2094734552"/>
        <c:scaling>
          <c:orientation val="minMax"/>
          <c:max val="1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Kubernetes (CloudStack)</c:v>
                </c:pt>
              </c:strCache>
            </c:strRef>
          </c:tx>
          <c:spPr>
            <a:solidFill>
              <a:srgbClr val="7A1C1C"/>
            </a:solidFill>
            <a:effectLst/>
          </c:spPr>
          <c:invertIfNegative val="0"/>
          <c:dLbls>
            <c:numFmt formatCode="0.00" sourceLinked="0"/>
            <c:spPr>
              <a:noFill/>
              <a:ln>
                <a:noFill/>
              </a:ln>
              <a:effectLst/>
            </c:spPr>
            <c:txPr>
              <a:bodyPr/>
              <a:lstStyle/>
              <a:p>
                <a:pPr>
                  <a:defRPr sz="1600" b="0" i="0" u="none" strike="noStrike">
                    <a:solidFill>
                      <a:srgbClr val="1D27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Apr</c:v>
                </c:pt>
                <c:pt idx="1">
                  <c:v>May</c:v>
                </c:pt>
                <c:pt idx="2">
                  <c:v>Jun</c:v>
                </c:pt>
                <c:pt idx="3">
                  <c:v>Jul</c:v>
                </c:pt>
                <c:pt idx="4">
                  <c:v>Aug</c:v>
                </c:pt>
                <c:pt idx="5">
                  <c:v>Sep</c:v>
                </c:pt>
              </c:strCache>
            </c:strRef>
          </c:cat>
          <c:val>
            <c:numRef>
              <c:f>Sheet1!$B$2:$B$7</c:f>
              <c:numCache>
                <c:formatCode>General</c:formatCode>
                <c:ptCount val="6"/>
                <c:pt idx="0">
                  <c:v>0</c:v>
                </c:pt>
                <c:pt idx="1">
                  <c:v>0</c:v>
                </c:pt>
                <c:pt idx="2">
                  <c:v>0.02</c:v>
                </c:pt>
                <c:pt idx="3">
                  <c:v>1.88</c:v>
                </c:pt>
                <c:pt idx="4">
                  <c:v>2.56</c:v>
                </c:pt>
                <c:pt idx="5">
                  <c:v>2.66</c:v>
                </c:pt>
              </c:numCache>
            </c:numRef>
          </c:val>
          <c:extLst>
            <c:ext xmlns:c16="http://schemas.microsoft.com/office/drawing/2014/chart" uri="{C3380CC4-5D6E-409C-BE32-E72D297353CC}">
              <c16:uniqueId val="{00000000-6586-4E92-AFFE-63013D8E2D4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D2733"/>
                </a:solidFill>
                <a:latin typeface="Calibri"/>
              </a:defRPr>
            </a:pPr>
            <a:endParaRPr lang="en-US"/>
          </a:p>
        </c:txPr>
        <c:crossAx val="2094734552"/>
        <c:crosses val="autoZero"/>
        <c:auto val="1"/>
        <c:lblAlgn val="ctr"/>
        <c:lblOffset val="100"/>
        <c:noMultiLvlLbl val="1"/>
      </c:catAx>
      <c:valAx>
        <c:axId val="2094734552"/>
        <c:scaling>
          <c:orientation val="minMax"/>
          <c:max val="3.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49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is net of an assumed 15% partner discount. The day-90 figure is a ceiling that assumes every owner says yes and every estimate holds; actions overlap slightly, so it is an upper bound. Only the proven part counts as saved.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app's earlier 'to confirm' tile included the Kubernetes growth (₹2.64 L), which is a cost to explain rather than a saving. The app now excludes it, so tile and deck agree at ₹7.65 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is net of an assumed 15% partner discount. Kubernetes and GPU were nil in April and May.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Zabbix hourly CPU readings, 2026-04-01 to 2026-10-20, 179 monitored hosts.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Day-90 ceiling = Step 1 (₹4.29 L) + Step 2 (₹6.56 L) + first moves (₹2.52 L: VM-App2, VM-ReportServer, VM-APP2NSYNC) + half the Kubernetes growth (₹1.32 L). Reservations exclude Azure servers that retire or move. Treat as an upper bound.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WebberStop estimate = RAM and disk of each server from Zabbix, vCPU assumed as RAM divided by 4, priced at the rates WebberStop charges on the current bill. Excludes Azure data-transfer and licence differences.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33475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6382512"/>
            <a:ext cx="8229600" cy="347472"/>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MARG cloud cost review · Apr–Sep 2026</a:t>
            </a:r>
            <a:endParaRPr lang="en-US" sz="1600" dirty="0"/>
          </a:p>
        </p:txBody>
      </p:sp>
      <p:sp>
        <p:nvSpPr>
          <p:cNvPr id="3" name="Text 1"/>
          <p:cNvSpPr>
            <a:spLocks noGrp="1"/>
          </p:cNvSpPr>
          <p:nvPr>
            <p:ph type="title" idx="101" hasCustomPrompt="1"/>
          </p:nvPr>
        </p:nvSpPr>
        <p:spPr>
          <a:xfrm>
            <a:off x="457200" y="365760"/>
            <a:ext cx="11274552" cy="777240"/>
          </a:xfrm>
          <a:prstGeom prst="rect">
            <a:avLst/>
          </a:prstGeom>
          <a:noFill/>
          <a:ln/>
        </p:spPr>
        <p:txBody>
          <a:bodyPr wrap="square" rtlCol="0"/>
          <a:lstStyle>
            <a:lvl1pPr marL="0" indent="0" algn="l">
              <a:buNone/>
              <a:defRPr lang="en-US" sz="3000" b="1" dirty="0">
                <a:solidFill>
                  <a:srgbClr val="33475B"/>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EP">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6382512"/>
            <a:ext cx="8229600" cy="347472"/>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MARG cloud cost review · Apr–Sep 2026</a:t>
            </a:r>
            <a:endParaRPr lang="en-US" sz="1600" dirty="0"/>
          </a:p>
        </p:txBody>
      </p:sp>
      <p:sp>
        <p:nvSpPr>
          <p:cNvPr id="3" name="Text 1"/>
          <p:cNvSpPr>
            <a:spLocks noGrp="1"/>
          </p:cNvSpPr>
          <p:nvPr>
            <p:ph type="title" idx="101" hasCustomPrompt="1"/>
          </p:nvPr>
        </p:nvSpPr>
        <p:spPr>
          <a:xfrm>
            <a:off x="1371600" y="640080"/>
            <a:ext cx="10360152" cy="566928"/>
          </a:xfrm>
          <a:prstGeom prst="rect">
            <a:avLst/>
          </a:prstGeom>
          <a:noFill/>
          <a:ln/>
        </p:spPr>
        <p:txBody>
          <a:bodyPr wrap="square" rtlCol="0"/>
          <a:lstStyle>
            <a:lvl1pPr marL="0" indent="0" algn="l">
              <a:buNone/>
              <a:defRPr lang="en-US" sz="2800" b="1" dirty="0">
                <a:solidFill>
                  <a:srgbClr val="33475B"/>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731520" y="822960"/>
            <a:ext cx="10698480" cy="914400"/>
          </a:xfrm>
          <a:prstGeom prst="rect">
            <a:avLst/>
          </a:prstGeom>
          <a:noFill/>
          <a:ln/>
        </p:spPr>
        <p:txBody>
          <a:bodyPr wrap="square" lIns="0" tIns="0" rIns="0" bIns="0" rtlCol="0" anchor="ctr"/>
          <a:lstStyle/>
          <a:p>
            <a:pPr marL="0" indent="0">
              <a:buNone/>
            </a:pPr>
            <a:r>
              <a:rPr lang="en-US" sz="4600" b="1" dirty="0">
                <a:latin typeface="Cambria" pitchFamily="34" charset="0"/>
                <a:ea typeface="Cambria" pitchFamily="34" charset="-122"/>
                <a:cs typeface="Cambria" pitchFamily="34" charset="-120"/>
              </a:rPr>
              <a:t>MARG cloud cost management plan</a:t>
            </a:r>
            <a:endParaRPr lang="en-US" sz="4600" dirty="0"/>
          </a:p>
        </p:txBody>
      </p:sp>
      <p:sp>
        <p:nvSpPr>
          <p:cNvPr id="3" name="Text 1"/>
          <p:cNvSpPr txBox="1"/>
          <p:nvPr/>
        </p:nvSpPr>
        <p:spPr>
          <a:xfrm>
            <a:off x="731520" y="1828800"/>
            <a:ext cx="10698480" cy="457200"/>
          </a:xfrm>
          <a:prstGeom prst="rect">
            <a:avLst/>
          </a:prstGeom>
          <a:noFill/>
          <a:ln/>
        </p:spPr>
        <p:txBody>
          <a:bodyPr wrap="square" lIns="0" tIns="0" rIns="0" bIns="0" rtlCol="0" anchor="ctr"/>
          <a:lstStyle/>
          <a:p>
            <a:pPr marL="0" indent="0">
              <a:buNone/>
            </a:pPr>
            <a:r>
              <a:rPr lang="en-US" sz="2400" dirty="0">
                <a:latin typeface="Calibri" pitchFamily="34" charset="0"/>
                <a:ea typeface="Calibri" pitchFamily="34" charset="-122"/>
                <a:cs typeface="Calibri" pitchFamily="34" charset="-120"/>
              </a:rPr>
              <a:t>A 90-day plan to cut 15–20% of monthly cloud spend, then keep improving</a:t>
            </a:r>
            <a:endParaRPr lang="en-US" sz="2400" dirty="0"/>
          </a:p>
        </p:txBody>
      </p:sp>
      <p:sp>
        <p:nvSpPr>
          <p:cNvPr id="4" name="Text 2"/>
          <p:cNvSpPr txBox="1"/>
          <p:nvPr/>
        </p:nvSpPr>
        <p:spPr>
          <a:xfrm>
            <a:off x="731520" y="2331720"/>
            <a:ext cx="10698480" cy="411480"/>
          </a:xfrm>
          <a:prstGeom prst="rect">
            <a:avLst/>
          </a:prstGeom>
          <a:noFill/>
          <a:ln/>
        </p:spPr>
        <p:txBody>
          <a:bodyPr wrap="square" lIns="0" tIns="0" rIns="0" bIns="0" rtlCol="0" anchor="ctr"/>
          <a:lstStyle/>
          <a:p>
            <a:pPr marL="0" indent="0">
              <a:buNone/>
            </a:pPr>
            <a:r>
              <a:rPr lang="en-US" sz="2000" dirty="0">
                <a:latin typeface="Calibri" pitchFamily="34" charset="0"/>
                <a:ea typeface="Calibri" pitchFamily="34" charset="-122"/>
                <a:cs typeface="Calibri" pitchFamily="34" charset="-120"/>
              </a:rPr>
              <a:t>Azure and WebberStop review, April–September 2026</a:t>
            </a:r>
            <a:endParaRPr lang="en-US" sz="2000" dirty="0"/>
          </a:p>
        </p:txBody>
      </p:sp>
      <p:sp>
        <p:nvSpPr>
          <p:cNvPr id="5" name="Shape 3"/>
          <p:cNvSpPr/>
          <p:nvPr/>
        </p:nvSpPr>
        <p:spPr>
          <a:xfrm>
            <a:off x="731520" y="3383280"/>
            <a:ext cx="3429000" cy="1920240"/>
          </a:xfrm>
          <a:prstGeom prst="roundRect">
            <a:avLst>
              <a:gd name="adj" fmla="val 3810"/>
            </a:avLst>
          </a:prstGeom>
          <a:solidFill>
            <a:schemeClr val="bg1"/>
          </a:solidFill>
          <a:ln w="9525">
            <a:solidFill>
              <a:schemeClr val="tx1"/>
            </a:solidFill>
            <a:prstDash val="solid"/>
          </a:ln>
        </p:spPr>
        <p:txBody>
          <a:bodyPr/>
          <a:lstStyle/>
          <a:p>
            <a:endParaRPr lang="en-IN"/>
          </a:p>
        </p:txBody>
      </p:sp>
      <p:sp>
        <p:nvSpPr>
          <p:cNvPr id="6" name="Text 4"/>
          <p:cNvSpPr txBox="1"/>
          <p:nvPr/>
        </p:nvSpPr>
        <p:spPr>
          <a:xfrm>
            <a:off x="914400" y="3474720"/>
            <a:ext cx="3063240" cy="731520"/>
          </a:xfrm>
          <a:prstGeom prst="rect">
            <a:avLst/>
          </a:prstGeom>
          <a:noFill/>
          <a:ln/>
        </p:spPr>
        <p:txBody>
          <a:bodyPr wrap="square" lIns="0" tIns="0" rIns="0" bIns="0" rtlCol="0" anchor="ctr"/>
          <a:lstStyle/>
          <a:p>
            <a:pPr marL="0" indent="0">
              <a:buNone/>
            </a:pPr>
            <a:r>
              <a:rPr lang="en-US" sz="3400" b="1" dirty="0">
                <a:latin typeface="Cambria" pitchFamily="34" charset="0"/>
                <a:ea typeface="Cambria" pitchFamily="34" charset="-122"/>
                <a:cs typeface="Cambria" pitchFamily="34" charset="-120"/>
              </a:rPr>
              <a:t>₹68.11 L</a:t>
            </a:r>
            <a:endParaRPr lang="en-US" sz="3400" dirty="0"/>
          </a:p>
        </p:txBody>
      </p:sp>
      <p:sp>
        <p:nvSpPr>
          <p:cNvPr id="7" name="Text 5"/>
          <p:cNvSpPr txBox="1"/>
          <p:nvPr/>
        </p:nvSpPr>
        <p:spPr>
          <a:xfrm>
            <a:off x="914400" y="4251960"/>
            <a:ext cx="3063240" cy="960120"/>
          </a:xfrm>
          <a:prstGeom prst="rect">
            <a:avLst/>
          </a:prstGeom>
          <a:noFill/>
          <a:ln/>
        </p:spPr>
        <p:txBody>
          <a:bodyPr wrap="square" lIns="0" tIns="0" rIns="0" bIns="0" rtlCol="0" anchor="t"/>
          <a:lstStyle/>
          <a:p>
            <a:pPr marL="0" indent="0">
              <a:buNone/>
            </a:pPr>
            <a:r>
              <a:rPr lang="en-US" sz="1800" dirty="0">
                <a:latin typeface="Calibri" pitchFamily="34" charset="0"/>
                <a:ea typeface="Calibri" pitchFamily="34" charset="-122"/>
                <a:cs typeface="Calibri" pitchFamily="34" charset="-120"/>
              </a:rPr>
              <a:t>cloud spend a month (Sep 26)</a:t>
            </a:r>
            <a:endParaRPr lang="en-US" sz="1800" dirty="0"/>
          </a:p>
        </p:txBody>
      </p:sp>
      <p:sp>
        <p:nvSpPr>
          <p:cNvPr id="8" name="Shape 6"/>
          <p:cNvSpPr/>
          <p:nvPr/>
        </p:nvSpPr>
        <p:spPr>
          <a:xfrm>
            <a:off x="4389120" y="3383280"/>
            <a:ext cx="3429000" cy="1920240"/>
          </a:xfrm>
          <a:prstGeom prst="roundRect">
            <a:avLst>
              <a:gd name="adj" fmla="val 3810"/>
            </a:avLst>
          </a:prstGeom>
          <a:solidFill>
            <a:schemeClr val="bg1"/>
          </a:solidFill>
          <a:ln w="9525">
            <a:solidFill>
              <a:schemeClr val="tx1"/>
            </a:solidFill>
            <a:prstDash val="solid"/>
          </a:ln>
        </p:spPr>
        <p:txBody>
          <a:bodyPr/>
          <a:lstStyle/>
          <a:p>
            <a:endParaRPr lang="en-IN"/>
          </a:p>
        </p:txBody>
      </p:sp>
      <p:sp>
        <p:nvSpPr>
          <p:cNvPr id="9" name="Text 7"/>
          <p:cNvSpPr txBox="1"/>
          <p:nvPr/>
        </p:nvSpPr>
        <p:spPr>
          <a:xfrm>
            <a:off x="4572000" y="3474720"/>
            <a:ext cx="3063240" cy="731520"/>
          </a:xfrm>
          <a:prstGeom prst="rect">
            <a:avLst/>
          </a:prstGeom>
          <a:noFill/>
          <a:ln/>
        </p:spPr>
        <p:txBody>
          <a:bodyPr wrap="square" lIns="0" tIns="0" rIns="0" bIns="0" rtlCol="0" anchor="ctr"/>
          <a:lstStyle/>
          <a:p>
            <a:pPr marL="0" indent="0">
              <a:buNone/>
            </a:pPr>
            <a:r>
              <a:rPr lang="en-US" sz="3400" b="1" dirty="0">
                <a:latin typeface="Cambria" pitchFamily="34" charset="0"/>
                <a:ea typeface="Cambria" pitchFamily="34" charset="-122"/>
                <a:cs typeface="Cambria" pitchFamily="34" charset="-120"/>
              </a:rPr>
              <a:t>up to ₹14.7 L</a:t>
            </a:r>
            <a:endParaRPr lang="en-US" sz="3400" dirty="0"/>
          </a:p>
        </p:txBody>
      </p:sp>
      <p:sp>
        <p:nvSpPr>
          <p:cNvPr id="10" name="Text 8"/>
          <p:cNvSpPr txBox="1"/>
          <p:nvPr/>
        </p:nvSpPr>
        <p:spPr>
          <a:xfrm>
            <a:off x="4572000" y="4251960"/>
            <a:ext cx="3063240" cy="960120"/>
          </a:xfrm>
          <a:prstGeom prst="rect">
            <a:avLst/>
          </a:prstGeom>
          <a:noFill/>
          <a:ln/>
        </p:spPr>
        <p:txBody>
          <a:bodyPr wrap="square" lIns="0" tIns="0" rIns="0" bIns="0" rtlCol="0" anchor="t"/>
          <a:lstStyle/>
          <a:p>
            <a:pPr marL="0" indent="0">
              <a:buNone/>
            </a:pPr>
            <a:r>
              <a:rPr lang="en-US" sz="1800" dirty="0">
                <a:latin typeface="Calibri" pitchFamily="34" charset="0"/>
                <a:ea typeface="Calibri" pitchFamily="34" charset="-122"/>
                <a:cs typeface="Calibri" pitchFamily="34" charset="-120"/>
              </a:rPr>
              <a:t>a month by day 90 if owners confirm (22% of spend)</a:t>
            </a:r>
            <a:endParaRPr lang="en-US" sz="1800" dirty="0"/>
          </a:p>
        </p:txBody>
      </p:sp>
      <p:sp>
        <p:nvSpPr>
          <p:cNvPr id="11" name="Shape 9"/>
          <p:cNvSpPr/>
          <p:nvPr/>
        </p:nvSpPr>
        <p:spPr>
          <a:xfrm>
            <a:off x="8046720" y="3383280"/>
            <a:ext cx="3429000" cy="1920240"/>
          </a:xfrm>
          <a:prstGeom prst="roundRect">
            <a:avLst>
              <a:gd name="adj" fmla="val 3810"/>
            </a:avLst>
          </a:prstGeom>
          <a:solidFill>
            <a:schemeClr val="bg1"/>
          </a:solidFill>
          <a:ln w="9525">
            <a:solidFill>
              <a:schemeClr val="tx1"/>
            </a:solidFill>
            <a:prstDash val="solid"/>
          </a:ln>
        </p:spPr>
        <p:txBody>
          <a:bodyPr/>
          <a:lstStyle/>
          <a:p>
            <a:endParaRPr lang="en-IN"/>
          </a:p>
        </p:txBody>
      </p:sp>
      <p:sp>
        <p:nvSpPr>
          <p:cNvPr id="12" name="Text 10"/>
          <p:cNvSpPr txBox="1"/>
          <p:nvPr/>
        </p:nvSpPr>
        <p:spPr>
          <a:xfrm>
            <a:off x="8229600" y="3474720"/>
            <a:ext cx="3063240" cy="731520"/>
          </a:xfrm>
          <a:prstGeom prst="rect">
            <a:avLst/>
          </a:prstGeom>
          <a:noFill/>
          <a:ln/>
        </p:spPr>
        <p:txBody>
          <a:bodyPr wrap="square" lIns="0" tIns="0" rIns="0" bIns="0" rtlCol="0" anchor="ctr"/>
          <a:lstStyle/>
          <a:p>
            <a:pPr marL="0" indent="0">
              <a:buNone/>
            </a:pPr>
            <a:r>
              <a:rPr lang="en-US" sz="3400" b="1" dirty="0">
                <a:latin typeface="Cambria" pitchFamily="34" charset="0"/>
                <a:ea typeface="Cambria" pitchFamily="34" charset="-122"/>
                <a:cs typeface="Cambria" pitchFamily="34" charset="-120"/>
              </a:rPr>
              <a:t>₹24.8K</a:t>
            </a:r>
            <a:endParaRPr lang="en-US" sz="3400" dirty="0"/>
          </a:p>
        </p:txBody>
      </p:sp>
      <p:sp>
        <p:nvSpPr>
          <p:cNvPr id="13" name="Text 11"/>
          <p:cNvSpPr txBox="1"/>
          <p:nvPr/>
        </p:nvSpPr>
        <p:spPr>
          <a:xfrm>
            <a:off x="8229600" y="4251960"/>
            <a:ext cx="3063240" cy="960120"/>
          </a:xfrm>
          <a:prstGeom prst="rect">
            <a:avLst/>
          </a:prstGeom>
          <a:noFill/>
          <a:ln/>
        </p:spPr>
        <p:txBody>
          <a:bodyPr wrap="square" lIns="0" tIns="0" rIns="0" bIns="0" rtlCol="0" anchor="t"/>
          <a:lstStyle/>
          <a:p>
            <a:pPr marL="0" indent="0">
              <a:buNone/>
            </a:pPr>
            <a:r>
              <a:rPr lang="en-US" sz="1800" dirty="0">
                <a:latin typeface="Calibri" pitchFamily="34" charset="0"/>
                <a:ea typeface="Calibri" pitchFamily="34" charset="-122"/>
                <a:cs typeface="Calibri" pitchFamily="34" charset="-120"/>
              </a:rPr>
              <a:t>a month proven today by bills and measured load</a:t>
            </a:r>
            <a:endParaRPr lang="en-US" sz="1800" dirty="0"/>
          </a:p>
        </p:txBody>
      </p:sp>
      <p:sp>
        <p:nvSpPr>
          <p:cNvPr id="14" name="Text 12"/>
          <p:cNvSpPr txBox="1"/>
          <p:nvPr/>
        </p:nvSpPr>
        <p:spPr>
          <a:xfrm>
            <a:off x="731520" y="5989320"/>
            <a:ext cx="10058400" cy="365760"/>
          </a:xfrm>
          <a:prstGeom prst="rect">
            <a:avLst/>
          </a:prstGeom>
          <a:noFill/>
          <a:ln/>
        </p:spPr>
        <p:txBody>
          <a:bodyPr wrap="square" lIns="0" tIns="0" rIns="0" bIns="0" rtlCol="0" anchor="ctr"/>
          <a:lstStyle/>
          <a:p>
            <a:pPr marL="0" indent="0">
              <a:buNone/>
            </a:pPr>
            <a:r>
              <a:rPr lang="en-US" sz="1800" dirty="0">
                <a:latin typeface="Calibri" pitchFamily="34" charset="0"/>
                <a:ea typeface="Calibri" pitchFamily="34" charset="-122"/>
                <a:cs typeface="Calibri" pitchFamily="34" charset="-120"/>
              </a:rPr>
              <a:t>Prepared for MARG management · 20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Cloud spend is ₹68.1 L a month, up 9% since April</a:t>
            </a:r>
            <a:endParaRPr lang="en-US" sz="3000" dirty="0"/>
          </a:p>
        </p:txBody>
      </p:sp>
      <p:sp>
        <p:nvSpPr>
          <p:cNvPr id="3" name="Shape 1"/>
          <p:cNvSpPr/>
          <p:nvPr/>
        </p:nvSpPr>
        <p:spPr>
          <a:xfrm>
            <a:off x="457200" y="1371600"/>
            <a:ext cx="3657600" cy="2194560"/>
          </a:xfrm>
          <a:prstGeom prst="roundRect">
            <a:avLst>
              <a:gd name="adj" fmla="val 3333"/>
            </a:avLst>
          </a:prstGeom>
          <a:solidFill>
            <a:srgbClr val="F5F7FA"/>
          </a:solidFill>
          <a:ln w="9525">
            <a:solidFill>
              <a:srgbClr val="CFD6DF"/>
            </a:solidFill>
            <a:prstDash val="solid"/>
          </a:ln>
        </p:spPr>
        <p:txBody>
          <a:bodyPr/>
          <a:lstStyle/>
          <a:p>
            <a:endParaRPr lang="en-IN"/>
          </a:p>
        </p:txBody>
      </p:sp>
      <p:sp>
        <p:nvSpPr>
          <p:cNvPr id="4" name="Text 2"/>
          <p:cNvSpPr txBox="1"/>
          <p:nvPr/>
        </p:nvSpPr>
        <p:spPr>
          <a:xfrm>
            <a:off x="640080" y="1481328"/>
            <a:ext cx="3291840" cy="274320"/>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SEP 26 SPEND</a:t>
            </a:r>
            <a:endParaRPr lang="en-US" sz="1600" dirty="0"/>
          </a:p>
        </p:txBody>
      </p:sp>
      <p:sp>
        <p:nvSpPr>
          <p:cNvPr id="5" name="Text 3"/>
          <p:cNvSpPr txBox="1"/>
          <p:nvPr/>
        </p:nvSpPr>
        <p:spPr>
          <a:xfrm>
            <a:off x="640080" y="1783080"/>
            <a:ext cx="3291840" cy="594360"/>
          </a:xfrm>
          <a:prstGeom prst="rect">
            <a:avLst/>
          </a:prstGeom>
          <a:noFill/>
          <a:ln/>
        </p:spPr>
        <p:txBody>
          <a:bodyPr wrap="square" lIns="0" tIns="0" rIns="0" bIns="0" rtlCol="0" anchor="ctr"/>
          <a:lstStyle/>
          <a:p>
            <a:pPr marL="0" indent="0">
              <a:buNone/>
            </a:pPr>
            <a:r>
              <a:rPr lang="en-US" sz="3400" b="1" dirty="0">
                <a:solidFill>
                  <a:srgbClr val="33475B"/>
                </a:solidFill>
                <a:latin typeface="Cambria" pitchFamily="34" charset="0"/>
                <a:ea typeface="Cambria" pitchFamily="34" charset="-122"/>
                <a:cs typeface="Cambria" pitchFamily="34" charset="-120"/>
              </a:rPr>
              <a:t>₹68.11 L</a:t>
            </a:r>
            <a:endParaRPr lang="en-US" sz="3400" dirty="0"/>
          </a:p>
        </p:txBody>
      </p:sp>
      <p:sp>
        <p:nvSpPr>
          <p:cNvPr id="6" name="Text 4"/>
          <p:cNvSpPr txBox="1"/>
          <p:nvPr/>
        </p:nvSpPr>
        <p:spPr>
          <a:xfrm>
            <a:off x="640080" y="2395728"/>
            <a:ext cx="3291840" cy="5486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Azure ₹29.81 L · WebberStop ₹38.30 L</a:t>
            </a:r>
            <a:endParaRPr lang="en-US" sz="1600" dirty="0"/>
          </a:p>
        </p:txBody>
      </p:sp>
      <p:sp>
        <p:nvSpPr>
          <p:cNvPr id="7" name="Text 5"/>
          <p:cNvSpPr txBox="1"/>
          <p:nvPr/>
        </p:nvSpPr>
        <p:spPr>
          <a:xfrm>
            <a:off x="640080" y="2971800"/>
            <a:ext cx="3291840" cy="54864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Your move: </a:t>
            </a:r>
            <a:r>
              <a:rPr lang="en-US" sz="1600" dirty="0">
                <a:solidFill>
                  <a:srgbClr val="1D2733"/>
                </a:solidFill>
                <a:latin typeface="Calibri" pitchFamily="34" charset="0"/>
                <a:ea typeface="Calibri" pitchFamily="34" charset="-122"/>
                <a:cs typeface="Calibri" pitchFamily="34" charset="-120"/>
              </a:rPr>
              <a:t>See where it grew on the next slide.</a:t>
            </a:r>
            <a:endParaRPr lang="en-US" sz="1600" dirty="0"/>
          </a:p>
        </p:txBody>
      </p:sp>
      <p:sp>
        <p:nvSpPr>
          <p:cNvPr id="8" name="Shape 6"/>
          <p:cNvSpPr/>
          <p:nvPr/>
        </p:nvSpPr>
        <p:spPr>
          <a:xfrm>
            <a:off x="4270248" y="1371600"/>
            <a:ext cx="3657600" cy="2194560"/>
          </a:xfrm>
          <a:prstGeom prst="roundRect">
            <a:avLst>
              <a:gd name="adj" fmla="val 3333"/>
            </a:avLst>
          </a:prstGeom>
          <a:solidFill>
            <a:srgbClr val="F5F7FA"/>
          </a:solidFill>
          <a:ln w="9525">
            <a:solidFill>
              <a:srgbClr val="CFD6DF"/>
            </a:solidFill>
            <a:prstDash val="solid"/>
          </a:ln>
        </p:spPr>
        <p:txBody>
          <a:bodyPr/>
          <a:lstStyle/>
          <a:p>
            <a:endParaRPr lang="en-IN"/>
          </a:p>
        </p:txBody>
      </p:sp>
      <p:sp>
        <p:nvSpPr>
          <p:cNvPr id="9" name="Text 7"/>
          <p:cNvSpPr txBox="1"/>
          <p:nvPr/>
        </p:nvSpPr>
        <p:spPr>
          <a:xfrm>
            <a:off x="4453128" y="1481328"/>
            <a:ext cx="3291840" cy="274320"/>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PROVEN SAVING</a:t>
            </a:r>
            <a:endParaRPr lang="en-US" sz="1600" dirty="0"/>
          </a:p>
        </p:txBody>
      </p:sp>
      <p:sp>
        <p:nvSpPr>
          <p:cNvPr id="10" name="Text 8"/>
          <p:cNvSpPr txBox="1"/>
          <p:nvPr/>
        </p:nvSpPr>
        <p:spPr>
          <a:xfrm>
            <a:off x="4453128" y="1783080"/>
            <a:ext cx="3291840" cy="594360"/>
          </a:xfrm>
          <a:prstGeom prst="rect">
            <a:avLst/>
          </a:prstGeom>
          <a:noFill/>
          <a:ln/>
        </p:spPr>
        <p:txBody>
          <a:bodyPr wrap="square" lIns="0" tIns="0" rIns="0" bIns="0" rtlCol="0" anchor="ctr"/>
          <a:lstStyle/>
          <a:p>
            <a:pPr marL="0" indent="0">
              <a:buNone/>
            </a:pPr>
            <a:r>
              <a:rPr lang="en-US" sz="3400" b="1" dirty="0">
                <a:solidFill>
                  <a:srgbClr val="33475B"/>
                </a:solidFill>
                <a:latin typeface="Cambria" pitchFamily="34" charset="0"/>
                <a:ea typeface="Cambria" pitchFamily="34" charset="-122"/>
                <a:cs typeface="Cambria" pitchFamily="34" charset="-120"/>
              </a:rPr>
              <a:t>₹24.8K</a:t>
            </a:r>
            <a:endParaRPr lang="en-US" sz="3400" dirty="0"/>
          </a:p>
        </p:txBody>
      </p:sp>
      <p:sp>
        <p:nvSpPr>
          <p:cNvPr id="11" name="Text 9"/>
          <p:cNvSpPr txBox="1"/>
          <p:nvPr/>
        </p:nvSpPr>
        <p:spPr>
          <a:xfrm>
            <a:off x="4453128" y="2395728"/>
            <a:ext cx="3291840" cy="5486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backed by bills and measured load</a:t>
            </a:r>
            <a:endParaRPr lang="en-US" sz="1600" dirty="0"/>
          </a:p>
        </p:txBody>
      </p:sp>
      <p:sp>
        <p:nvSpPr>
          <p:cNvPr id="12" name="Text 10"/>
          <p:cNvSpPr txBox="1"/>
          <p:nvPr/>
        </p:nvSpPr>
        <p:spPr>
          <a:xfrm>
            <a:off x="4453128" y="2971800"/>
            <a:ext cx="3291840" cy="54864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Your move: </a:t>
            </a:r>
            <a:r>
              <a:rPr lang="en-US" sz="1600" dirty="0">
                <a:solidFill>
                  <a:srgbClr val="1D2733"/>
                </a:solidFill>
                <a:latin typeface="Calibri" pitchFamily="34" charset="0"/>
                <a:ea typeface="Calibri" pitchFamily="34" charset="-122"/>
                <a:cs typeface="Calibri" pitchFamily="34" charset="-120"/>
              </a:rPr>
              <a:t>Do the proven Step 1 and 2 actions.</a:t>
            </a:r>
            <a:endParaRPr lang="en-US" sz="1600" dirty="0"/>
          </a:p>
        </p:txBody>
      </p:sp>
      <p:sp>
        <p:nvSpPr>
          <p:cNvPr id="13" name="Shape 11"/>
          <p:cNvSpPr/>
          <p:nvPr/>
        </p:nvSpPr>
        <p:spPr>
          <a:xfrm>
            <a:off x="8074152" y="1371600"/>
            <a:ext cx="3657600" cy="2194560"/>
          </a:xfrm>
          <a:prstGeom prst="roundRect">
            <a:avLst>
              <a:gd name="adj" fmla="val 3333"/>
            </a:avLst>
          </a:prstGeom>
          <a:solidFill>
            <a:srgbClr val="F5F7FA"/>
          </a:solidFill>
          <a:ln w="9525">
            <a:solidFill>
              <a:srgbClr val="CFD6DF"/>
            </a:solidFill>
            <a:prstDash val="solid"/>
          </a:ln>
        </p:spPr>
        <p:txBody>
          <a:bodyPr/>
          <a:lstStyle/>
          <a:p>
            <a:endParaRPr lang="en-IN"/>
          </a:p>
        </p:txBody>
      </p:sp>
      <p:sp>
        <p:nvSpPr>
          <p:cNvPr id="14" name="Text 12"/>
          <p:cNvSpPr txBox="1"/>
          <p:nvPr/>
        </p:nvSpPr>
        <p:spPr>
          <a:xfrm>
            <a:off x="8257032" y="1481328"/>
            <a:ext cx="3291840" cy="274320"/>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TO CONFIRM WITH OWNERS</a:t>
            </a:r>
            <a:endParaRPr lang="en-US" sz="1600" dirty="0"/>
          </a:p>
        </p:txBody>
      </p:sp>
      <p:sp>
        <p:nvSpPr>
          <p:cNvPr id="15" name="Text 13"/>
          <p:cNvSpPr txBox="1"/>
          <p:nvPr/>
        </p:nvSpPr>
        <p:spPr>
          <a:xfrm>
            <a:off x="8257032" y="1783080"/>
            <a:ext cx="3291840" cy="594360"/>
          </a:xfrm>
          <a:prstGeom prst="rect">
            <a:avLst/>
          </a:prstGeom>
          <a:noFill/>
          <a:ln/>
        </p:spPr>
        <p:txBody>
          <a:bodyPr wrap="square" lIns="0" tIns="0" rIns="0" bIns="0" rtlCol="0" anchor="ctr"/>
          <a:lstStyle/>
          <a:p>
            <a:pPr marL="0" indent="0">
              <a:buNone/>
            </a:pPr>
            <a:r>
              <a:rPr lang="en-US" sz="3400" b="1" dirty="0">
                <a:solidFill>
                  <a:srgbClr val="33475B"/>
                </a:solidFill>
                <a:latin typeface="Cambria" pitchFamily="34" charset="0"/>
                <a:ea typeface="Cambria" pitchFamily="34" charset="-122"/>
                <a:cs typeface="Cambria" pitchFamily="34" charset="-120"/>
              </a:rPr>
              <a:t>up to ₹7.7 L</a:t>
            </a:r>
            <a:endParaRPr lang="en-US" sz="3400" dirty="0"/>
          </a:p>
        </p:txBody>
      </p:sp>
      <p:sp>
        <p:nvSpPr>
          <p:cNvPr id="16" name="Text 14"/>
          <p:cNvSpPr txBox="1"/>
          <p:nvPr/>
        </p:nvSpPr>
        <p:spPr>
          <a:xfrm>
            <a:off x="8257032" y="2395728"/>
            <a:ext cx="3291840" cy="5486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a ceiling, an owner must say yes</a:t>
            </a:r>
            <a:endParaRPr lang="en-US" sz="1600" dirty="0"/>
          </a:p>
        </p:txBody>
      </p:sp>
      <p:sp>
        <p:nvSpPr>
          <p:cNvPr id="17" name="Text 15"/>
          <p:cNvSpPr txBox="1"/>
          <p:nvPr/>
        </p:nvSpPr>
        <p:spPr>
          <a:xfrm>
            <a:off x="8257032" y="2971800"/>
            <a:ext cx="3291840" cy="54864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Your move: </a:t>
            </a:r>
            <a:r>
              <a:rPr lang="en-US" sz="1600" dirty="0">
                <a:solidFill>
                  <a:srgbClr val="1D2733"/>
                </a:solidFill>
                <a:latin typeface="Calibri" pitchFamily="34" charset="0"/>
                <a:ea typeface="Calibri" pitchFamily="34" charset="-122"/>
                <a:cs typeface="Calibri" pitchFamily="34" charset="-120"/>
              </a:rPr>
              <a:t>Send the Step 1 and 2 checks to the owners.</a:t>
            </a:r>
            <a:endParaRPr lang="en-US" sz="1600" dirty="0"/>
          </a:p>
        </p:txBody>
      </p:sp>
      <p:sp>
        <p:nvSpPr>
          <p:cNvPr id="18" name="Shape 16"/>
          <p:cNvSpPr/>
          <p:nvPr/>
        </p:nvSpPr>
        <p:spPr>
          <a:xfrm>
            <a:off x="457200" y="3749040"/>
            <a:ext cx="3657600" cy="2194560"/>
          </a:xfrm>
          <a:prstGeom prst="roundRect">
            <a:avLst>
              <a:gd name="adj" fmla="val 3333"/>
            </a:avLst>
          </a:prstGeom>
          <a:solidFill>
            <a:srgbClr val="F5F7FA"/>
          </a:solidFill>
          <a:ln w="9525">
            <a:solidFill>
              <a:srgbClr val="CFD6DF"/>
            </a:solidFill>
            <a:prstDash val="solid"/>
          </a:ln>
        </p:spPr>
        <p:txBody>
          <a:bodyPr/>
          <a:lstStyle/>
          <a:p>
            <a:endParaRPr lang="en-IN"/>
          </a:p>
        </p:txBody>
      </p:sp>
      <p:sp>
        <p:nvSpPr>
          <p:cNvPr id="19" name="Text 17"/>
          <p:cNvSpPr txBox="1"/>
          <p:nvPr/>
        </p:nvSpPr>
        <p:spPr>
          <a:xfrm>
            <a:off x="640080" y="3858768"/>
            <a:ext cx="3291840" cy="274320"/>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AZURE → WEBBERSTOP</a:t>
            </a:r>
            <a:endParaRPr lang="en-US" sz="1600" dirty="0"/>
          </a:p>
        </p:txBody>
      </p:sp>
      <p:sp>
        <p:nvSpPr>
          <p:cNvPr id="20" name="Text 18"/>
          <p:cNvSpPr txBox="1"/>
          <p:nvPr/>
        </p:nvSpPr>
        <p:spPr>
          <a:xfrm>
            <a:off x="640080" y="4160520"/>
            <a:ext cx="329184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₹3.26 L</a:t>
            </a:r>
            <a:endParaRPr lang="en-US" sz="3400" dirty="0"/>
          </a:p>
        </p:txBody>
      </p:sp>
      <p:sp>
        <p:nvSpPr>
          <p:cNvPr id="21" name="Text 19"/>
          <p:cNvSpPr txBox="1"/>
          <p:nvPr/>
        </p:nvSpPr>
        <p:spPr>
          <a:xfrm>
            <a:off x="640080" y="4773168"/>
            <a:ext cx="3291840" cy="5486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estimate, 6 workloads; 7 more need server sizes</a:t>
            </a:r>
            <a:endParaRPr lang="en-US" sz="1600" dirty="0"/>
          </a:p>
        </p:txBody>
      </p:sp>
      <p:sp>
        <p:nvSpPr>
          <p:cNvPr id="22" name="Text 20"/>
          <p:cNvSpPr txBox="1"/>
          <p:nvPr/>
        </p:nvSpPr>
        <p:spPr>
          <a:xfrm>
            <a:off x="640080" y="5349240"/>
            <a:ext cx="3291840" cy="54864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Your move: </a:t>
            </a:r>
            <a:r>
              <a:rPr lang="en-US" sz="1600" dirty="0">
                <a:solidFill>
                  <a:srgbClr val="1D2733"/>
                </a:solidFill>
                <a:latin typeface="Calibri" pitchFamily="34" charset="0"/>
                <a:ea typeface="Calibri" pitchFamily="34" charset="-122"/>
                <a:cs typeface="Calibri" pitchFamily="34" charset="-120"/>
              </a:rPr>
              <a:t>Request a quote now; first 3 moves by day 90.</a:t>
            </a:r>
            <a:endParaRPr lang="en-US" sz="1600" dirty="0"/>
          </a:p>
        </p:txBody>
      </p:sp>
      <p:sp>
        <p:nvSpPr>
          <p:cNvPr id="23" name="Shape 21"/>
          <p:cNvSpPr/>
          <p:nvPr/>
        </p:nvSpPr>
        <p:spPr>
          <a:xfrm>
            <a:off x="4270248" y="3749040"/>
            <a:ext cx="3657600" cy="2194560"/>
          </a:xfrm>
          <a:prstGeom prst="roundRect">
            <a:avLst>
              <a:gd name="adj" fmla="val 3333"/>
            </a:avLst>
          </a:prstGeom>
          <a:solidFill>
            <a:srgbClr val="F5F7FA"/>
          </a:solidFill>
          <a:ln w="9525">
            <a:solidFill>
              <a:srgbClr val="CFD6DF"/>
            </a:solidFill>
            <a:prstDash val="solid"/>
          </a:ln>
        </p:spPr>
        <p:txBody>
          <a:bodyPr/>
          <a:lstStyle/>
          <a:p>
            <a:endParaRPr lang="en-IN"/>
          </a:p>
        </p:txBody>
      </p:sp>
      <p:sp>
        <p:nvSpPr>
          <p:cNvPr id="24" name="Text 22"/>
          <p:cNvSpPr txBox="1"/>
          <p:nvPr/>
        </p:nvSpPr>
        <p:spPr>
          <a:xfrm>
            <a:off x="4453128" y="3858768"/>
            <a:ext cx="3291840" cy="274320"/>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SHORT OF CAPACITY</a:t>
            </a:r>
            <a:endParaRPr lang="en-US" sz="1600" dirty="0"/>
          </a:p>
        </p:txBody>
      </p:sp>
      <p:sp>
        <p:nvSpPr>
          <p:cNvPr id="25" name="Text 23"/>
          <p:cNvSpPr txBox="1"/>
          <p:nvPr/>
        </p:nvSpPr>
        <p:spPr>
          <a:xfrm>
            <a:off x="4453128" y="4160520"/>
            <a:ext cx="329184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19 servers</a:t>
            </a:r>
            <a:endParaRPr lang="en-US" sz="3400" dirty="0"/>
          </a:p>
        </p:txBody>
      </p:sp>
      <p:sp>
        <p:nvSpPr>
          <p:cNvPr id="26" name="Text 24"/>
          <p:cNvSpPr txBox="1"/>
          <p:nvPr/>
        </p:nvSpPr>
        <p:spPr>
          <a:xfrm>
            <a:off x="4453128" y="4773168"/>
            <a:ext cx="3291840" cy="5486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running hot on CPU, memory or disk</a:t>
            </a:r>
            <a:endParaRPr lang="en-US" sz="1600" dirty="0"/>
          </a:p>
        </p:txBody>
      </p:sp>
      <p:sp>
        <p:nvSpPr>
          <p:cNvPr id="27" name="Text 25"/>
          <p:cNvSpPr txBox="1"/>
          <p:nvPr/>
        </p:nvSpPr>
        <p:spPr>
          <a:xfrm>
            <a:off x="4453128" y="5349240"/>
            <a:ext cx="3291840" cy="54864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Your move: </a:t>
            </a:r>
            <a:r>
              <a:rPr lang="en-US" sz="1600" dirty="0">
                <a:solidFill>
                  <a:srgbClr val="1D2733"/>
                </a:solidFill>
                <a:latin typeface="Calibri" pitchFamily="34" charset="0"/>
                <a:ea typeface="Calibri" pitchFamily="34" charset="-122"/>
                <a:cs typeface="Calibri" pitchFamily="34" charset="-120"/>
              </a:rPr>
              <a:t>Fix these in Step 1, before shrinking anything.</a:t>
            </a:r>
            <a:endParaRPr lang="en-US" sz="1600" dirty="0"/>
          </a:p>
        </p:txBody>
      </p:sp>
      <p:sp>
        <p:nvSpPr>
          <p:cNvPr id="28" name="Shape 26"/>
          <p:cNvSpPr/>
          <p:nvPr/>
        </p:nvSpPr>
        <p:spPr>
          <a:xfrm>
            <a:off x="8074152" y="3749040"/>
            <a:ext cx="3657600" cy="2194560"/>
          </a:xfrm>
          <a:prstGeom prst="roundRect">
            <a:avLst>
              <a:gd name="adj" fmla="val 3333"/>
            </a:avLst>
          </a:prstGeom>
          <a:solidFill>
            <a:srgbClr val="FFFFFF"/>
          </a:solidFill>
          <a:ln w="9525">
            <a:solidFill>
              <a:srgbClr val="CFD6DF"/>
            </a:solidFill>
            <a:prstDash val="solid"/>
          </a:ln>
        </p:spPr>
        <p:txBody>
          <a:bodyPr/>
          <a:lstStyle/>
          <a:p>
            <a:endParaRPr lang="en-IN"/>
          </a:p>
        </p:txBody>
      </p:sp>
      <p:sp>
        <p:nvSpPr>
          <p:cNvPr id="29" name="Text 27"/>
          <p:cNvSpPr txBox="1"/>
          <p:nvPr/>
        </p:nvSpPr>
        <p:spPr>
          <a:xfrm>
            <a:off x="8257032" y="3858768"/>
            <a:ext cx="3291840" cy="2011680"/>
          </a:xfrm>
          <a:prstGeom prst="rect">
            <a:avLst/>
          </a:prstGeom>
          <a:noFill/>
          <a:ln/>
        </p:spPr>
        <p:txBody>
          <a:bodyPr wrap="square" lIns="0" tIns="0" rIns="0" bIns="0" rtlCol="0" anchor="t"/>
          <a:lstStyle/>
          <a:p>
            <a:pPr marL="0" indent="0">
              <a:buNone/>
            </a:pPr>
            <a:r>
              <a:rPr lang="en-US" sz="1600" b="1" dirty="0">
                <a:solidFill>
                  <a:srgbClr val="7A1C1C"/>
                </a:solidFill>
                <a:latin typeface="Calibri" pitchFamily="34" charset="0"/>
                <a:ea typeface="Calibri" pitchFamily="34" charset="-122"/>
                <a:cs typeface="Calibri" pitchFamily="34" charset="-120"/>
              </a:rPr>
              <a:t>Reading these numbers</a:t>
            </a:r>
            <a:endParaRPr lang="en-US" sz="1600" dirty="0"/>
          </a:p>
          <a:p>
            <a:pPr marL="0" indent="0">
              <a:buNone/>
            </a:pPr>
            <a:r>
              <a:rPr lang="en-US" sz="1600" dirty="0">
                <a:solidFill>
                  <a:srgbClr val="1D2733"/>
                </a:solidFill>
                <a:latin typeface="Calibri" pitchFamily="34" charset="0"/>
                <a:ea typeface="Calibri" pitchFamily="34" charset="-122"/>
                <a:cs typeface="Calibri" pitchFamily="34" charset="-120"/>
              </a:rPr>
              <a:t>Azure is net of an assumed 15% partner discount. Lines overlap slightly, so do not add them blindly. The Kubernetes growth (₹2.64 L) is not counted: it first needs explaining.</a:t>
            </a:r>
            <a:endParaRPr lang="en-US" sz="1600" dirty="0"/>
          </a:p>
        </p:txBody>
      </p:sp>
      <p:sp>
        <p:nvSpPr>
          <p:cNvPr id="30"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WebberStop drives the rise, led by Kubernetes and GPU charges</a:t>
            </a:r>
            <a:endParaRPr lang="en-US" sz="3000" dirty="0"/>
          </a:p>
        </p:txBody>
      </p:sp>
      <p:sp>
        <p:nvSpPr>
          <p:cNvPr id="3" name="Text 1"/>
          <p:cNvSpPr txBox="1"/>
          <p:nvPr/>
        </p:nvSpPr>
        <p:spPr>
          <a:xfrm>
            <a:off x="457200" y="1280160"/>
            <a:ext cx="6583680" cy="32004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Spend per month, ₹ lakh (total in brackets)</a:t>
            </a:r>
            <a:endParaRPr lang="en-US" sz="1800" dirty="0"/>
          </a:p>
        </p:txBody>
      </p:sp>
      <p:graphicFrame>
        <p:nvGraphicFramePr>
          <p:cNvPr id="4" name="Chart 0"/>
          <p:cNvGraphicFramePr/>
          <p:nvPr/>
        </p:nvGraphicFramePr>
        <p:xfrm>
          <a:off x="457200" y="1645920"/>
          <a:ext cx="667512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498080" y="1371600"/>
            <a:ext cx="4233672" cy="484632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D2733"/>
                </a:solidFill>
                <a:latin typeface="Calibri" pitchFamily="34" charset="0"/>
                <a:ea typeface="Calibri" pitchFamily="34" charset="-122"/>
                <a:cs typeface="Calibri" pitchFamily="34" charset="-120"/>
              </a:rPr>
              <a:t>Total ₹62.4 L (Apr) to ₹68.1 L (Sep): +9%. WebberStop +24%, Azure −5%.</a:t>
            </a:r>
            <a:endParaRPr lang="en-US" sz="1800" dirty="0"/>
          </a:p>
          <a:p>
            <a:pPr marL="342900" indent="-342900">
              <a:spcAft>
                <a:spcPts val="900"/>
              </a:spcAft>
              <a:buSzPct val="100000"/>
              <a:buChar char="•"/>
            </a:pPr>
            <a:r>
              <a:rPr lang="en-US" sz="1800" dirty="0">
                <a:solidFill>
                  <a:srgbClr val="1D2733"/>
                </a:solidFill>
                <a:latin typeface="Calibri" pitchFamily="34" charset="0"/>
                <a:ea typeface="Calibri" pitchFamily="34" charset="-122"/>
                <a:cs typeface="Calibri" pitchFamily="34" charset="-120"/>
              </a:rPr>
              <a:t>Kubernetes usage went from ₹1.9K (Jun) to ₹2.66 L (Sep). GPU servers went from ₹67.5K to ₹2.12 L.</a:t>
            </a:r>
            <a:endParaRPr lang="en-US" sz="1800" dirty="0"/>
          </a:p>
          <a:p>
            <a:pPr marL="342900" indent="-342900">
              <a:spcAft>
                <a:spcPts val="900"/>
              </a:spcAft>
              <a:buSzPct val="100000"/>
              <a:buChar char="•"/>
            </a:pPr>
            <a:r>
              <a:rPr lang="en-US" sz="1800" dirty="0">
                <a:solidFill>
                  <a:srgbClr val="1D2733"/>
                </a:solidFill>
                <a:latin typeface="Calibri" pitchFamily="34" charset="0"/>
                <a:ea typeface="Calibri" pitchFamily="34" charset="-122"/>
                <a:cs typeface="Calibri" pitchFamily="34" charset="-120"/>
              </a:rPr>
              <a:t>Together they are 64% of the ₹7.4 L WebberStop increase since April.</a:t>
            </a:r>
            <a:endParaRPr lang="en-US" sz="1800" dirty="0"/>
          </a:p>
          <a:p>
            <a:pPr marL="342900" indent="-342900">
              <a:spcAft>
                <a:spcPts val="900"/>
              </a:spcAft>
              <a:buSzPct val="100000"/>
              <a:buChar char="•"/>
            </a:pPr>
            <a:r>
              <a:rPr lang="en-US" sz="1800" dirty="0">
                <a:solidFill>
                  <a:srgbClr val="1D2733"/>
                </a:solidFill>
                <a:latin typeface="Calibri" pitchFamily="34" charset="0"/>
                <a:ea typeface="Calibri" pitchFamily="34" charset="-122"/>
                <a:cs typeface="Calibri" pitchFamily="34" charset="-120"/>
              </a:rPr>
              <a:t>The Sep bill understates the run-rate: at closing size WebberStop is about ₹41.2 L a month, not ₹38.3 L.</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Paid capacity is mostly idle: servers use 8% of billed vCPU</a:t>
            </a:r>
            <a:endParaRPr lang="en-US" sz="3000" dirty="0"/>
          </a:p>
        </p:txBody>
      </p:sp>
      <p:sp>
        <p:nvSpPr>
          <p:cNvPr id="3" name="Text 1"/>
          <p:cNvSpPr txBox="1"/>
          <p:nvPr/>
        </p:nvSpPr>
        <p:spPr>
          <a:xfrm>
            <a:off x="457200" y="1280160"/>
            <a:ext cx="6858000" cy="32004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Average CPU use by product line, % (servers monitored every month)</a:t>
            </a:r>
            <a:endParaRPr lang="en-US" sz="1800" dirty="0"/>
          </a:p>
        </p:txBody>
      </p:sp>
      <p:graphicFrame>
        <p:nvGraphicFramePr>
          <p:cNvPr id="4" name="Chart 0"/>
          <p:cNvGraphicFramePr/>
          <p:nvPr/>
        </p:nvGraphicFramePr>
        <p:xfrm>
          <a:off x="457200" y="1645920"/>
          <a:ext cx="68580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5989320"/>
            <a:ext cx="6858000" cy="32004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 October is partial (to 20 Oct)</a:t>
            </a:r>
            <a:endParaRPr lang="en-US" sz="1600" dirty="0"/>
          </a:p>
        </p:txBody>
      </p:sp>
      <p:sp>
        <p:nvSpPr>
          <p:cNvPr id="6" name="Text 3"/>
          <p:cNvSpPr txBox="1"/>
          <p:nvPr/>
        </p:nvSpPr>
        <p:spPr>
          <a:xfrm>
            <a:off x="7680960" y="1371600"/>
            <a:ext cx="4050792" cy="4846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On 134 monitored WebberStop servers, average CPU in use is 8% of the vCPU paid for, and 21% in busy hours.</a:t>
            </a:r>
            <a:endParaRPr lang="en-US" sz="1800" dirty="0"/>
          </a:p>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Averages hide spikes, so only servers that also pass a spike test are proposed for a smaller size.</a:t>
            </a:r>
            <a:endParaRPr lang="en-US" sz="1800" dirty="0"/>
          </a:p>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19 other servers are the opposite: they run hot and need headroom (Step 1).</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How firm each number is</a:t>
            </a:r>
            <a:endParaRPr lang="en-US" sz="3000" dirty="0"/>
          </a:p>
        </p:txBody>
      </p:sp>
      <p:sp>
        <p:nvSpPr>
          <p:cNvPr id="3" name="Shape 1"/>
          <p:cNvSpPr/>
          <p:nvPr/>
        </p:nvSpPr>
        <p:spPr>
          <a:xfrm>
            <a:off x="457200" y="1371600"/>
            <a:ext cx="3657600" cy="3246120"/>
          </a:xfrm>
          <a:prstGeom prst="roundRect">
            <a:avLst>
              <a:gd name="adj" fmla="val 2254"/>
            </a:avLst>
          </a:prstGeom>
          <a:solidFill>
            <a:srgbClr val="F5F7FA"/>
          </a:solidFill>
          <a:ln w="9525">
            <a:solidFill>
              <a:srgbClr val="CFD6DF"/>
            </a:solidFill>
            <a:prstDash val="solid"/>
          </a:ln>
        </p:spPr>
        <p:txBody>
          <a:bodyPr/>
          <a:lstStyle/>
          <a:p>
            <a:endParaRPr lang="en-IN"/>
          </a:p>
        </p:txBody>
      </p:sp>
      <p:sp>
        <p:nvSpPr>
          <p:cNvPr id="4" name="Text 2"/>
          <p:cNvSpPr txBox="1"/>
          <p:nvPr/>
        </p:nvSpPr>
        <p:spPr>
          <a:xfrm>
            <a:off x="640080" y="148132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PROVEN</a:t>
            </a:r>
            <a:endParaRPr lang="en-US" sz="1600" dirty="0"/>
          </a:p>
        </p:txBody>
      </p:sp>
      <p:sp>
        <p:nvSpPr>
          <p:cNvPr id="5" name="Text 3"/>
          <p:cNvSpPr txBox="1"/>
          <p:nvPr/>
        </p:nvSpPr>
        <p:spPr>
          <a:xfrm>
            <a:off x="640080" y="1810512"/>
            <a:ext cx="3291840" cy="822960"/>
          </a:xfrm>
          <a:prstGeom prst="rect">
            <a:avLst/>
          </a:prstGeom>
          <a:noFill/>
          <a:ln/>
        </p:spPr>
        <p:txBody>
          <a:bodyPr wrap="square" lIns="0" tIns="0" rIns="0" bIns="0" rtlCol="0" anchor="ctr"/>
          <a:lstStyle/>
          <a:p>
            <a:pPr marL="0" indent="0">
              <a:buNone/>
            </a:pPr>
            <a:r>
              <a:rPr lang="en-US" sz="2600" b="1" dirty="0">
                <a:solidFill>
                  <a:srgbClr val="3D7A58"/>
                </a:solidFill>
                <a:latin typeface="Cambria" pitchFamily="34" charset="0"/>
                <a:ea typeface="Cambria" pitchFamily="34" charset="-122"/>
                <a:cs typeface="Cambria" pitchFamily="34" charset="-120"/>
              </a:rPr>
              <a:t>₹24.8K a month</a:t>
            </a:r>
            <a:endParaRPr lang="en-US" sz="2600" dirty="0"/>
          </a:p>
        </p:txBody>
      </p:sp>
      <p:sp>
        <p:nvSpPr>
          <p:cNvPr id="6" name="Text 4"/>
          <p:cNvSpPr txBox="1"/>
          <p:nvPr/>
        </p:nvSpPr>
        <p:spPr>
          <a:xfrm>
            <a:off x="640080" y="2697480"/>
            <a:ext cx="3291840" cy="1828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Proven by the bills or 30 days of hourly server load. Today: 12 right-sizing moves and 22 unused public IPs.</a:t>
            </a:r>
            <a:endParaRPr lang="en-US" sz="1800" dirty="0"/>
          </a:p>
        </p:txBody>
      </p:sp>
      <p:sp>
        <p:nvSpPr>
          <p:cNvPr id="7" name="Shape 5"/>
          <p:cNvSpPr/>
          <p:nvPr/>
        </p:nvSpPr>
        <p:spPr>
          <a:xfrm>
            <a:off x="4270248" y="1371600"/>
            <a:ext cx="3657600" cy="3246120"/>
          </a:xfrm>
          <a:prstGeom prst="roundRect">
            <a:avLst>
              <a:gd name="adj" fmla="val 2254"/>
            </a:avLst>
          </a:prstGeom>
          <a:solidFill>
            <a:srgbClr val="F5F7FA"/>
          </a:solidFill>
          <a:ln w="9525">
            <a:solidFill>
              <a:srgbClr val="CFD6DF"/>
            </a:solidFill>
            <a:prstDash val="solid"/>
          </a:ln>
        </p:spPr>
        <p:txBody>
          <a:bodyPr/>
          <a:lstStyle/>
          <a:p>
            <a:endParaRPr lang="en-IN"/>
          </a:p>
        </p:txBody>
      </p:sp>
      <p:sp>
        <p:nvSpPr>
          <p:cNvPr id="8" name="Text 6"/>
          <p:cNvSpPr txBox="1"/>
          <p:nvPr/>
        </p:nvSpPr>
        <p:spPr>
          <a:xfrm>
            <a:off x="4453128" y="148132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TO CONFIRM</a:t>
            </a:r>
            <a:endParaRPr lang="en-US" sz="1600" dirty="0"/>
          </a:p>
        </p:txBody>
      </p:sp>
      <p:sp>
        <p:nvSpPr>
          <p:cNvPr id="9" name="Text 7"/>
          <p:cNvSpPr txBox="1"/>
          <p:nvPr/>
        </p:nvSpPr>
        <p:spPr>
          <a:xfrm>
            <a:off x="4453128" y="1810512"/>
            <a:ext cx="3291840" cy="822960"/>
          </a:xfrm>
          <a:prstGeom prst="rect">
            <a:avLst/>
          </a:prstGeom>
          <a:noFill/>
          <a:ln/>
        </p:spPr>
        <p:txBody>
          <a:bodyPr wrap="square" lIns="0" tIns="0" rIns="0" bIns="0" rtlCol="0" anchor="ctr"/>
          <a:lstStyle/>
          <a:p>
            <a:pPr marL="0" indent="0">
              <a:buNone/>
            </a:pPr>
            <a:r>
              <a:rPr lang="en-US" sz="2600" b="1" dirty="0">
                <a:solidFill>
                  <a:srgbClr val="33475B"/>
                </a:solidFill>
                <a:latin typeface="Cambria" pitchFamily="34" charset="0"/>
                <a:ea typeface="Cambria" pitchFamily="34" charset="-122"/>
                <a:cs typeface="Cambria" pitchFamily="34" charset="-120"/>
              </a:rPr>
              <a:t>up to ₹7.7 L a month</a:t>
            </a:r>
            <a:endParaRPr lang="en-US" sz="2600" dirty="0"/>
          </a:p>
        </p:txBody>
      </p:sp>
      <p:sp>
        <p:nvSpPr>
          <p:cNvPr id="10" name="Text 8"/>
          <p:cNvSpPr txBox="1"/>
          <p:nvPr/>
        </p:nvSpPr>
        <p:spPr>
          <a:xfrm>
            <a:off x="4453128" y="2697480"/>
            <a:ext cx="3291840" cy="1828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Real, but an owner must say yes first. A ceiling: old Azure side, silent and idle servers, missing discount, disks, further right-sizing.</a:t>
            </a:r>
            <a:endParaRPr lang="en-US" sz="1800" dirty="0"/>
          </a:p>
        </p:txBody>
      </p:sp>
      <p:sp>
        <p:nvSpPr>
          <p:cNvPr id="11" name="Shape 9"/>
          <p:cNvSpPr/>
          <p:nvPr/>
        </p:nvSpPr>
        <p:spPr>
          <a:xfrm>
            <a:off x="8083296" y="1371600"/>
            <a:ext cx="3657600" cy="3246120"/>
          </a:xfrm>
          <a:prstGeom prst="roundRect">
            <a:avLst>
              <a:gd name="adj" fmla="val 2254"/>
            </a:avLst>
          </a:prstGeom>
          <a:solidFill>
            <a:srgbClr val="F5F7FA"/>
          </a:solidFill>
          <a:ln w="9525">
            <a:solidFill>
              <a:srgbClr val="CFD6DF"/>
            </a:solidFill>
            <a:prstDash val="solid"/>
          </a:ln>
        </p:spPr>
        <p:txBody>
          <a:bodyPr/>
          <a:lstStyle/>
          <a:p>
            <a:endParaRPr lang="en-IN"/>
          </a:p>
        </p:txBody>
      </p:sp>
      <p:sp>
        <p:nvSpPr>
          <p:cNvPr id="12" name="Text 10"/>
          <p:cNvSpPr txBox="1"/>
          <p:nvPr/>
        </p:nvSpPr>
        <p:spPr>
          <a:xfrm>
            <a:off x="8266176" y="148132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ESTIMATE OR TARGET</a:t>
            </a:r>
            <a:endParaRPr lang="en-US" sz="1600" dirty="0"/>
          </a:p>
        </p:txBody>
      </p:sp>
      <p:sp>
        <p:nvSpPr>
          <p:cNvPr id="13" name="Text 11"/>
          <p:cNvSpPr txBox="1"/>
          <p:nvPr/>
        </p:nvSpPr>
        <p:spPr>
          <a:xfrm>
            <a:off x="8266176" y="1810512"/>
            <a:ext cx="3291840" cy="822960"/>
          </a:xfrm>
          <a:prstGeom prst="rect">
            <a:avLst/>
          </a:prstGeom>
          <a:noFill/>
          <a:ln/>
        </p:spPr>
        <p:txBody>
          <a:bodyPr wrap="square" lIns="0" tIns="0" rIns="0" bIns="0" rtlCol="0" anchor="ctr"/>
          <a:lstStyle/>
          <a:p>
            <a:pPr marL="0" indent="0">
              <a:buNone/>
            </a:pPr>
            <a:r>
              <a:rPr lang="en-US" sz="2600" b="1" dirty="0">
                <a:solidFill>
                  <a:srgbClr val="7A1C1C"/>
                </a:solidFill>
                <a:latin typeface="Cambria" pitchFamily="34" charset="0"/>
                <a:ea typeface="Cambria" pitchFamily="34" charset="-122"/>
                <a:cs typeface="Cambria" pitchFamily="34" charset="-120"/>
              </a:rPr>
              <a:t>up to ₹7.2 L</a:t>
            </a:r>
            <a:endParaRPr lang="en-US" sz="2600" dirty="0"/>
          </a:p>
        </p:txBody>
      </p:sp>
      <p:sp>
        <p:nvSpPr>
          <p:cNvPr id="14" name="Text 12"/>
          <p:cNvSpPr txBox="1"/>
          <p:nvPr/>
        </p:nvSpPr>
        <p:spPr>
          <a:xfrm>
            <a:off x="8266176" y="2697480"/>
            <a:ext cx="3291840" cy="1828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Rests on a price or percentage we assumed: Azure and backup tuning, the first moves to WebberStop, curbing Kubernetes growth.</a:t>
            </a:r>
            <a:endParaRPr lang="en-US" sz="1800" dirty="0"/>
          </a:p>
        </p:txBody>
      </p:sp>
      <p:sp>
        <p:nvSpPr>
          <p:cNvPr id="15" name="Shape 13"/>
          <p:cNvSpPr/>
          <p:nvPr/>
        </p:nvSpPr>
        <p:spPr>
          <a:xfrm>
            <a:off x="457200" y="4846320"/>
            <a:ext cx="11274552" cy="1371600"/>
          </a:xfrm>
          <a:prstGeom prst="roundRect">
            <a:avLst>
              <a:gd name="adj" fmla="val 5333"/>
            </a:avLst>
          </a:prstGeom>
          <a:solidFill>
            <a:srgbClr val="FFFFFF"/>
          </a:solidFill>
          <a:ln w="9525">
            <a:solidFill>
              <a:srgbClr val="CFD6DF"/>
            </a:solidFill>
            <a:prstDash val="solid"/>
          </a:ln>
        </p:spPr>
        <p:txBody>
          <a:bodyPr/>
          <a:lstStyle/>
          <a:p>
            <a:endParaRPr lang="en-IN"/>
          </a:p>
        </p:txBody>
      </p:sp>
      <p:sp>
        <p:nvSpPr>
          <p:cNvPr id="16" name="Text 14"/>
          <p:cNvSpPr txBox="1"/>
          <p:nvPr/>
        </p:nvSpPr>
        <p:spPr>
          <a:xfrm>
            <a:off x="640080" y="4956048"/>
            <a:ext cx="10908792" cy="1188720"/>
          </a:xfrm>
          <a:prstGeom prst="rect">
            <a:avLst/>
          </a:prstGeom>
          <a:noFill/>
          <a:ln/>
        </p:spPr>
        <p:txBody>
          <a:bodyPr wrap="square" lIns="0" tIns="0" rIns="0" bIns="0" rtlCol="0" anchor="t"/>
          <a:lstStyle/>
          <a:p>
            <a:pPr marL="0" indent="0">
              <a:buNone/>
            </a:pPr>
            <a:r>
              <a:rPr lang="en-US" sz="1800" b="1" dirty="0">
                <a:solidFill>
                  <a:srgbClr val="7A1C1C"/>
                </a:solidFill>
                <a:latin typeface="Calibri" pitchFamily="34" charset="0"/>
                <a:ea typeface="Calibri" pitchFamily="34" charset="-122"/>
                <a:cs typeface="Calibri" pitchFamily="34" charset="-120"/>
              </a:rPr>
              <a:t>Report it in three buckets. </a:t>
            </a:r>
            <a:r>
              <a:rPr lang="en-US" sz="1800" dirty="0">
                <a:solidFill>
                  <a:srgbClr val="1D2733"/>
                </a:solidFill>
                <a:latin typeface="Calibri" pitchFamily="34" charset="0"/>
                <a:ea typeface="Calibri" pitchFamily="34" charset="-122"/>
                <a:cs typeface="Calibri" pitchFamily="34" charset="-120"/>
              </a:rPr>
              <a:t>Track proven, confirmed by owners and assumed separately every week; only the first two count as saved. Lines overlap slightly, and the ₹2.64 L Kubernetes growth is not in the ceiling. Azure is net of an assumed 15% partner discount.</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The 90-day target: up to ₹14.7 L a month, 22% of spend</a:t>
            </a:r>
            <a:endParaRPr lang="en-US" sz="3000" dirty="0"/>
          </a:p>
        </p:txBody>
      </p:sp>
      <p:sp>
        <p:nvSpPr>
          <p:cNvPr id="3" name="Text 1"/>
          <p:cNvSpPr txBox="1"/>
          <p:nvPr/>
        </p:nvSpPr>
        <p:spPr>
          <a:xfrm>
            <a:off x="457200" y="1280160"/>
            <a:ext cx="6766560" cy="32004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Cumulative saving, ₹ lakh a month (goal: 10.2 to 13.6)</a:t>
            </a:r>
            <a:endParaRPr lang="en-US" sz="1800" dirty="0"/>
          </a:p>
        </p:txBody>
      </p:sp>
      <p:graphicFrame>
        <p:nvGraphicFramePr>
          <p:cNvPr id="4" name="Chart 0"/>
          <p:cNvGraphicFramePr/>
          <p:nvPr/>
        </p:nvGraphicFramePr>
        <p:xfrm>
          <a:off x="457200" y="1645920"/>
          <a:ext cx="67665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498080" y="1371600"/>
            <a:ext cx="4233672" cy="4846320"/>
          </a:xfrm>
          <a:prstGeom prst="rect">
            <a:avLst/>
          </a:prstGeom>
          <a:noFill/>
          <a:ln/>
        </p:spPr>
        <p:txBody>
          <a:bodyPr wrap="square" lIns="0" tIns="0" rIns="0" bIns="0" rtlCol="0" anchor="t"/>
          <a:lstStyle/>
          <a:p>
            <a:pPr marL="342900" indent="-342900">
              <a:spcAft>
                <a:spcPts val="1000"/>
              </a:spcAft>
              <a:buSzPct val="100000"/>
              <a:buChar char="•"/>
            </a:pPr>
            <a:r>
              <a:rPr lang="en-US" sz="1800" b="1" dirty="0">
                <a:solidFill>
                  <a:srgbClr val="1D2733"/>
                </a:solidFill>
                <a:latin typeface="Calibri" pitchFamily="34" charset="0"/>
                <a:ea typeface="Calibri" pitchFamily="34" charset="-122"/>
                <a:cs typeface="Calibri" pitchFamily="34" charset="-120"/>
              </a:rPr>
              <a:t>Goal: 15% is ₹10.2 L, 20% is ₹13.6 L a month.</a:t>
            </a:r>
            <a:endParaRPr lang="en-US" sz="1800" dirty="0"/>
          </a:p>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Steps 1–2 alone are ₹10.9 L (16%). The first 3 moves and a Kubernetes curb take it to ₹14.7 L.</a:t>
            </a:r>
            <a:endParaRPr lang="en-US" sz="1800" dirty="0"/>
          </a:p>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Evidence mix: ₹24.8K proven, ₹7.7 L needs owners to say yes, ₹6.8 L rests on assumed percentages or targets.</a:t>
            </a:r>
            <a:endParaRPr lang="en-US" sz="1800" dirty="0"/>
          </a:p>
          <a:p>
            <a:pPr marL="342900" indent="-342900">
              <a:spcAft>
                <a:spcPts val="1000"/>
              </a:spcAft>
              <a:buSzPct val="100000"/>
              <a:buChar char="•"/>
            </a:pPr>
            <a:r>
              <a:rPr lang="en-US" sz="1800" dirty="0">
                <a:solidFill>
                  <a:srgbClr val="1D2733"/>
                </a:solidFill>
                <a:latin typeface="Calibri" pitchFamily="34" charset="0"/>
                <a:ea typeface="Calibri" pitchFamily="34" charset="-122"/>
                <a:cs typeface="Calibri" pitchFamily="34" charset="-120"/>
              </a:rPr>
              <a:t>To reach 15% about 70% of the ceiling must land, so decisions are needed in weeks, not months.</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The roadmap: quick wins first, then size, then move</a:t>
            </a:r>
            <a:endParaRPr lang="en-US" sz="3000" dirty="0"/>
          </a:p>
        </p:txBody>
      </p:sp>
      <p:sp>
        <p:nvSpPr>
          <p:cNvPr id="3" name="Text 1"/>
          <p:cNvSpPr txBox="1"/>
          <p:nvPr/>
        </p:nvSpPr>
        <p:spPr>
          <a:xfrm>
            <a:off x="2651760" y="1325880"/>
            <a:ext cx="914400" cy="320040"/>
          </a:xfrm>
          <a:prstGeom prst="rect">
            <a:avLst/>
          </a:prstGeom>
          <a:noFill/>
          <a:ln/>
        </p:spPr>
        <p:txBody>
          <a:bodyPr wrap="square" lIns="0" tIns="0" rIns="0" bIns="0" rtlCol="0" anchor="ctr"/>
          <a:lstStyle/>
          <a:p>
            <a:pPr marL="0" indent="0" algn="ctr">
              <a:buNone/>
            </a:pPr>
            <a:r>
              <a:rPr lang="en-US" sz="1600" b="1" dirty="0">
                <a:solidFill>
                  <a:srgbClr val="556273"/>
                </a:solidFill>
                <a:latin typeface="Calibri" pitchFamily="34" charset="0"/>
                <a:ea typeface="Calibri" pitchFamily="34" charset="-122"/>
                <a:cs typeface="Calibri" pitchFamily="34" charset="-120"/>
              </a:rPr>
              <a:t>Day 0</a:t>
            </a:r>
            <a:endParaRPr lang="en-US" sz="1600" dirty="0"/>
          </a:p>
        </p:txBody>
      </p:sp>
      <p:sp>
        <p:nvSpPr>
          <p:cNvPr id="4" name="Text 2"/>
          <p:cNvSpPr txBox="1"/>
          <p:nvPr/>
        </p:nvSpPr>
        <p:spPr>
          <a:xfrm>
            <a:off x="4084320" y="1325880"/>
            <a:ext cx="914400" cy="320040"/>
          </a:xfrm>
          <a:prstGeom prst="rect">
            <a:avLst/>
          </a:prstGeom>
          <a:noFill/>
          <a:ln/>
        </p:spPr>
        <p:txBody>
          <a:bodyPr wrap="square" lIns="0" tIns="0" rIns="0" bIns="0" rtlCol="0" anchor="ctr"/>
          <a:lstStyle/>
          <a:p>
            <a:pPr marL="0" indent="0" algn="ctr">
              <a:buNone/>
            </a:pPr>
            <a:r>
              <a:rPr lang="en-US" sz="1600" b="1" dirty="0">
                <a:solidFill>
                  <a:srgbClr val="556273"/>
                </a:solidFill>
                <a:latin typeface="Calibri" pitchFamily="34" charset="0"/>
                <a:ea typeface="Calibri" pitchFamily="34" charset="-122"/>
                <a:cs typeface="Calibri" pitchFamily="34" charset="-120"/>
              </a:rPr>
              <a:t>30</a:t>
            </a:r>
            <a:endParaRPr lang="en-US" sz="1600" dirty="0"/>
          </a:p>
        </p:txBody>
      </p:sp>
      <p:sp>
        <p:nvSpPr>
          <p:cNvPr id="5" name="Text 3"/>
          <p:cNvSpPr txBox="1"/>
          <p:nvPr/>
        </p:nvSpPr>
        <p:spPr>
          <a:xfrm>
            <a:off x="5516880" y="1325880"/>
            <a:ext cx="914400" cy="320040"/>
          </a:xfrm>
          <a:prstGeom prst="rect">
            <a:avLst/>
          </a:prstGeom>
          <a:noFill/>
          <a:ln/>
        </p:spPr>
        <p:txBody>
          <a:bodyPr wrap="square" lIns="0" tIns="0" rIns="0" bIns="0" rtlCol="0" anchor="ctr"/>
          <a:lstStyle/>
          <a:p>
            <a:pPr marL="0" indent="0" algn="ctr">
              <a:buNone/>
            </a:pPr>
            <a:r>
              <a:rPr lang="en-US" sz="1600" b="1" dirty="0">
                <a:solidFill>
                  <a:srgbClr val="556273"/>
                </a:solidFill>
                <a:latin typeface="Calibri" pitchFamily="34" charset="0"/>
                <a:ea typeface="Calibri" pitchFamily="34" charset="-122"/>
                <a:cs typeface="Calibri" pitchFamily="34" charset="-120"/>
              </a:rPr>
              <a:t>60</a:t>
            </a:r>
            <a:endParaRPr lang="en-US" sz="1600" dirty="0"/>
          </a:p>
        </p:txBody>
      </p:sp>
      <p:sp>
        <p:nvSpPr>
          <p:cNvPr id="6" name="Text 4"/>
          <p:cNvSpPr txBox="1"/>
          <p:nvPr/>
        </p:nvSpPr>
        <p:spPr>
          <a:xfrm>
            <a:off x="6949440" y="1325880"/>
            <a:ext cx="914400" cy="320040"/>
          </a:xfrm>
          <a:prstGeom prst="rect">
            <a:avLst/>
          </a:prstGeom>
          <a:noFill/>
          <a:ln/>
        </p:spPr>
        <p:txBody>
          <a:bodyPr wrap="square" lIns="0" tIns="0" rIns="0" bIns="0" rtlCol="0" anchor="ctr"/>
          <a:lstStyle/>
          <a:p>
            <a:pPr marL="0" indent="0" algn="ctr">
              <a:buNone/>
            </a:pPr>
            <a:r>
              <a:rPr lang="en-US" sz="1600" b="1" dirty="0">
                <a:solidFill>
                  <a:srgbClr val="556273"/>
                </a:solidFill>
                <a:latin typeface="Calibri" pitchFamily="34" charset="0"/>
                <a:ea typeface="Calibri" pitchFamily="34" charset="-122"/>
                <a:cs typeface="Calibri" pitchFamily="34" charset="-120"/>
              </a:rPr>
              <a:t>90</a:t>
            </a:r>
            <a:endParaRPr lang="en-US" sz="1600" dirty="0"/>
          </a:p>
        </p:txBody>
      </p:sp>
      <p:sp>
        <p:nvSpPr>
          <p:cNvPr id="7" name="Text 5"/>
          <p:cNvSpPr txBox="1"/>
          <p:nvPr/>
        </p:nvSpPr>
        <p:spPr>
          <a:xfrm>
            <a:off x="11247120" y="1325880"/>
            <a:ext cx="914400" cy="320040"/>
          </a:xfrm>
          <a:prstGeom prst="rect">
            <a:avLst/>
          </a:prstGeom>
          <a:noFill/>
          <a:ln/>
        </p:spPr>
        <p:txBody>
          <a:bodyPr wrap="square" lIns="0" tIns="0" rIns="0" bIns="0" rtlCol="0" anchor="ctr"/>
          <a:lstStyle/>
          <a:p>
            <a:pPr marL="0" indent="0" algn="ctr">
              <a:buNone/>
            </a:pPr>
            <a:r>
              <a:rPr lang="en-US" sz="1600" b="1" dirty="0">
                <a:solidFill>
                  <a:srgbClr val="556273"/>
                </a:solidFill>
                <a:latin typeface="Calibri" pitchFamily="34" charset="0"/>
                <a:ea typeface="Calibri" pitchFamily="34" charset="-122"/>
                <a:cs typeface="Calibri" pitchFamily="34" charset="-120"/>
              </a:rPr>
              <a:t>180</a:t>
            </a:r>
            <a:endParaRPr lang="en-US" sz="1600" dirty="0"/>
          </a:p>
        </p:txBody>
      </p:sp>
      <p:sp>
        <p:nvSpPr>
          <p:cNvPr id="8" name="Shape 6"/>
          <p:cNvSpPr/>
          <p:nvPr/>
        </p:nvSpPr>
        <p:spPr>
          <a:xfrm>
            <a:off x="7406640" y="1691640"/>
            <a:ext cx="0" cy="4480560"/>
          </a:xfrm>
          <a:prstGeom prst="line">
            <a:avLst/>
          </a:prstGeom>
          <a:noFill/>
          <a:ln w="25400">
            <a:solidFill>
              <a:srgbClr val="7A1C1C"/>
            </a:solidFill>
            <a:prstDash val="dash"/>
          </a:ln>
        </p:spPr>
        <p:txBody>
          <a:bodyPr/>
          <a:lstStyle/>
          <a:p>
            <a:endParaRPr lang="en-IN"/>
          </a:p>
        </p:txBody>
      </p:sp>
      <p:sp>
        <p:nvSpPr>
          <p:cNvPr id="9" name="Text 7"/>
          <p:cNvSpPr txBox="1"/>
          <p:nvPr/>
        </p:nvSpPr>
        <p:spPr>
          <a:xfrm>
            <a:off x="457200" y="1828800"/>
            <a:ext cx="2560320" cy="45720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Step 1 · quick wins</a:t>
            </a:r>
            <a:endParaRPr lang="en-US" sz="1800" dirty="0"/>
          </a:p>
        </p:txBody>
      </p:sp>
      <p:sp>
        <p:nvSpPr>
          <p:cNvPr id="10" name="Text 8"/>
          <p:cNvSpPr txBox="1"/>
          <p:nvPr/>
        </p:nvSpPr>
        <p:spPr>
          <a:xfrm>
            <a:off x="457200" y="2286000"/>
            <a:ext cx="2560320" cy="36576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up to ₹4.3 L a month</a:t>
            </a:r>
            <a:endParaRPr lang="en-US" sz="1600" dirty="0"/>
          </a:p>
        </p:txBody>
      </p:sp>
      <p:sp>
        <p:nvSpPr>
          <p:cNvPr id="11" name="Shape 9"/>
          <p:cNvSpPr/>
          <p:nvPr/>
        </p:nvSpPr>
        <p:spPr>
          <a:xfrm>
            <a:off x="3108960" y="1828800"/>
            <a:ext cx="1432560" cy="822960"/>
          </a:xfrm>
          <a:prstGeom prst="roundRect">
            <a:avLst>
              <a:gd name="adj" fmla="val 6667"/>
            </a:avLst>
          </a:prstGeom>
          <a:solidFill>
            <a:srgbClr val="33475B"/>
          </a:solidFill>
          <a:ln w="12700">
            <a:solidFill>
              <a:srgbClr val="33475B"/>
            </a:solidFill>
            <a:prstDash val="solid"/>
          </a:ln>
        </p:spPr>
        <p:txBody>
          <a:bodyPr/>
          <a:lstStyle/>
          <a:p>
            <a:endParaRPr lang="en-IN"/>
          </a:p>
        </p:txBody>
      </p:sp>
      <p:sp>
        <p:nvSpPr>
          <p:cNvPr id="12" name="Text 10"/>
          <p:cNvSpPr txBox="1"/>
          <p:nvPr/>
        </p:nvSpPr>
        <p:spPr>
          <a:xfrm>
            <a:off x="3200400" y="1828800"/>
            <a:ext cx="124968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Silent, old Azure side, discount</a:t>
            </a:r>
            <a:endParaRPr lang="en-US" sz="1600" dirty="0"/>
          </a:p>
        </p:txBody>
      </p:sp>
      <p:sp>
        <p:nvSpPr>
          <p:cNvPr id="13" name="Text 11"/>
          <p:cNvSpPr txBox="1"/>
          <p:nvPr/>
        </p:nvSpPr>
        <p:spPr>
          <a:xfrm>
            <a:off x="457200" y="2926080"/>
            <a:ext cx="2560320" cy="45720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Step 2 · switch off, size, tune</a:t>
            </a:r>
            <a:endParaRPr lang="en-US" sz="1800" dirty="0"/>
          </a:p>
        </p:txBody>
      </p:sp>
      <p:sp>
        <p:nvSpPr>
          <p:cNvPr id="14" name="Text 12"/>
          <p:cNvSpPr txBox="1"/>
          <p:nvPr/>
        </p:nvSpPr>
        <p:spPr>
          <a:xfrm>
            <a:off x="457200" y="3383280"/>
            <a:ext cx="2560320" cy="36576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up to ₹6.6 L a month</a:t>
            </a:r>
            <a:endParaRPr lang="en-US" sz="1600" dirty="0"/>
          </a:p>
        </p:txBody>
      </p:sp>
      <p:sp>
        <p:nvSpPr>
          <p:cNvPr id="15" name="Shape 13"/>
          <p:cNvSpPr/>
          <p:nvPr/>
        </p:nvSpPr>
        <p:spPr>
          <a:xfrm>
            <a:off x="4541520" y="2926080"/>
            <a:ext cx="2865120" cy="822960"/>
          </a:xfrm>
          <a:prstGeom prst="roundRect">
            <a:avLst>
              <a:gd name="adj" fmla="val 6667"/>
            </a:avLst>
          </a:prstGeom>
          <a:solidFill>
            <a:srgbClr val="53687E"/>
          </a:solidFill>
          <a:ln w="12700">
            <a:solidFill>
              <a:srgbClr val="53687E"/>
            </a:solidFill>
            <a:prstDash val="solid"/>
          </a:ln>
        </p:spPr>
        <p:txBody>
          <a:bodyPr/>
          <a:lstStyle/>
          <a:p>
            <a:endParaRPr lang="en-IN"/>
          </a:p>
        </p:txBody>
      </p:sp>
      <p:sp>
        <p:nvSpPr>
          <p:cNvPr id="16" name="Text 14"/>
          <p:cNvSpPr txBox="1"/>
          <p:nvPr/>
        </p:nvSpPr>
        <p:spPr>
          <a:xfrm>
            <a:off x="4632960" y="2926080"/>
            <a:ext cx="268224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Idle, right-size, disks, reservations</a:t>
            </a:r>
            <a:endParaRPr lang="en-US" sz="1600" dirty="0"/>
          </a:p>
        </p:txBody>
      </p:sp>
      <p:sp>
        <p:nvSpPr>
          <p:cNvPr id="17" name="Text 15"/>
          <p:cNvSpPr txBox="1"/>
          <p:nvPr/>
        </p:nvSpPr>
        <p:spPr>
          <a:xfrm>
            <a:off x="457200" y="4023360"/>
            <a:ext cx="2560320" cy="45720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Step 3 · move to WebberStop</a:t>
            </a:r>
            <a:endParaRPr lang="en-US" sz="1800" dirty="0"/>
          </a:p>
        </p:txBody>
      </p:sp>
      <p:sp>
        <p:nvSpPr>
          <p:cNvPr id="18" name="Text 16"/>
          <p:cNvSpPr txBox="1"/>
          <p:nvPr/>
        </p:nvSpPr>
        <p:spPr>
          <a:xfrm>
            <a:off x="457200" y="4480560"/>
            <a:ext cx="2560320" cy="36576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up to ₹3.3 L est. a month</a:t>
            </a:r>
            <a:endParaRPr lang="en-US" sz="1600" dirty="0"/>
          </a:p>
        </p:txBody>
      </p:sp>
      <p:sp>
        <p:nvSpPr>
          <p:cNvPr id="19" name="Shape 17"/>
          <p:cNvSpPr/>
          <p:nvPr/>
        </p:nvSpPr>
        <p:spPr>
          <a:xfrm>
            <a:off x="5974080" y="4023360"/>
            <a:ext cx="5730240" cy="822960"/>
          </a:xfrm>
          <a:prstGeom prst="roundRect">
            <a:avLst>
              <a:gd name="adj" fmla="val 6667"/>
            </a:avLst>
          </a:prstGeom>
          <a:solidFill>
            <a:srgbClr val="7A1C1C"/>
          </a:solidFill>
          <a:ln w="12700">
            <a:solidFill>
              <a:srgbClr val="7A1C1C"/>
            </a:solidFill>
            <a:prstDash val="solid"/>
          </a:ln>
        </p:spPr>
        <p:txBody>
          <a:bodyPr/>
          <a:lstStyle/>
          <a:p>
            <a:endParaRPr lang="en-IN"/>
          </a:p>
        </p:txBody>
      </p:sp>
      <p:sp>
        <p:nvSpPr>
          <p:cNvPr id="20" name="Text 18"/>
          <p:cNvSpPr txBox="1"/>
          <p:nvPr/>
        </p:nvSpPr>
        <p:spPr>
          <a:xfrm>
            <a:off x="6065520" y="4023360"/>
            <a:ext cx="55473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First 3 by day 90</a:t>
            </a:r>
            <a:endParaRPr lang="en-US" sz="1600" dirty="0"/>
          </a:p>
        </p:txBody>
      </p:sp>
      <p:sp>
        <p:nvSpPr>
          <p:cNvPr id="21" name="Text 19"/>
          <p:cNvSpPr txBox="1"/>
          <p:nvPr/>
        </p:nvSpPr>
        <p:spPr>
          <a:xfrm>
            <a:off x="457200" y="5120640"/>
            <a:ext cx="2560320" cy="457200"/>
          </a:xfrm>
          <a:prstGeom prst="rect">
            <a:avLst/>
          </a:prstGeom>
          <a:noFill/>
          <a:ln/>
        </p:spPr>
        <p:txBody>
          <a:bodyPr wrap="square" lIns="0" tIns="0" rIns="0" bIns="0" rtlCol="0" anchor="ctr"/>
          <a:lstStyle/>
          <a:p>
            <a:pPr marL="0" indent="0">
              <a:buNone/>
            </a:pPr>
            <a:r>
              <a:rPr lang="en-US" sz="1800" b="1" dirty="0">
                <a:solidFill>
                  <a:srgbClr val="33475B"/>
                </a:solidFill>
                <a:latin typeface="Calibri" pitchFamily="34" charset="0"/>
                <a:ea typeface="Calibri" pitchFamily="34" charset="-122"/>
                <a:cs typeface="Calibri" pitchFamily="34" charset="-120"/>
              </a:rPr>
              <a:t>Step 4 · keep improving</a:t>
            </a:r>
            <a:endParaRPr lang="en-US" sz="1800" dirty="0"/>
          </a:p>
        </p:txBody>
      </p:sp>
      <p:sp>
        <p:nvSpPr>
          <p:cNvPr id="22" name="Text 20"/>
          <p:cNvSpPr txBox="1"/>
          <p:nvPr/>
        </p:nvSpPr>
        <p:spPr>
          <a:xfrm>
            <a:off x="457200" y="5577840"/>
            <a:ext cx="2560320" cy="36576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up to +₹0.4 L a month</a:t>
            </a:r>
            <a:endParaRPr lang="en-US" sz="1600" dirty="0"/>
          </a:p>
        </p:txBody>
      </p:sp>
      <p:sp>
        <p:nvSpPr>
          <p:cNvPr id="23" name="Shape 21"/>
          <p:cNvSpPr/>
          <p:nvPr/>
        </p:nvSpPr>
        <p:spPr>
          <a:xfrm>
            <a:off x="7406640" y="5120640"/>
            <a:ext cx="4297680" cy="822960"/>
          </a:xfrm>
          <a:prstGeom prst="roundRect">
            <a:avLst>
              <a:gd name="adj" fmla="val 6667"/>
            </a:avLst>
          </a:prstGeom>
          <a:solidFill>
            <a:srgbClr val="6B7F94"/>
          </a:solidFill>
          <a:ln w="12700">
            <a:solidFill>
              <a:srgbClr val="6B7F94"/>
            </a:solidFill>
            <a:prstDash val="solid"/>
          </a:ln>
        </p:spPr>
        <p:txBody>
          <a:bodyPr/>
          <a:lstStyle/>
          <a:p>
            <a:endParaRPr lang="en-IN"/>
          </a:p>
        </p:txBody>
      </p:sp>
      <p:sp>
        <p:nvSpPr>
          <p:cNvPr id="24" name="Text 22"/>
          <p:cNvSpPr txBox="1"/>
          <p:nvPr/>
        </p:nvSpPr>
        <p:spPr>
          <a:xfrm>
            <a:off x="7498080" y="5120640"/>
            <a:ext cx="41148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Monthly re-run</a:t>
            </a:r>
            <a:endParaRPr lang="en-US" sz="1600" dirty="0"/>
          </a:p>
        </p:txBody>
      </p:sp>
      <p:sp>
        <p:nvSpPr>
          <p:cNvPr id="25" name="Text 23"/>
          <p:cNvSpPr txBox="1"/>
          <p:nvPr/>
        </p:nvSpPr>
        <p:spPr>
          <a:xfrm>
            <a:off x="7498080" y="5989320"/>
            <a:ext cx="4206240" cy="320040"/>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Day-90 checkpoint: up to ₹14.7 L a month if every owner has said yes</a:t>
            </a:r>
            <a:endParaRPr lang="en-US" sz="1600" dirty="0"/>
          </a:p>
        </p:txBody>
      </p:sp>
      <p:sp>
        <p:nvSpPr>
          <p:cNvPr id="26"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76872" y="329184"/>
            <a:ext cx="47548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976872" y="329184"/>
            <a:ext cx="4754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Step total: up to ₹4.29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Step 1 · Quick wins and urgent fixes</a:t>
            </a:r>
            <a:endParaRPr lang="en-US" sz="2800" dirty="0"/>
          </a:p>
        </p:txBody>
      </p:sp>
      <p:sp>
        <p:nvSpPr>
          <p:cNvPr id="8" name="Text 6"/>
          <p:cNvSpPr txBox="1"/>
          <p:nvPr/>
        </p:nvSpPr>
        <p:spPr>
          <a:xfrm>
            <a:off x="457200" y="1325880"/>
            <a:ext cx="11274552" cy="685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Confirm and clean up what is clearly wasted, fix what is short of capacity, and start the measurements and quotes that Steps 2 and 3 depend on.</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4261104"/>
        </p:xfrm>
        <a:graphic>
          <a:graphicData uri="http://schemas.openxmlformats.org/drawingml/2006/table">
            <a:tbl>
              <a:tblPr/>
              <a:tblGrid>
                <a:gridCol w="4572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What to do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Applies to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Approx. 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Proven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Switch off the old Azure side of moved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4 pairs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₹2.01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Confirm silent servers, then stop paying for them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9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₹1.26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Ask WebberStop for the missing 40% discount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4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₹89.3K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Release unused IPs and charges for retired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23 lines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₹12.4K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Fix servers short of CPU, memory or disk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19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spend to add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Put monitoring on unmeasured billed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70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enables ₹9.15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Explain Kubernetes growth and curb idle workloads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usage charge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₹2.64 L to explain</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Step total (approximate, lines overlap slightly)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₹4.29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976872" y="329184"/>
            <a:ext cx="47548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976872" y="329184"/>
            <a:ext cx="4754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Step total: up to ₹6.56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DAYS 30–90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Step 2 · Switch off, right-size and tune</a:t>
            </a:r>
            <a:endParaRPr lang="en-US" sz="2800" dirty="0"/>
          </a:p>
        </p:txBody>
      </p:sp>
      <p:sp>
        <p:nvSpPr>
          <p:cNvPr id="8" name="Text 6"/>
          <p:cNvSpPr txBox="1"/>
          <p:nvPr/>
        </p:nvSpPr>
        <p:spPr>
          <a:xfrm>
            <a:off x="457200" y="1325880"/>
            <a:ext cx="11274552" cy="685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Switch off what nobody uses, resize what measured load allows, and reserve and trim what stays on Azure. With Step 1 this makes the 90-day target.</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4114800"/>
        </p:xfrm>
        <a:graphic>
          <a:graphicData uri="http://schemas.openxmlformats.org/drawingml/2006/table">
            <a:tbl>
              <a:tblPr/>
              <a:tblGrid>
                <a:gridCol w="4572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What to do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Applies to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Approx. 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Proven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Switch off almost-unused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36 idle + 2 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₹2.34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Right-size servers with spare capacity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30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₹53.7K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₹21.3K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Shrink over-provisioned disks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59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₹73.8K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Reserve and trim what stays on Azure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45 resources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₹2.95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Step total (approximate, lines overlap slightly)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₹6.56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976872" y="329184"/>
            <a:ext cx="47548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976872" y="329184"/>
            <a:ext cx="4754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Step total: up to ₹3.34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DAY 60 TO MONTH 6</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Step 3 · Move Azure workloads to WebberStop</a:t>
            </a:r>
            <a:endParaRPr lang="en-US" sz="2800" dirty="0"/>
          </a:p>
        </p:txBody>
      </p:sp>
      <p:sp>
        <p:nvSpPr>
          <p:cNvPr id="8" name="Text 6"/>
          <p:cNvSpPr txBox="1"/>
          <p:nvPr/>
        </p:nvSpPr>
        <p:spPr>
          <a:xfrm>
            <a:off x="457200" y="1325880"/>
            <a:ext cx="11274552" cy="685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Quote and compliance review start in Step 1; the first workloads move from day 60. The rest follow by month 6.</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4114800"/>
        </p:xfrm>
        <a:graphic>
          <a:graphicData uri="http://schemas.openxmlformats.org/drawingml/2006/table">
            <a:tbl>
              <a:tblPr/>
              <a:tblGrid>
                <a:gridCol w="4572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What to do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Applies to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Approx. 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Proven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Move Azure workloads to WebberStop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6 workloads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₹3.26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Move after compliance check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 workload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₹7.5K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Re-platform Azure SQL and App Service first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7 workloads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enables moves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Get sizes of Azure servers not in Zabbix</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7 workloads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enables moves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7315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Step total (approximate, lines overlap slightly)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₹3.34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976872" y="329184"/>
            <a:ext cx="47548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976872" y="329184"/>
            <a:ext cx="4754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Step total: up to ₹44.3K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ONGOING, MONTHLY CYCLE</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Step 4 · Keep improving</a:t>
            </a:r>
            <a:endParaRPr lang="en-US" sz="2800" dirty="0"/>
          </a:p>
        </p:txBody>
      </p:sp>
      <p:sp>
        <p:nvSpPr>
          <p:cNvPr id="8" name="Text 6"/>
          <p:cNvSpPr txBox="1"/>
          <p:nvPr/>
        </p:nvSpPr>
        <p:spPr>
          <a:xfrm>
            <a:off x="457200" y="1325880"/>
            <a:ext cx="11274552" cy="6858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Tune what is left, then re-run this analysis every month with fresh Zabbix data and act on what it proves.</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1828800"/>
        </p:xfrm>
        <a:graphic>
          <a:graphicData uri="http://schemas.openxmlformats.org/drawingml/2006/table">
            <a:tbl>
              <a:tblPr/>
              <a:tblGrid>
                <a:gridCol w="4572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What to do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Applies to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Approx. 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Proven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Risk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6858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Tune the remaining Azure services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41 resources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₹44.3K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Step total (approximate, lines overlap slightly)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b="1" dirty="0">
                          <a:solidFill>
                            <a:srgbClr val="1D2733"/>
                          </a:solidFill>
                          <a:latin typeface="Calibri" pitchFamily="34" charset="0"/>
                          <a:ea typeface="Calibri" pitchFamily="34" charset="-122"/>
                          <a:cs typeface="Calibri" pitchFamily="34" charset="-120"/>
                        </a:rPr>
                        <a:t>up to ₹44.3K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10" name="Shape 7"/>
          <p:cNvSpPr/>
          <p:nvPr/>
        </p:nvSpPr>
        <p:spPr>
          <a:xfrm>
            <a:off x="457200" y="4343400"/>
            <a:ext cx="3657600" cy="1828800"/>
          </a:xfrm>
          <a:prstGeom prst="roundRect">
            <a:avLst>
              <a:gd name="adj" fmla="val 4000"/>
            </a:avLst>
          </a:prstGeom>
          <a:solidFill>
            <a:srgbClr val="F5F7FA"/>
          </a:solidFill>
          <a:ln w="9525">
            <a:solidFill>
              <a:srgbClr val="CFD6DF"/>
            </a:solidFill>
            <a:prstDash val="solid"/>
          </a:ln>
        </p:spPr>
        <p:txBody>
          <a:bodyPr/>
          <a:lstStyle/>
          <a:p>
            <a:endParaRPr lang="en-IN"/>
          </a:p>
        </p:txBody>
      </p:sp>
      <p:sp>
        <p:nvSpPr>
          <p:cNvPr id="11" name="Text 8"/>
          <p:cNvSpPr txBox="1"/>
          <p:nvPr/>
        </p:nvSpPr>
        <p:spPr>
          <a:xfrm>
            <a:off x="640080" y="4453128"/>
            <a:ext cx="3291840" cy="365760"/>
          </a:xfrm>
          <a:prstGeom prst="rect">
            <a:avLst/>
          </a:prstGeom>
          <a:noFill/>
          <a:ln/>
        </p:spPr>
        <p:txBody>
          <a:bodyPr wrap="square" lIns="0" tIns="0" rIns="0" bIns="0" rtlCol="0" anchor="ctr"/>
          <a:lstStyle/>
          <a:p>
            <a:pPr marL="0" indent="0">
              <a:buNone/>
            </a:pPr>
            <a:r>
              <a:rPr lang="en-US" sz="1800" b="1" dirty="0">
                <a:solidFill>
                  <a:srgbClr val="7A1C1C"/>
                </a:solidFill>
                <a:latin typeface="Calibri" pitchFamily="34" charset="0"/>
                <a:ea typeface="Calibri" pitchFamily="34" charset="-122"/>
                <a:cs typeface="Calibri" pitchFamily="34" charset="-120"/>
              </a:rPr>
              <a:t>1 · Re-run monthly</a:t>
            </a:r>
            <a:endParaRPr lang="en-US" sz="1800" dirty="0"/>
          </a:p>
        </p:txBody>
      </p:sp>
      <p:sp>
        <p:nvSpPr>
          <p:cNvPr id="9" name="Text 9"/>
          <p:cNvSpPr txBox="1"/>
          <p:nvPr/>
        </p:nvSpPr>
        <p:spPr>
          <a:xfrm>
            <a:off x="640080" y="4846320"/>
            <a:ext cx="3291840" cy="128016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Load fresh Zabbix and bill files each month. Every cycle re-prices the list and surfaces new idle or silent servers.</a:t>
            </a:r>
            <a:endParaRPr lang="en-US" sz="1800" dirty="0"/>
          </a:p>
        </p:txBody>
      </p:sp>
      <p:sp>
        <p:nvSpPr>
          <p:cNvPr id="13" name="Shape 10"/>
          <p:cNvSpPr/>
          <p:nvPr/>
        </p:nvSpPr>
        <p:spPr>
          <a:xfrm>
            <a:off x="4270248" y="4343400"/>
            <a:ext cx="3657600" cy="1828800"/>
          </a:xfrm>
          <a:prstGeom prst="roundRect">
            <a:avLst>
              <a:gd name="adj" fmla="val 4000"/>
            </a:avLst>
          </a:prstGeom>
          <a:solidFill>
            <a:srgbClr val="F5F7FA"/>
          </a:solidFill>
          <a:ln w="9525">
            <a:solidFill>
              <a:srgbClr val="CFD6DF"/>
            </a:solidFill>
            <a:prstDash val="solid"/>
          </a:ln>
        </p:spPr>
        <p:txBody>
          <a:bodyPr/>
          <a:lstStyle/>
          <a:p>
            <a:endParaRPr lang="en-IN"/>
          </a:p>
        </p:txBody>
      </p:sp>
      <p:sp>
        <p:nvSpPr>
          <p:cNvPr id="14" name="Text 11"/>
          <p:cNvSpPr txBox="1"/>
          <p:nvPr/>
        </p:nvSpPr>
        <p:spPr>
          <a:xfrm>
            <a:off x="4453128" y="4453128"/>
            <a:ext cx="3291840" cy="365760"/>
          </a:xfrm>
          <a:prstGeom prst="rect">
            <a:avLst/>
          </a:prstGeom>
          <a:noFill/>
          <a:ln/>
        </p:spPr>
        <p:txBody>
          <a:bodyPr wrap="square" lIns="0" tIns="0" rIns="0" bIns="0" rtlCol="0" anchor="ctr"/>
          <a:lstStyle/>
          <a:p>
            <a:pPr marL="0" indent="0">
              <a:buNone/>
            </a:pPr>
            <a:r>
              <a:rPr lang="en-US" sz="1800" b="1" dirty="0">
                <a:solidFill>
                  <a:srgbClr val="7A1C1C"/>
                </a:solidFill>
                <a:latin typeface="Calibri" pitchFamily="34" charset="0"/>
                <a:ea typeface="Calibri" pitchFamily="34" charset="-122"/>
                <a:cs typeface="Calibri" pitchFamily="34" charset="-120"/>
              </a:rPr>
              <a:t>2 · Report in three buckets</a:t>
            </a:r>
            <a:endParaRPr lang="en-US" sz="1800" dirty="0"/>
          </a:p>
        </p:txBody>
      </p:sp>
      <p:sp>
        <p:nvSpPr>
          <p:cNvPr id="15" name="Text 12"/>
          <p:cNvSpPr txBox="1"/>
          <p:nvPr/>
        </p:nvSpPr>
        <p:spPr>
          <a:xfrm>
            <a:off x="4453128" y="4846320"/>
            <a:ext cx="3291840" cy="128016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Proven, confirmed by owners and assumed, shown separately against the 15–20% goal. Only the first two count as saved.</a:t>
            </a:r>
            <a:endParaRPr lang="en-US" sz="1800" dirty="0"/>
          </a:p>
        </p:txBody>
      </p:sp>
      <p:sp>
        <p:nvSpPr>
          <p:cNvPr id="16" name="Shape 13"/>
          <p:cNvSpPr/>
          <p:nvPr/>
        </p:nvSpPr>
        <p:spPr>
          <a:xfrm>
            <a:off x="8083296" y="4343400"/>
            <a:ext cx="3657600" cy="1828800"/>
          </a:xfrm>
          <a:prstGeom prst="roundRect">
            <a:avLst>
              <a:gd name="adj" fmla="val 4000"/>
            </a:avLst>
          </a:prstGeom>
          <a:solidFill>
            <a:srgbClr val="F5F7FA"/>
          </a:solidFill>
          <a:ln w="9525">
            <a:solidFill>
              <a:srgbClr val="CFD6DF"/>
            </a:solidFill>
            <a:prstDash val="solid"/>
          </a:ln>
        </p:spPr>
        <p:txBody>
          <a:bodyPr/>
          <a:lstStyle/>
          <a:p>
            <a:endParaRPr lang="en-IN"/>
          </a:p>
        </p:txBody>
      </p:sp>
      <p:sp>
        <p:nvSpPr>
          <p:cNvPr id="17" name="Text 14"/>
          <p:cNvSpPr txBox="1"/>
          <p:nvPr/>
        </p:nvSpPr>
        <p:spPr>
          <a:xfrm>
            <a:off x="8266176" y="4453128"/>
            <a:ext cx="3291840" cy="365760"/>
          </a:xfrm>
          <a:prstGeom prst="rect">
            <a:avLst/>
          </a:prstGeom>
          <a:noFill/>
          <a:ln/>
        </p:spPr>
        <p:txBody>
          <a:bodyPr wrap="square" lIns="0" tIns="0" rIns="0" bIns="0" rtlCol="0" anchor="ctr"/>
          <a:lstStyle/>
          <a:p>
            <a:pPr marL="0" indent="0">
              <a:buNone/>
            </a:pPr>
            <a:r>
              <a:rPr lang="en-US" sz="1800" b="1" dirty="0">
                <a:solidFill>
                  <a:srgbClr val="7A1C1C"/>
                </a:solidFill>
                <a:latin typeface="Calibri" pitchFamily="34" charset="0"/>
                <a:ea typeface="Calibri" pitchFamily="34" charset="-122"/>
                <a:cs typeface="Calibri" pitchFamily="34" charset="-120"/>
              </a:rPr>
              <a:t>3 · Set next month's list</a:t>
            </a:r>
            <a:endParaRPr lang="en-US" sz="1800" dirty="0"/>
          </a:p>
        </p:txBody>
      </p:sp>
      <p:sp>
        <p:nvSpPr>
          <p:cNvPr id="18" name="Text 15"/>
          <p:cNvSpPr txBox="1"/>
          <p:nvPr/>
        </p:nvSpPr>
        <p:spPr>
          <a:xfrm>
            <a:off x="8266176" y="4846320"/>
            <a:ext cx="3291840" cy="128016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Owners get a short list of decisions, largest saving first, with a due date.</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₹2.01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Switch off the old Azure side of moved servers</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Four servers are billed on both Azure and WebberStop. After a move the old side keeps billing until someone stops it. ProdSQL is 95% of the figure, and its Azure side still runs hot (64% CPU, disk 99.8% full).</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Decide each pair in week 1, then stop (not delete) the old side for two weeks before removing it. Done by day 30.</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Pairs were matched by server name: confirm each is the same workload</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The new side has run production for the agreed period</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The old server's last backup is restorable and nothing still connects to it</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₹2.01 L</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counting the cheaper side of each pair</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Infra lead</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Owner to confirm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3176016"/>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Azure 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WebberStop 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Azure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Webber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6583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vm-vmmargprodsql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wvm-Ecod-data3 / WVM-…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₹5.77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₹1.91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vmmargpaydb</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VM-MARGPAY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₹42.9K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₹6.1K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6583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vm-margmart-redir…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VM-MargMart-Redirect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₹2.2K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vmmb-openapi-gate…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Wvmmb-openapi-gateway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₹1.26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Confirm silent servers, then stop paying for them</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Nine billed servers sent their last reading on 17 September and cost ₹1.26 L a month. Seven sit on 192.168.4.x addresses, so a broken monitoring link is possible and worth ruling out first.</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Ask each owner in week 1: decommissioned (stop billing), moved (update the bill) or running with a broken agent (fix it). Stop billing by day 30.</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Is the server powered on in the WebberStop console?</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If decommissioned, confirm a final backup, then stop billing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Check the monitoring link for the 192.168.4.x group first</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₹1.26 L</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if all nine are decommissioned</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 + app owner</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Owner to confirm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2971800"/>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(top 5 of 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Last reading</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VM-DMSSRV</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17 Sep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₹48.1K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UAT-SERVER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17 Sep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₹29.0K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VM-Ewallet-SRV</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17 Sep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₹12.2K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WIN-JENKINS-1</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17 Sep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₹12.1K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RE-DASH-2-LIVE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17 Sep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₹89.3K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Ask WebberStop for the missing 40% discount</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Four server lines are charged at list price (₹2.23 L) because the 40% invoice discount is marked 'No'. The other 224 server lines get it. The two GPU servers are ₹84.8K of the ₹89.3K.</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Write to WebberStop this week, ask whether the discount applies under the contract, and request a credit for past months. Answer by day 30.</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Compare the invoice lines: the discount column is 'No' for these servers</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Get WebberStop's answer in writing before claiming the saving</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₹89.3K</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if the discount applies</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Procurement</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Low</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Owner to confirm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2724912"/>
        </p:xfrm>
        <a:graphic>
          <a:graphicData uri="http://schemas.openxmlformats.org/drawingml/2006/table">
            <a:tbl>
              <a:tblPr/>
              <a:tblGrid>
                <a:gridCol w="21031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Line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Billed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VM-VoiceQA (GPU)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₹1.33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₹53.0K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VM-PDFprocess (GPU)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₹79.4K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₹31.8K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K8 server (unnamed)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K8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₹8.8K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K8 server (unnamed)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K8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₹962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₹12.4K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Release unused IPs and charges for retired servers</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Three small clean-ups on the WebberStop bill. ₹3.4K a month is proven by the bill, and ₹8.9K needs a yes from WebberStop or the Infra lead.</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Release the unused public IPs in week 1. Ask WebberStop to stop backup billing for retired servers, and whether a stopped test server bills less.</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Each IP is not tied to a server, load balancer or firewall rule</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No DNS record or customer whitelist still points at it</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Backup-enabled servers on the invoice match the servers that exist</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₹12.4K</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of which ₹3.4K is proven</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 Infra lead</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Low</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Bill + owner</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2377440"/>
        </p:xfrm>
        <a:graphic>
          <a:graphicData uri="http://schemas.openxmlformats.org/drawingml/2006/table">
            <a:tbl>
              <a:tblPr/>
              <a:tblGrid>
                <a:gridCol w="24688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Item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Count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Basis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64008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Unused public IPs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22 lines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Bill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Backups of retired servers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 backups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Owner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64008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Stopped test-server billing</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 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up to ₹4.9K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Owner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891272" y="329184"/>
            <a:ext cx="38404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7891272" y="329184"/>
            <a:ext cx="3840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Spend to add, not a saving</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Fix servers short of CPU, memory or disk</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19 servers run hot: 12 have a disk 99% full or more, 2 average over 80% CPU in busy hours. The audit logged 5,627 CPU, memory and disk alerts on them in 30 days. This comes first so that resizing elsewhere never puts a stressed server at risk.</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Weeks 1–2: clean logs and temp, expand the full disks. Then scale up the worst offenders. Do not shrink these.</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Check the alerts on each server and the last month-end</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Budget for what remains: this is spend, not a saving</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000" b="1" dirty="0">
                <a:solidFill>
                  <a:srgbClr val="7A1C1C"/>
                </a:solidFill>
                <a:latin typeface="Cambria" pitchFamily="34" charset="0"/>
                <a:ea typeface="Cambria" pitchFamily="34" charset="-122"/>
                <a:cs typeface="Cambria" pitchFamily="34" charset="-120"/>
              </a:rPr>
              <a:t>19 servers</a:t>
            </a:r>
            <a:endParaRPr lang="en-US" sz="30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short of capacity: spend to add, not a saving</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 + DBA</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High</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Measured alerts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63640" y="3108960"/>
          <a:ext cx="5468112" cy="2828544"/>
        </p:xfrm>
        <a:graphic>
          <a:graphicData uri="http://schemas.openxmlformats.org/drawingml/2006/table">
            <a:tbl>
              <a:tblPr/>
              <a:tblGrid>
                <a:gridCol w="2331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216152">
                  <a:extLst>
                    <a:ext uri="{9D8B030D-6E8A-4147-A177-3AD203B41FA5}">
                      <a16:colId xmlns:a16="http://schemas.microsoft.com/office/drawing/2014/main" val="20003"/>
                    </a:ext>
                  </a:extLst>
                </a:gridCol>
              </a:tblGrid>
              <a:tr h="42976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(worst 5 of 19)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CPU p95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Mem peak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Disk full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VMMargBooksLogDBLinux</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VMMongoDBECOD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87%</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VM-eBusiness-SRV</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wvm-prodsql-2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VM-MargHR-DB</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976872" y="329184"/>
            <a:ext cx="475488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976872" y="329184"/>
            <a:ext cx="4754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Enables savings, not a saving itself</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Put monitoring on billed servers nobody measures</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70 billed WebberStop servers (₹9.15 L a month, about a quarter of the bill) are missing from the Zabbix audit, so nobody can say whether they are used or sized correctly. They include the new ProdSQL server and both GPU servers.</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Install the Zabbix agent on the largest servers first, all 70 by day 30. After two weeks of data, each server gets a switch-off, resize or keep decision in Step 2.</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The agent is installed and the host registered</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Re-run: each server then gets a decision</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₹9.15 L</a:t>
            </a:r>
            <a:endParaRPr lang="en-US" sz="32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billed with no monitoring</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Low</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Enables savings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3011424"/>
        </p:xfrm>
        <a:graphic>
          <a:graphicData uri="http://schemas.openxmlformats.org/drawingml/2006/table">
            <a:tbl>
              <a:tblPr/>
              <a:tblGrid>
                <a:gridCol w="26517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21615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(top 5 of 70)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Line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vCPU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Cost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wvm-Ecod-data3 / WVM-Prod…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ERP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₹1.91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VM-VoiceQA (GPU)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₹1.33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VM-PDFprocess (GPU)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GPU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64</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₹79.4K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WEB-MCLOUDS-14</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CLOUD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64</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₹43.9K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wvm-Ecod-data / vm-e-Invo…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ERP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₹30.4K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Growth to explain: ₹2.64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1 · DAYS 0–30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Explain Kubernetes growth and curb idle workloads</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The Kubernetes (CloudStack) usage charge went from ₹1.9K in June to ₹2.66 L in September, and the bill does not say which workloads drive it. It is the biggest single driver of the rise.</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Ask WebberStop for the usage breakdown by namespace and node in week 1. Set limits on idle workloads. The plan targets half the growth by day 90 (₹1.32 L), which is a target, not evidence.</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Ask the platform team what runs in the clusters and who asked for them</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Check whether the nodes are mostly idle</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₹2.64 L</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added since June, to be explained</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Cost to explain</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0–30</a:t>
            </a:r>
            <a:endParaRPr lang="en-US" sz="1600" dirty="0"/>
          </a:p>
        </p:txBody>
      </p:sp>
      <p:sp>
        <p:nvSpPr>
          <p:cNvPr id="13" name="Text 11"/>
          <p:cNvSpPr txBox="1"/>
          <p:nvPr/>
        </p:nvSpPr>
        <p:spPr>
          <a:xfrm>
            <a:off x="6263640" y="3108960"/>
            <a:ext cx="5468112" cy="320040"/>
          </a:xfrm>
          <a:prstGeom prst="rect">
            <a:avLst/>
          </a:prstGeom>
          <a:noFill/>
          <a:ln/>
        </p:spPr>
        <p:txBody>
          <a:bodyPr wrap="square" lIns="0" tIns="0" rIns="0" bIns="0" rtlCol="0" anchor="ctr"/>
          <a:lstStyle/>
          <a:p>
            <a:pPr marL="0" indent="0">
              <a:buNone/>
            </a:pPr>
            <a:r>
              <a:rPr lang="en-US" sz="1600" b="1" dirty="0">
                <a:solidFill>
                  <a:srgbClr val="33475B"/>
                </a:solidFill>
                <a:latin typeface="Calibri" pitchFamily="34" charset="0"/>
                <a:ea typeface="Calibri" pitchFamily="34" charset="-122"/>
                <a:cs typeface="Calibri" pitchFamily="34" charset="-120"/>
              </a:rPr>
              <a:t>Kubernetes usage charge, ₹ lakh a month</a:t>
            </a:r>
            <a:endParaRPr lang="en-US" sz="1600" dirty="0"/>
          </a:p>
        </p:txBody>
      </p:sp>
      <p:graphicFrame>
        <p:nvGraphicFramePr>
          <p:cNvPr id="14" name="Chart 0"/>
          <p:cNvGraphicFramePr/>
          <p:nvPr/>
        </p:nvGraphicFramePr>
        <p:xfrm>
          <a:off x="6263640" y="3474720"/>
          <a:ext cx="5468112"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₹2.34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2 · DAYS 30–90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Switch off servers that are almost unused</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36 servers peaked below 15% CPU even in their busiest hours, averaged under 5% and used little memory for 30 days. They cost ₹2.34 L a month. Two GPU servers (₹2.12 L) cannot be judged: GPU load is not measured.</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Owners answer by day 40. Snapshot and stop, then delete after two weeks. Off by day 75. If needed but quiet, shrink it instead.</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Last login and last scheduled job</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Network traffic over 90 days</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Keep the snapshot for the agreed retention</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₹2.34 L</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if all 36 are switched off (ceiling)</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App owner + DevOps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Owner to confirm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30–90</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2971800"/>
        </p:xfrm>
        <a:graphic>
          <a:graphicData uri="http://schemas.openxmlformats.org/drawingml/2006/table">
            <a:tbl>
              <a:tblPr/>
              <a:tblGrid>
                <a:gridCol w="2514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(top 5 of 36)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Where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CPU p95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VMMargApp2NSync</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0.8%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₹43.3K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VM-APP2N-PATCH2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Webber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0.6%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₹28.4K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WEB-PREMIUM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Webber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₹10.4K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wvm-pkdredis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Webber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wvm-Elasticsearchpkd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Webber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₹53.7K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2 · DAYS 30–90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Right-size servers whose load allows a smaller size</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12 servers can run on half their vCPUs: busy-hour CPU is under 35% and spikes stay within the smaller size. That saves ₹21.3K, proven by measured load and prices already on the bill. 13 more need a price or DBA check (up to ₹32.4K).</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Start in week 5 with the 12 proven; one server per maintenance window, standby first. Also cap SQL Server memory on 5 database servers: no saving, but it stops false memory alarms.</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Month-end peaks fall inside the 30-day window</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Licences that count by core (Windows, SQL) allow it</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DBA checks waits and IO latency for any database</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₹53.7K</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₹21.3K proven, ₹32.4K to confirm</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 DBA for databases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Proven by load</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30–90</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3090672"/>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(top 5 of 12)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vCPU</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CPU p95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wvm-pkdapi</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16 → 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₹4.1K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Wvmmb1-salepurchasema…</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4 → 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Wvmmb1-salepurchasema…</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4 → 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Wvmmb1-salepurchasema…</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4 → 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₹3.0K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Wvmmb1-ledger-1</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4 → 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₹73.8K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2 · DAYS 30–90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Shrink over-provisioned disks</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59 servers have volumes of 100 GB or more that never passed 50% full in 30 days. About 19,919 GB can be reclaimed, priced at the bill's own storage rate (about ₹3.3 per GB a month).</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Disks cannot shrink in place: create a smaller volume, copy, swap. Start with the 10 largest data disks (not C: or /) in week 6.</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What fills the disk: data, logs, backups or temp</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The growth trend is flat or slow</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A new smaller disk is planned and the data copied</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₹73.8K</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an estimate from the bill's storage rate</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DevOps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Owner to confirm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30–90</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2971800"/>
        </p:xfrm>
        <a:graphic>
          <a:graphicData uri="http://schemas.openxmlformats.org/drawingml/2006/table">
            <a:tbl>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Server (top 5 of 59)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Disk GB</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Used GB</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wvm-mbsql-4</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2,998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670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wvm-mbsql-8</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4,050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1,855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WIN-Beta-Srv</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1,199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33</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WEB-PREMIUM</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1,199</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33</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wvm-mbsql-12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1,800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635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₹2.95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2 · DAYS 30–90</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Reserve and trim what stays on Azure and in backup</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These are the large Azure and backup lines that will stay. The percentages (10–25%) are assumptions, so ₹2.95 L is an estimate, not a saving, until owners review the biggest resources. Reservations leave out Azure servers that retire or move, which cuts that line to ₹67.7K.</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Trim snapshots, storage accounts and disks in weeks 5–8. Buy reservations only for servers that stay, once the move list is firm (day 60). Review backup retention.</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Decide which Azure servers stay before committing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Agree a retention period per workload</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Check reservations on servers being retired</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₹2.95 L</a:t>
            </a:r>
            <a:endParaRPr lang="en-US" sz="32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estimate at assumed 10–25% per line</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Cloud lead + Infra lead</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Estimate</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Days 30–90</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320040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24712">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Line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Cost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Assumed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At stake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managed disks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₹6.05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₹90.8K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VM reservations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₹2.71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₹67.7K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storage accounts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₹2.50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₹37.5K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snapshots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₹1.88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₹37.5K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Backup storage</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₹3.45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₹34.5K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App Service plans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₹1.79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₹26.9K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₹3.26 L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3 · DAY 60 TO MONTH 6</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Move Azure workloads to WebberStop</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Six Azure workloads cost ₹4.61 L a month for servers, disks and network items. The same sizes at WebberStop's current prices are about ₹1.35 L. Azure data-transfer and licence differences are not counted, so the real saving is likely higher.</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Quote and compliance review in days 0–30. Pilot the first workload by day 60, and land the first three (₹2.52 L) by day 90. The other three follow by month 6.</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Legal and security confirm the data may sit with WebberStop</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Windows and SQL Server licence terms allow the move</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The pilot measures latency to users and to databases</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400" b="1" dirty="0">
                <a:solidFill>
                  <a:srgbClr val="7A1C1C"/>
                </a:solidFill>
                <a:latin typeface="Cambria" pitchFamily="34" charset="0"/>
                <a:ea typeface="Cambria" pitchFamily="34" charset="-122"/>
                <a:cs typeface="Cambria" pitchFamily="34" charset="-120"/>
              </a:rPr>
              <a:t>₹3.26 L</a:t>
            </a:r>
            <a:endParaRPr lang="en-US" sz="34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an estimate (Azure ₹4.6 L → ₹1.3 L)</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Cloud lead + app owners</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Medium</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Estimate</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Day 60 to month 6</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263640" y="3108960"/>
          <a:ext cx="5468112" cy="3008376"/>
        </p:xfrm>
        <a:graphic>
          <a:graphicData uri="http://schemas.openxmlformats.org/drawingml/2006/table">
            <a:tbl>
              <a:tblPr/>
              <a:tblGrid>
                <a:gridCol w="16916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44752">
                  <a:extLst>
                    <a:ext uri="{9D8B030D-6E8A-4147-A177-3AD203B41FA5}">
                      <a16:colId xmlns:a16="http://schemas.microsoft.com/office/drawing/2014/main" val="20003"/>
                    </a:ext>
                  </a:extLst>
                </a:gridCol>
              </a:tblGrid>
              <a:tr h="42976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Workload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Azure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Saving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Lands by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VM-App2</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₹1.73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₹1.49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Day 90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VM-ReportServer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₹1.13 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₹57.6K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Day 90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VM-APP2-New</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₹60.6K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₹38.6K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Month 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VM-APP2NSYNC</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₹52.6K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₹45.5K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Day 90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ECOD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₹46.6K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₹27.3K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Month 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WhatsApp</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₹14.3K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ctr">
                        <a:buNone/>
                      </a:pPr>
                      <a:r>
                        <a:rPr lang="en-US" sz="1600" dirty="0">
                          <a:solidFill>
                            <a:srgbClr val="1D2733"/>
                          </a:solidFill>
                          <a:latin typeface="Calibri" pitchFamily="34" charset="0"/>
                          <a:ea typeface="Calibri" pitchFamily="34" charset="-122"/>
                          <a:cs typeface="Calibri" pitchFamily="34" charset="-120"/>
                        </a:rPr>
                        <a:t>Month 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3 · DAY 60 TO MONTH 6</a:t>
            </a:r>
            <a:endParaRPr lang="en-US" sz="1600" dirty="0"/>
          </a:p>
        </p:txBody>
      </p:sp>
      <p:sp>
        <p:nvSpPr>
          <p:cNvPr id="5"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Before more workloads can move</a:t>
            </a:r>
            <a:endParaRPr lang="en-US" sz="2800" dirty="0"/>
          </a:p>
        </p:txBody>
      </p:sp>
      <p:sp>
        <p:nvSpPr>
          <p:cNvPr id="6" name="Shape 4"/>
          <p:cNvSpPr/>
          <p:nvPr/>
        </p:nvSpPr>
        <p:spPr>
          <a:xfrm>
            <a:off x="457200" y="1417320"/>
            <a:ext cx="3657600" cy="4800600"/>
          </a:xfrm>
          <a:prstGeom prst="roundRect">
            <a:avLst>
              <a:gd name="adj" fmla="val 2000"/>
            </a:avLst>
          </a:prstGeom>
          <a:solidFill>
            <a:srgbClr val="F5F7FA"/>
          </a:solidFill>
          <a:ln w="9525">
            <a:solidFill>
              <a:srgbClr val="CFD6DF"/>
            </a:solidFill>
            <a:prstDash val="solid"/>
          </a:ln>
        </p:spPr>
        <p:txBody>
          <a:bodyPr/>
          <a:lstStyle/>
          <a:p>
            <a:endParaRPr lang="en-IN"/>
          </a:p>
        </p:txBody>
      </p:sp>
      <p:sp>
        <p:nvSpPr>
          <p:cNvPr id="7" name="Text 5"/>
          <p:cNvSpPr txBox="1"/>
          <p:nvPr/>
        </p:nvSpPr>
        <p:spPr>
          <a:xfrm>
            <a:off x="640080" y="152704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COMPLIANCE FIRST</a:t>
            </a:r>
            <a:endParaRPr lang="en-US" sz="1600" dirty="0"/>
          </a:p>
        </p:txBody>
      </p:sp>
      <p:sp>
        <p:nvSpPr>
          <p:cNvPr id="8" name="Text 6"/>
          <p:cNvSpPr txBox="1"/>
          <p:nvPr/>
        </p:nvSpPr>
        <p:spPr>
          <a:xfrm>
            <a:off x="640080" y="1847088"/>
            <a:ext cx="329184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₹7.5K</a:t>
            </a:r>
            <a:endParaRPr lang="en-US" sz="3200" dirty="0"/>
          </a:p>
        </p:txBody>
      </p:sp>
      <p:sp>
        <p:nvSpPr>
          <p:cNvPr id="9" name="Text 7"/>
          <p:cNvSpPr txBox="1"/>
          <p:nvPr/>
        </p:nvSpPr>
        <p:spPr>
          <a:xfrm>
            <a:off x="640080" y="2468880"/>
            <a:ext cx="3291840" cy="594360"/>
          </a:xfrm>
          <a:prstGeom prst="rect">
            <a:avLst/>
          </a:prstGeom>
          <a:noFill/>
          <a:ln/>
        </p:spPr>
        <p:txBody>
          <a:bodyPr wrap="square" lIns="0" tIns="0" rIns="0" bIns="0" rtlCol="0" anchor="t"/>
          <a:lstStyle/>
          <a:p>
            <a:pPr marL="0" indent="0">
              <a:buNone/>
            </a:pPr>
            <a:r>
              <a:rPr lang="en-US" sz="1600" dirty="0">
                <a:solidFill>
                  <a:srgbClr val="556273"/>
                </a:solidFill>
                <a:latin typeface="Calibri" pitchFamily="34" charset="0"/>
                <a:ea typeface="Calibri" pitchFamily="34" charset="-122"/>
                <a:cs typeface="Calibri" pitchFamily="34" charset="-120"/>
              </a:rPr>
              <a:t>a month at stake · 1 workload</a:t>
            </a:r>
            <a:endParaRPr lang="en-US" sz="1600" dirty="0"/>
          </a:p>
        </p:txBody>
      </p:sp>
      <p:sp>
        <p:nvSpPr>
          <p:cNvPr id="10" name="Text 8"/>
          <p:cNvSpPr txBox="1"/>
          <p:nvPr/>
        </p:nvSpPr>
        <p:spPr>
          <a:xfrm>
            <a:off x="640080" y="3154680"/>
            <a:ext cx="3291840" cy="22860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ABHA (health data) looks cheaper at WebberStop, but only if Legal and Security approve data location, certifications and customer contracts. Start the review in week 1.</a:t>
            </a:r>
            <a:endParaRPr lang="en-US" sz="1800" dirty="0"/>
          </a:p>
        </p:txBody>
      </p:sp>
      <p:sp>
        <p:nvSpPr>
          <p:cNvPr id="11" name="Text 9"/>
          <p:cNvSpPr txBox="1"/>
          <p:nvPr/>
        </p:nvSpPr>
        <p:spPr>
          <a:xfrm>
            <a:off x="640080" y="5532120"/>
            <a:ext cx="3291840" cy="59436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Owner: Legal + Security · Risk: High</a:t>
            </a:r>
            <a:endParaRPr lang="en-US" sz="1600" dirty="0"/>
          </a:p>
        </p:txBody>
      </p:sp>
      <p:sp>
        <p:nvSpPr>
          <p:cNvPr id="12" name="Shape 10"/>
          <p:cNvSpPr/>
          <p:nvPr/>
        </p:nvSpPr>
        <p:spPr>
          <a:xfrm>
            <a:off x="4270248" y="1417320"/>
            <a:ext cx="3657600" cy="4800600"/>
          </a:xfrm>
          <a:prstGeom prst="roundRect">
            <a:avLst>
              <a:gd name="adj" fmla="val 2000"/>
            </a:avLst>
          </a:prstGeom>
          <a:solidFill>
            <a:srgbClr val="F5F7FA"/>
          </a:solidFill>
          <a:ln w="9525">
            <a:solidFill>
              <a:srgbClr val="CFD6DF"/>
            </a:solidFill>
            <a:prstDash val="solid"/>
          </a:ln>
        </p:spPr>
        <p:txBody>
          <a:bodyPr/>
          <a:lstStyle/>
          <a:p>
            <a:endParaRPr lang="en-IN"/>
          </a:p>
        </p:txBody>
      </p:sp>
      <p:sp>
        <p:nvSpPr>
          <p:cNvPr id="13" name="Text 11"/>
          <p:cNvSpPr txBox="1"/>
          <p:nvPr/>
        </p:nvSpPr>
        <p:spPr>
          <a:xfrm>
            <a:off x="4453128" y="152704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RE-PLATFORM FIRST</a:t>
            </a:r>
            <a:endParaRPr lang="en-US" sz="1600" dirty="0"/>
          </a:p>
        </p:txBody>
      </p:sp>
      <p:sp>
        <p:nvSpPr>
          <p:cNvPr id="14" name="Text 12"/>
          <p:cNvSpPr txBox="1"/>
          <p:nvPr/>
        </p:nvSpPr>
        <p:spPr>
          <a:xfrm>
            <a:off x="4453128" y="1847088"/>
            <a:ext cx="329184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₹1.84 L</a:t>
            </a:r>
            <a:endParaRPr lang="en-US" sz="3200" dirty="0"/>
          </a:p>
        </p:txBody>
      </p:sp>
      <p:sp>
        <p:nvSpPr>
          <p:cNvPr id="15" name="Text 13"/>
          <p:cNvSpPr txBox="1"/>
          <p:nvPr/>
        </p:nvSpPr>
        <p:spPr>
          <a:xfrm>
            <a:off x="4453128" y="2468880"/>
            <a:ext cx="3291840" cy="594360"/>
          </a:xfrm>
          <a:prstGeom prst="rect">
            <a:avLst/>
          </a:prstGeom>
          <a:noFill/>
          <a:ln/>
        </p:spPr>
        <p:txBody>
          <a:bodyPr wrap="square" lIns="0" tIns="0" rIns="0" bIns="0" rtlCol="0" anchor="t"/>
          <a:lstStyle/>
          <a:p>
            <a:pPr marL="0" indent="0">
              <a:buNone/>
            </a:pPr>
            <a:r>
              <a:rPr lang="en-US" sz="1600" dirty="0">
                <a:solidFill>
                  <a:srgbClr val="556273"/>
                </a:solidFill>
                <a:latin typeface="Calibri" pitchFamily="34" charset="0"/>
                <a:ea typeface="Calibri" pitchFamily="34" charset="-122"/>
                <a:cs typeface="Calibri" pitchFamily="34" charset="-120"/>
              </a:rPr>
              <a:t>a month on Azure SQL, App Service · 7 workloads</a:t>
            </a:r>
            <a:endParaRPr lang="en-US" sz="1600" dirty="0"/>
          </a:p>
        </p:txBody>
      </p:sp>
      <p:sp>
        <p:nvSpPr>
          <p:cNvPr id="16" name="Text 14"/>
          <p:cNvSpPr txBox="1"/>
          <p:nvPr/>
        </p:nvSpPr>
        <p:spPr>
          <a:xfrm>
            <a:off x="4453128" y="3154680"/>
            <a:ext cx="3291840" cy="22860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These services cannot be copied to WebberStop as they are. They must be rebuilt as servers with SQL licences first. The largest is MargBooks-VM (₹1.27 L). Get a quote in Step 1.</a:t>
            </a:r>
            <a:endParaRPr lang="en-US" sz="1800" dirty="0"/>
          </a:p>
        </p:txBody>
      </p:sp>
      <p:sp>
        <p:nvSpPr>
          <p:cNvPr id="17" name="Text 15"/>
          <p:cNvSpPr txBox="1"/>
          <p:nvPr/>
        </p:nvSpPr>
        <p:spPr>
          <a:xfrm>
            <a:off x="4453128" y="5532120"/>
            <a:ext cx="3291840" cy="59436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Owner: App owners + DBA · Risk: Medium</a:t>
            </a:r>
            <a:endParaRPr lang="en-US" sz="1600" dirty="0"/>
          </a:p>
        </p:txBody>
      </p:sp>
      <p:sp>
        <p:nvSpPr>
          <p:cNvPr id="18" name="Shape 16"/>
          <p:cNvSpPr/>
          <p:nvPr/>
        </p:nvSpPr>
        <p:spPr>
          <a:xfrm>
            <a:off x="8083296" y="1417320"/>
            <a:ext cx="3657600" cy="4800600"/>
          </a:xfrm>
          <a:prstGeom prst="roundRect">
            <a:avLst>
              <a:gd name="adj" fmla="val 2000"/>
            </a:avLst>
          </a:prstGeom>
          <a:solidFill>
            <a:srgbClr val="F5F7FA"/>
          </a:solidFill>
          <a:ln w="9525">
            <a:solidFill>
              <a:srgbClr val="CFD6DF"/>
            </a:solidFill>
            <a:prstDash val="solid"/>
          </a:ln>
        </p:spPr>
        <p:txBody>
          <a:bodyPr/>
          <a:lstStyle/>
          <a:p>
            <a:endParaRPr lang="en-IN"/>
          </a:p>
        </p:txBody>
      </p:sp>
      <p:sp>
        <p:nvSpPr>
          <p:cNvPr id="19" name="Text 17"/>
          <p:cNvSpPr txBox="1"/>
          <p:nvPr/>
        </p:nvSpPr>
        <p:spPr>
          <a:xfrm>
            <a:off x="8266176" y="1527048"/>
            <a:ext cx="3291840" cy="292608"/>
          </a:xfrm>
          <a:prstGeom prst="rect">
            <a:avLst/>
          </a:prstGeom>
          <a:noFill/>
          <a:ln/>
        </p:spPr>
        <p:txBody>
          <a:bodyPr wrap="square" lIns="0" tIns="0" rIns="0" bIns="0" rtlCol="0" anchor="ctr"/>
          <a:lstStyle/>
          <a:p>
            <a:pPr marL="0" indent="0">
              <a:buNone/>
            </a:pPr>
            <a:r>
              <a:rPr lang="en-US" sz="1600" b="1" dirty="0">
                <a:solidFill>
                  <a:srgbClr val="556273"/>
                </a:solidFill>
                <a:latin typeface="Calibri" pitchFamily="34" charset="0"/>
                <a:ea typeface="Calibri" pitchFamily="34" charset="-122"/>
                <a:cs typeface="Calibri" pitchFamily="34" charset="-120"/>
              </a:rPr>
              <a:t>SERVER SIZES FIRST</a:t>
            </a:r>
            <a:endParaRPr lang="en-US" sz="1600" dirty="0"/>
          </a:p>
        </p:txBody>
      </p:sp>
      <p:sp>
        <p:nvSpPr>
          <p:cNvPr id="20" name="Text 18"/>
          <p:cNvSpPr txBox="1"/>
          <p:nvPr/>
        </p:nvSpPr>
        <p:spPr>
          <a:xfrm>
            <a:off x="8266176" y="1847088"/>
            <a:ext cx="329184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₹7.18 L</a:t>
            </a:r>
            <a:endParaRPr lang="en-US" sz="3200" dirty="0"/>
          </a:p>
        </p:txBody>
      </p:sp>
      <p:sp>
        <p:nvSpPr>
          <p:cNvPr id="21" name="Text 19"/>
          <p:cNvSpPr txBox="1"/>
          <p:nvPr/>
        </p:nvSpPr>
        <p:spPr>
          <a:xfrm>
            <a:off x="8266176" y="2468880"/>
            <a:ext cx="3291840" cy="594360"/>
          </a:xfrm>
          <a:prstGeom prst="rect">
            <a:avLst/>
          </a:prstGeom>
          <a:noFill/>
          <a:ln/>
        </p:spPr>
        <p:txBody>
          <a:bodyPr wrap="square" lIns="0" tIns="0" rIns="0" bIns="0" rtlCol="0" anchor="t"/>
          <a:lstStyle/>
          <a:p>
            <a:pPr marL="0" indent="0">
              <a:buNone/>
            </a:pPr>
            <a:r>
              <a:rPr lang="en-US" sz="1600" dirty="0">
                <a:solidFill>
                  <a:srgbClr val="556273"/>
                </a:solidFill>
                <a:latin typeface="Calibri" pitchFamily="34" charset="0"/>
                <a:ea typeface="Calibri" pitchFamily="34" charset="-122"/>
                <a:cs typeface="Calibri" pitchFamily="34" charset="-120"/>
              </a:rPr>
              <a:t>a month on Azure · 7 workloads</a:t>
            </a:r>
            <a:endParaRPr lang="en-US" sz="1600" dirty="0"/>
          </a:p>
        </p:txBody>
      </p:sp>
      <p:sp>
        <p:nvSpPr>
          <p:cNvPr id="22" name="Text 20"/>
          <p:cNvSpPr txBox="1"/>
          <p:nvPr/>
        </p:nvSpPr>
        <p:spPr>
          <a:xfrm>
            <a:off x="8266176" y="3154680"/>
            <a:ext cx="3291840" cy="2286000"/>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These servers are not in Zabbix, so their size is unknown and they cannot be priced. The largest is VM-MargME9 (₹2.98 L). Install the agent or list the sizes in Step 1.</a:t>
            </a:r>
            <a:endParaRPr lang="en-US" sz="1800" dirty="0"/>
          </a:p>
        </p:txBody>
      </p:sp>
      <p:sp>
        <p:nvSpPr>
          <p:cNvPr id="23" name="Text 21"/>
          <p:cNvSpPr txBox="1"/>
          <p:nvPr/>
        </p:nvSpPr>
        <p:spPr>
          <a:xfrm>
            <a:off x="8266176" y="5532120"/>
            <a:ext cx="3291840" cy="594360"/>
          </a:xfrm>
          <a:prstGeom prst="rect">
            <a:avLst/>
          </a:prstGeom>
          <a:noFill/>
          <a:ln/>
        </p:spPr>
        <p:txBody>
          <a:bodyPr wrap="square" lIns="0" tIns="0" rIns="0" bIns="0" rtlCol="0" anchor="t"/>
          <a:lstStyle/>
          <a:p>
            <a:pPr marL="0" indent="0">
              <a:buNone/>
            </a:pPr>
            <a:r>
              <a:rPr lang="en-US" sz="1600" b="1" dirty="0">
                <a:solidFill>
                  <a:srgbClr val="33475B"/>
                </a:solidFill>
                <a:latin typeface="Calibri" pitchFamily="34" charset="0"/>
                <a:ea typeface="Calibri" pitchFamily="34" charset="-122"/>
                <a:cs typeface="Calibri" pitchFamily="34" charset="-120"/>
              </a:rPr>
              <a:t>Owner: DevOps · Risk: Low</a:t>
            </a:r>
            <a:endParaRPr lang="en-US" sz="16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611112" y="329184"/>
            <a:ext cx="5120640" cy="365760"/>
          </a:xfrm>
          <a:prstGeom prst="roundRect">
            <a:avLst>
              <a:gd name="adj" fmla="val 15000"/>
            </a:avLst>
          </a:prstGeom>
          <a:solidFill>
            <a:srgbClr val="7A1C1C"/>
          </a:solidFill>
          <a:ln w="12700">
            <a:solidFill>
              <a:srgbClr val="7A1C1C"/>
            </a:solidFill>
            <a:prstDash val="solid"/>
          </a:ln>
        </p:spPr>
        <p:txBody>
          <a:bodyPr/>
          <a:lstStyle/>
          <a:p>
            <a:endParaRPr lang="en-IN"/>
          </a:p>
        </p:txBody>
      </p:sp>
      <p:sp>
        <p:nvSpPr>
          <p:cNvPr id="3" name="Text 1"/>
          <p:cNvSpPr txBox="1"/>
          <p:nvPr/>
        </p:nvSpPr>
        <p:spPr>
          <a:xfrm>
            <a:off x="6611112" y="329184"/>
            <a:ext cx="5120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Approx. saving: up to ₹44.3K a month</a:t>
            </a:r>
            <a:endParaRPr lang="en-US" sz="1600" dirty="0"/>
          </a:p>
        </p:txBody>
      </p:sp>
      <p:sp>
        <p:nvSpPr>
          <p:cNvPr id="4" name="Shape 2"/>
          <p:cNvSpPr/>
          <p:nvPr/>
        </p:nvSpPr>
        <p:spPr>
          <a:xfrm>
            <a:off x="457200" y="365760"/>
            <a:ext cx="731520" cy="731520"/>
          </a:xfrm>
          <a:prstGeom prst="ellipse">
            <a:avLst/>
          </a:prstGeom>
          <a:solidFill>
            <a:srgbClr val="7A1C1C"/>
          </a:solidFill>
          <a:ln w="12700">
            <a:solidFill>
              <a:srgbClr val="7A1C1C"/>
            </a:solidFill>
            <a:prstDash val="solid"/>
          </a:ln>
        </p:spPr>
        <p:txBody>
          <a:bodyPr/>
          <a:lstStyle/>
          <a:p>
            <a:endParaRPr lang="en-IN"/>
          </a:p>
        </p:txBody>
      </p:sp>
      <p:sp>
        <p:nvSpPr>
          <p:cNvPr id="5" name="Text 3"/>
          <p:cNvSpPr txBox="1"/>
          <p:nvPr/>
        </p:nvSpPr>
        <p:spPr>
          <a:xfrm>
            <a:off x="457200" y="36576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6" name="Text 4"/>
          <p:cNvSpPr txBox="1"/>
          <p:nvPr/>
        </p:nvSpPr>
        <p:spPr>
          <a:xfrm>
            <a:off x="1371600" y="329184"/>
            <a:ext cx="5760720" cy="292608"/>
          </a:xfrm>
          <a:prstGeom prst="rect">
            <a:avLst/>
          </a:prstGeom>
          <a:noFill/>
          <a:ln/>
        </p:spPr>
        <p:txBody>
          <a:bodyPr wrap="square" lIns="0" tIns="0" rIns="0" bIns="0" rtlCol="0" anchor="ctr"/>
          <a:lstStyle/>
          <a:p>
            <a:pPr marL="0" indent="0">
              <a:buNone/>
            </a:pPr>
            <a:r>
              <a:rPr lang="en-US" sz="1600" b="1" dirty="0">
                <a:solidFill>
                  <a:srgbClr val="7A1C1C"/>
                </a:solidFill>
                <a:latin typeface="Calibri" pitchFamily="34" charset="0"/>
                <a:ea typeface="Calibri" pitchFamily="34" charset="-122"/>
                <a:cs typeface="Calibri" pitchFamily="34" charset="-120"/>
              </a:rPr>
              <a:t>STEP 4 · ONGOING</a:t>
            </a:r>
            <a:endParaRPr lang="en-US" sz="1600" dirty="0"/>
          </a:p>
        </p:txBody>
      </p:sp>
      <p:sp>
        <p:nvSpPr>
          <p:cNvPr id="7" name="Text 1"/>
          <p:cNvSpPr>
            <a:spLocks noGrp="1"/>
          </p:cNvSpPr>
          <p:nvPr>
            <p:ph type="title" idx="101" hasCustomPrompt="1"/>
          </p:nvPr>
        </p:nvSpPr>
        <p:spPr>
          <a:xfrm>
            <a:off x="1371600" y="640080"/>
            <a:ext cx="10360152" cy="566928"/>
          </a:xfrm>
          <a:prstGeom prst="rect">
            <a:avLst/>
          </a:prstGeom>
          <a:noFill/>
          <a:ln/>
        </p:spPr>
        <p:txBody>
          <a:bodyPr wrap="square" lIns="0" tIns="0" rIns="0" bIns="0" rtlCol="0" anchor="ctr"/>
          <a:lstStyle/>
          <a:p>
            <a:pPr marL="0" indent="0" algn="l">
              <a:buNone/>
            </a:pPr>
            <a:r>
              <a:rPr lang="en-US" sz="2800" b="1" dirty="0">
                <a:solidFill>
                  <a:srgbClr val="33475B"/>
                </a:solidFill>
                <a:latin typeface="Cambria" pitchFamily="34" charset="0"/>
                <a:ea typeface="Cambria" pitchFamily="34" charset="-122"/>
                <a:cs typeface="Cambria" pitchFamily="34" charset="-120"/>
              </a:rPr>
              <a:t>Tune the rest, and re-run the analysis monthly</a:t>
            </a:r>
            <a:endParaRPr lang="en-US" sz="2800" dirty="0"/>
          </a:p>
        </p:txBody>
      </p:sp>
      <p:sp>
        <p:nvSpPr>
          <p:cNvPr id="8" name="Text 6"/>
          <p:cNvSpPr txBox="1"/>
          <p:nvPr/>
        </p:nvSpPr>
        <p:spPr>
          <a:xfrm>
            <a:off x="457200" y="1417320"/>
            <a:ext cx="5440680" cy="4800600"/>
          </a:xfrm>
          <a:prstGeom prst="rect">
            <a:avLst/>
          </a:prstGeom>
          <a:noFill/>
          <a:ln/>
        </p:spPr>
        <p:txBody>
          <a:bodyPr wrap="square" lIns="0" tIns="0" rIns="0" bIns="0" rtlCol="0" anchor="t"/>
          <a:lstStyle/>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Why it matters</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After the big moves, the remaining Azure services add up to ₹44.3K a month at an assumed 15%. More valuable is the cycle: every month, new Zabbix data decides the next switch-off, resize or move.</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What to do</a:t>
            </a:r>
            <a:endParaRPr lang="en-US" sz="1800" dirty="0"/>
          </a:p>
          <a:p>
            <a:pPr marL="0" indent="0">
              <a:spcAft>
                <a:spcPts val="1000"/>
              </a:spcAft>
              <a:buNone/>
            </a:pPr>
            <a:r>
              <a:rPr lang="en-US" sz="1800" dirty="0">
                <a:solidFill>
                  <a:srgbClr val="1D2733"/>
                </a:solidFill>
                <a:latin typeface="Calibri" pitchFamily="34" charset="0"/>
                <a:ea typeface="Calibri" pitchFamily="34" charset="-122"/>
                <a:cs typeface="Calibri" pitchFamily="34" charset="-120"/>
              </a:rPr>
              <a:t>Review the remaining services as owners free up. Re-run this analysis monthly, report proven, confirmed and assumed savings separately, and set the next month's list.</a:t>
            </a:r>
            <a:endParaRPr lang="en-US" sz="1800" dirty="0"/>
          </a:p>
          <a:p>
            <a:pPr marL="0" indent="0">
              <a:spcAft>
                <a:spcPts val="200"/>
              </a:spcAft>
              <a:buNone/>
            </a:pPr>
            <a:r>
              <a:rPr lang="en-US" sz="1800" b="1" dirty="0">
                <a:solidFill>
                  <a:srgbClr val="7A1C1C"/>
                </a:solidFill>
                <a:latin typeface="Calibri" pitchFamily="34" charset="0"/>
                <a:ea typeface="Calibri" pitchFamily="34" charset="-122"/>
                <a:cs typeface="Calibri" pitchFamily="34" charset="-120"/>
              </a:rPr>
              <a:t>Verify before acting</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Each line reviewed by the owner of the service</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Monthly report shows proven, confirmed and assumed separately</a:t>
            </a:r>
            <a:endParaRPr lang="en-US" sz="1800" dirty="0"/>
          </a:p>
          <a:p>
            <a:pPr marL="342900" indent="-342900">
              <a:spcAft>
                <a:spcPts val="300"/>
              </a:spcAft>
              <a:buSzPct val="100000"/>
              <a:buChar char="•"/>
            </a:pPr>
            <a:r>
              <a:rPr lang="en-US" sz="1800" dirty="0">
                <a:solidFill>
                  <a:srgbClr val="1D2733"/>
                </a:solidFill>
                <a:latin typeface="Calibri" pitchFamily="34" charset="0"/>
                <a:ea typeface="Calibri" pitchFamily="34" charset="-122"/>
                <a:cs typeface="Calibri" pitchFamily="34" charset="-120"/>
              </a:rPr>
              <a:t>New silent or idle servers are caught each cycle</a:t>
            </a:r>
            <a:endParaRPr lang="en-US" sz="1800" dirty="0"/>
          </a:p>
        </p:txBody>
      </p:sp>
      <p:sp>
        <p:nvSpPr>
          <p:cNvPr id="9" name="Shape 7"/>
          <p:cNvSpPr/>
          <p:nvPr/>
        </p:nvSpPr>
        <p:spPr>
          <a:xfrm>
            <a:off x="6263640" y="1417320"/>
            <a:ext cx="5468112" cy="1554480"/>
          </a:xfrm>
          <a:prstGeom prst="roundRect">
            <a:avLst>
              <a:gd name="adj" fmla="val 4706"/>
            </a:avLst>
          </a:prstGeom>
          <a:solidFill>
            <a:srgbClr val="F5F7FA"/>
          </a:solidFill>
          <a:ln w="9525">
            <a:solidFill>
              <a:srgbClr val="CFD6DF"/>
            </a:solidFill>
            <a:prstDash val="solid"/>
          </a:ln>
        </p:spPr>
        <p:txBody>
          <a:bodyPr/>
          <a:lstStyle/>
          <a:p>
            <a:endParaRPr lang="en-IN"/>
          </a:p>
        </p:txBody>
      </p:sp>
      <p:sp>
        <p:nvSpPr>
          <p:cNvPr id="10" name="Text 8"/>
          <p:cNvSpPr txBox="1"/>
          <p:nvPr/>
        </p:nvSpPr>
        <p:spPr>
          <a:xfrm>
            <a:off x="6446520" y="1508760"/>
            <a:ext cx="2468880" cy="594360"/>
          </a:xfrm>
          <a:prstGeom prst="rect">
            <a:avLst/>
          </a:prstGeom>
          <a:noFill/>
          <a:ln/>
        </p:spPr>
        <p:txBody>
          <a:bodyPr wrap="square" lIns="0" tIns="0" rIns="0" bIns="0" rtlCol="0" anchor="ctr"/>
          <a:lstStyle/>
          <a:p>
            <a:pPr marL="0" indent="0">
              <a:buNone/>
            </a:pPr>
            <a:r>
              <a:rPr lang="en-US" sz="3200" b="1" dirty="0">
                <a:solidFill>
                  <a:srgbClr val="7A1C1C"/>
                </a:solidFill>
                <a:latin typeface="Cambria" pitchFamily="34" charset="0"/>
                <a:ea typeface="Cambria" pitchFamily="34" charset="-122"/>
                <a:cs typeface="Cambria" pitchFamily="34" charset="-120"/>
              </a:rPr>
              <a:t>₹44.3K</a:t>
            </a:r>
            <a:endParaRPr lang="en-US" sz="3200" dirty="0"/>
          </a:p>
        </p:txBody>
      </p:sp>
      <p:sp>
        <p:nvSpPr>
          <p:cNvPr id="11" name="Text 9"/>
          <p:cNvSpPr txBox="1"/>
          <p:nvPr/>
        </p:nvSpPr>
        <p:spPr>
          <a:xfrm>
            <a:off x="6446520" y="2103120"/>
            <a:ext cx="2423160" cy="777240"/>
          </a:xfrm>
          <a:prstGeom prst="rect">
            <a:avLst/>
          </a:prstGeom>
          <a:noFill/>
          <a:ln/>
        </p:spPr>
        <p:txBody>
          <a:bodyPr wrap="square" lIns="0" tIns="0" rIns="0" bIns="0" rtlCol="0" anchor="t"/>
          <a:lstStyle/>
          <a:p>
            <a:pPr marL="0" indent="0">
              <a:buNone/>
            </a:pPr>
            <a:r>
              <a:rPr lang="en-US" sz="1600" dirty="0">
                <a:solidFill>
                  <a:srgbClr val="1D2733"/>
                </a:solidFill>
                <a:latin typeface="Calibri" pitchFamily="34" charset="0"/>
                <a:ea typeface="Calibri" pitchFamily="34" charset="-122"/>
                <a:cs typeface="Calibri" pitchFamily="34" charset="-120"/>
              </a:rPr>
              <a:t>a month estimate, plus the monthly cycle</a:t>
            </a:r>
            <a:endParaRPr lang="en-US" sz="1600" dirty="0"/>
          </a:p>
        </p:txBody>
      </p:sp>
      <p:sp>
        <p:nvSpPr>
          <p:cNvPr id="12" name="Text 10"/>
          <p:cNvSpPr txBox="1"/>
          <p:nvPr/>
        </p:nvSpPr>
        <p:spPr>
          <a:xfrm>
            <a:off x="8961120" y="1536192"/>
            <a:ext cx="2697480" cy="1325880"/>
          </a:xfrm>
          <a:prstGeom prst="rect">
            <a:avLst/>
          </a:prstGeom>
          <a:noFill/>
          <a:ln/>
        </p:spPr>
        <p:txBody>
          <a:bodyPr wrap="square" lIns="0" tIns="0" rIns="0" bIns="0" rtlCol="0" anchor="t"/>
          <a:lstStyle/>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Owner: </a:t>
            </a:r>
            <a:r>
              <a:rPr lang="en-US" sz="1600" dirty="0">
                <a:solidFill>
                  <a:srgbClr val="1D2733"/>
                </a:solidFill>
                <a:latin typeface="Calibri" pitchFamily="34" charset="0"/>
                <a:ea typeface="Calibri" pitchFamily="34" charset="-122"/>
                <a:cs typeface="Calibri" pitchFamily="34" charset="-120"/>
              </a:rPr>
              <a:t>Cloud lead + Infra lead</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Risk: </a:t>
            </a:r>
            <a:r>
              <a:rPr lang="en-US" sz="1600" dirty="0">
                <a:solidFill>
                  <a:srgbClr val="1D2733"/>
                </a:solidFill>
                <a:latin typeface="Calibri" pitchFamily="34" charset="0"/>
                <a:ea typeface="Calibri" pitchFamily="34" charset="-122"/>
                <a:cs typeface="Calibri" pitchFamily="34" charset="-120"/>
              </a:rPr>
              <a:t>Low</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Evidence: </a:t>
            </a:r>
            <a:r>
              <a:rPr lang="en-US" sz="1600" dirty="0">
                <a:solidFill>
                  <a:srgbClr val="1D2733"/>
                </a:solidFill>
                <a:latin typeface="Calibri" pitchFamily="34" charset="0"/>
                <a:ea typeface="Calibri" pitchFamily="34" charset="-122"/>
                <a:cs typeface="Calibri" pitchFamily="34" charset="-120"/>
              </a:rPr>
              <a:t>Estimate</a:t>
            </a:r>
            <a:endParaRPr lang="en-US" sz="1600" dirty="0"/>
          </a:p>
          <a:p>
            <a:pPr marL="0" indent="0">
              <a:spcAft>
                <a:spcPts val="200"/>
              </a:spcAft>
              <a:buNone/>
            </a:pPr>
            <a:r>
              <a:rPr lang="en-US" sz="1600" b="1" dirty="0">
                <a:solidFill>
                  <a:srgbClr val="33475B"/>
                </a:solidFill>
                <a:latin typeface="Calibri" pitchFamily="34" charset="0"/>
                <a:ea typeface="Calibri" pitchFamily="34" charset="-122"/>
                <a:cs typeface="Calibri" pitchFamily="34" charset="-120"/>
              </a:rPr>
              <a:t>When: </a:t>
            </a:r>
            <a:r>
              <a:rPr lang="en-US" sz="1600" dirty="0">
                <a:solidFill>
                  <a:srgbClr val="1D2733"/>
                </a:solidFill>
                <a:latin typeface="Calibri" pitchFamily="34" charset="0"/>
                <a:ea typeface="Calibri" pitchFamily="34" charset="-122"/>
                <a:cs typeface="Calibri" pitchFamily="34" charset="-120"/>
              </a:rPr>
              <a:t>From day 90</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263640" y="3154680"/>
          <a:ext cx="5468112" cy="3200400"/>
        </p:xfrm>
        <a:graphic>
          <a:graphicData uri="http://schemas.openxmlformats.org/drawingml/2006/table">
            <a:tbl>
              <a:tblPr/>
              <a:tblGrid>
                <a:gridCol w="3749040">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Service (top 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At stake /mo</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SQL</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₹18.3K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NAT gateways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₹8.5K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application gateways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₹7.3K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Log Analytics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₹3.9K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public IPs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₹3.2K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Azure VPN gateways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r">
                        <a:buNone/>
                      </a:pPr>
                      <a:r>
                        <a:rPr lang="en-US" sz="1600" dirty="0">
                          <a:solidFill>
                            <a:srgbClr val="1D2733"/>
                          </a:solidFill>
                          <a:latin typeface="Calibri" pitchFamily="34" charset="0"/>
                          <a:ea typeface="Calibri" pitchFamily="34" charset="-122"/>
                          <a:cs typeface="Calibri" pitchFamily="34" charset="-120"/>
                        </a:rPr>
                        <a:t>₹1.7K</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Who confirms what, and by when</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4517136"/>
        </p:xfrm>
        <a:graphic>
          <a:graphicData uri="http://schemas.openxmlformats.org/drawingml/2006/table">
            <a:tbl>
              <a:tblPr/>
              <a:tblGrid>
                <a:gridCol w="25146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4572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Owner</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Confirms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By when</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33475B"/>
                    </a:solidFill>
                  </a:tcPr>
                </a:tc>
                <a:extLst>
                  <a:ext uri="{0D108BD9-81ED-4DB2-BD59-A6C34878D82A}">
                    <a16:rowId xmlns:a16="http://schemas.microsoft.com/office/drawing/2014/main" val="10000"/>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Infra lead</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Old Azure side of 4 servers (₹2.01 L); backups of retired servers; backup retention</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Day 30; retention day 90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Procurement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Missing 40% discount (₹89.3K); whether stopped test servers bill less; WebberStop quote for moves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Day 30; quote day 30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DevOps, with app owners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Silent servers (₹1.26 L), IPs, capacity fixes, monitoring, Kubernetes breakdown; then idle (₹2.34 L), right-sizing, disks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Day 30; Step 2 by day 90</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DBA</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SQL memory cap, database right-sizing, hot database servers, re-platforming (with app owners)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Days 30–90; re-platform by month 6</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Cloud lead, with app owners</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Reservations, trims, first 3 moves (₹2.52 L estimate), then remaining moves and tuning</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Day 90; month 6; monthly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6656">
                <a:tc>
                  <a:txBody>
                    <a:bodyPr/>
                    <a:lstStyle/>
                    <a:p>
                      <a:pPr marL="0" indent="0" algn="l">
                        <a:buNone/>
                      </a:pPr>
                      <a:r>
                        <a:rPr lang="en-US" sz="1600" b="1" dirty="0">
                          <a:solidFill>
                            <a:srgbClr val="1D2733"/>
                          </a:solidFill>
                          <a:latin typeface="Calibri" pitchFamily="34" charset="0"/>
                          <a:ea typeface="Calibri" pitchFamily="34" charset="-122"/>
                          <a:cs typeface="Calibri" pitchFamily="34" charset="-120"/>
                        </a:rPr>
                        <a:t>Legal + Security</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Data-location and contract sign-off before any workload moves (ABHA first)</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tc>
                  <a:txBody>
                    <a:bodyPr/>
                    <a:lstStyle/>
                    <a:p>
                      <a:pPr marL="0" indent="0" algn="l">
                        <a:buNone/>
                      </a:pPr>
                      <a:r>
                        <a:rPr lang="en-US" sz="1600" dirty="0">
                          <a:solidFill>
                            <a:srgbClr val="1D2733"/>
                          </a:solidFill>
                          <a:latin typeface="Calibri" pitchFamily="34" charset="0"/>
                          <a:ea typeface="Calibri" pitchFamily="34" charset="-122"/>
                          <a:cs typeface="Calibri" pitchFamily="34" charset="-120"/>
                        </a:rPr>
                        <a:t>Review starts week 1; clear by day 45</a:t>
                      </a:r>
                      <a:endParaRPr lang="en-US" sz="1600" dirty="0">
                        <a:latin typeface="Calibri" charset="0"/>
                        <a:ea typeface="Calibri" charset="0"/>
                        <a:cs typeface="Calibri" charset="0"/>
                      </a:endParaRPr>
                    </a:p>
                  </a:txBody>
                  <a:tcPr marL="73152" marR="73152" marT="27432" marB="27432" anchor="ctr">
                    <a:lnL w="9525" cap="flat" cmpd="sng" algn="ctr">
                      <a:solidFill>
                        <a:srgbClr val="CFD6DF"/>
                      </a:solidFill>
                      <a:prstDash val="solid"/>
                      <a:round/>
                      <a:headEnd type="none" w="med" len="med"/>
                      <a:tailEnd type="none" w="med" len="med"/>
                    </a:lnL>
                    <a:lnR w="9525" cap="flat" cmpd="sng" algn="ctr">
                      <a:solidFill>
                        <a:srgbClr val="CFD6DF"/>
                      </a:solidFill>
                      <a:prstDash val="solid"/>
                      <a:round/>
                      <a:headEnd type="none" w="med" len="med"/>
                      <a:tailEnd type="none" w="med" len="med"/>
                    </a:lnR>
                    <a:lnT w="9525" cap="flat" cmpd="sng" algn="ctr">
                      <a:solidFill>
                        <a:srgbClr val="CFD6DF"/>
                      </a:solidFill>
                      <a:prstDash val="solid"/>
                      <a:round/>
                      <a:headEnd type="none" w="med" len="med"/>
                      <a:tailEnd type="none" w="med" len="med"/>
                    </a:lnT>
                    <a:lnB w="9525" cap="flat" cmpd="sng" algn="ctr">
                      <a:solidFill>
                        <a:srgbClr val="CFD6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5989320"/>
            <a:ext cx="11274552" cy="320040"/>
          </a:xfrm>
          <a:prstGeom prst="rect">
            <a:avLst/>
          </a:prstGeom>
          <a:noFill/>
          <a:ln/>
        </p:spPr>
        <p:txBody>
          <a:bodyPr wrap="square" lIns="0" tIns="0" rIns="0" bIns="0" rtlCol="0" anchor="ctr"/>
          <a:lstStyle/>
          <a:p>
            <a:pPr marL="0" indent="0">
              <a:buNone/>
            </a:pPr>
            <a:r>
              <a:rPr lang="en-US" sz="1600" dirty="0">
                <a:solidFill>
                  <a:srgbClr val="556273"/>
                </a:solidFill>
                <a:latin typeface="Calibri" pitchFamily="34" charset="0"/>
                <a:ea typeface="Calibri" pitchFamily="34" charset="-122"/>
                <a:cs typeface="Calibri" pitchFamily="34" charset="-120"/>
              </a:rPr>
              <a:t>Owners are the roles named in the plan. Days count from approval of this plan.</a:t>
            </a:r>
            <a:endParaRPr lang="en-US" sz="16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11274552" cy="777240"/>
          </a:xfrm>
          <a:prstGeom prst="rect">
            <a:avLst/>
          </a:prstGeom>
          <a:noFill/>
          <a:ln/>
        </p:spPr>
        <p:txBody>
          <a:bodyPr wrap="square" lIns="0" tIns="0" rIns="0" bIns="0" rtlCol="0" anchor="ctr"/>
          <a:lstStyle/>
          <a:p>
            <a:pPr marL="0" indent="0" algn="l">
              <a:buNone/>
            </a:pPr>
            <a:r>
              <a:rPr lang="en-US" sz="3000" b="1" dirty="0">
                <a:solidFill>
                  <a:srgbClr val="33475B"/>
                </a:solidFill>
                <a:latin typeface="Cambria" pitchFamily="34" charset="0"/>
                <a:ea typeface="Cambria" pitchFamily="34" charset="-122"/>
                <a:cs typeface="Cambria" pitchFamily="34" charset="-120"/>
              </a:rPr>
              <a:t>What we need from management this week</a:t>
            </a:r>
            <a:endParaRPr lang="en-US" sz="3000" dirty="0"/>
          </a:p>
        </p:txBody>
      </p:sp>
      <p:sp>
        <p:nvSpPr>
          <p:cNvPr id="3" name="Shape 1"/>
          <p:cNvSpPr/>
          <p:nvPr/>
        </p:nvSpPr>
        <p:spPr>
          <a:xfrm>
            <a:off x="457200" y="1444752"/>
            <a:ext cx="640080" cy="640080"/>
          </a:xfrm>
          <a:prstGeom prst="ellipse">
            <a:avLst/>
          </a:prstGeom>
          <a:solidFill>
            <a:srgbClr val="7A1C1C"/>
          </a:solidFill>
          <a:ln w="12700">
            <a:solidFill>
              <a:srgbClr val="7A1C1C"/>
            </a:solidFill>
            <a:prstDash val="solid"/>
          </a:ln>
        </p:spPr>
        <p:txBody>
          <a:bodyPr/>
          <a:lstStyle/>
          <a:p>
            <a:endParaRPr lang="en-IN"/>
          </a:p>
        </p:txBody>
      </p:sp>
      <p:sp>
        <p:nvSpPr>
          <p:cNvPr id="4" name="Text 2"/>
          <p:cNvSpPr txBox="1"/>
          <p:nvPr/>
        </p:nvSpPr>
        <p:spPr>
          <a:xfrm>
            <a:off x="457200" y="1444752"/>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325880" y="1371600"/>
            <a:ext cx="10332720" cy="365760"/>
          </a:xfrm>
          <a:prstGeom prst="rect">
            <a:avLst/>
          </a:prstGeom>
          <a:noFill/>
          <a:ln/>
        </p:spPr>
        <p:txBody>
          <a:bodyPr wrap="square" lIns="0" tIns="0" rIns="0" bIns="0" rtlCol="0" anchor="ctr"/>
          <a:lstStyle/>
          <a:p>
            <a:pPr marL="0" indent="0">
              <a:buNone/>
            </a:pPr>
            <a:r>
              <a:rPr lang="en-US" sz="2000" b="1" dirty="0">
                <a:solidFill>
                  <a:srgbClr val="33475B"/>
                </a:solidFill>
                <a:latin typeface="Calibri" pitchFamily="34" charset="0"/>
                <a:ea typeface="Calibri" pitchFamily="34" charset="-122"/>
                <a:cs typeface="Calibri" pitchFamily="34" charset="-120"/>
              </a:rPr>
              <a:t>Mandate the owners to answer within 14 days</a:t>
            </a:r>
            <a:endParaRPr lang="en-US" sz="2000" dirty="0"/>
          </a:p>
        </p:txBody>
      </p:sp>
      <p:sp>
        <p:nvSpPr>
          <p:cNvPr id="6" name="Text 4"/>
          <p:cNvSpPr txBox="1"/>
          <p:nvPr/>
        </p:nvSpPr>
        <p:spPr>
          <a:xfrm>
            <a:off x="1325880" y="1755648"/>
            <a:ext cx="10332720" cy="530352"/>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Step 1 and 2 owners confirm or reject each action. Proven today: ₹24.8K; up to ₹7.7 L more depends on their answers.</a:t>
            </a:r>
            <a:endParaRPr lang="en-US" sz="1800" dirty="0"/>
          </a:p>
        </p:txBody>
      </p:sp>
      <p:sp>
        <p:nvSpPr>
          <p:cNvPr id="7" name="Shape 5"/>
          <p:cNvSpPr/>
          <p:nvPr/>
        </p:nvSpPr>
        <p:spPr>
          <a:xfrm>
            <a:off x="457200" y="2395728"/>
            <a:ext cx="640080" cy="640080"/>
          </a:xfrm>
          <a:prstGeom prst="ellipse">
            <a:avLst/>
          </a:prstGeom>
          <a:solidFill>
            <a:srgbClr val="7A1C1C"/>
          </a:solidFill>
          <a:ln w="12700">
            <a:solidFill>
              <a:srgbClr val="7A1C1C"/>
            </a:solidFill>
            <a:prstDash val="solid"/>
          </a:ln>
        </p:spPr>
        <p:txBody>
          <a:bodyPr/>
          <a:lstStyle/>
          <a:p>
            <a:endParaRPr lang="en-IN"/>
          </a:p>
        </p:txBody>
      </p:sp>
      <p:sp>
        <p:nvSpPr>
          <p:cNvPr id="8" name="Text 6"/>
          <p:cNvSpPr txBox="1"/>
          <p:nvPr/>
        </p:nvSpPr>
        <p:spPr>
          <a:xfrm>
            <a:off x="457200" y="2395728"/>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9" name="Text 7"/>
          <p:cNvSpPr txBox="1"/>
          <p:nvPr/>
        </p:nvSpPr>
        <p:spPr>
          <a:xfrm>
            <a:off x="1325880" y="2322576"/>
            <a:ext cx="10332720" cy="365760"/>
          </a:xfrm>
          <a:prstGeom prst="rect">
            <a:avLst/>
          </a:prstGeom>
          <a:noFill/>
          <a:ln/>
        </p:spPr>
        <p:txBody>
          <a:bodyPr wrap="square" lIns="0" tIns="0" rIns="0" bIns="0" rtlCol="0" anchor="ctr"/>
          <a:lstStyle/>
          <a:p>
            <a:pPr marL="0" indent="0">
              <a:buNone/>
            </a:pPr>
            <a:r>
              <a:rPr lang="en-US" sz="2000" b="1" dirty="0">
                <a:solidFill>
                  <a:srgbClr val="33475B"/>
                </a:solidFill>
                <a:latin typeface="Calibri" pitchFamily="34" charset="0"/>
                <a:ea typeface="Calibri" pitchFamily="34" charset="-122"/>
                <a:cs typeface="Calibri" pitchFamily="34" charset="-120"/>
              </a:rPr>
              <a:t>Authorise two requests to WebberStop</a:t>
            </a:r>
            <a:endParaRPr lang="en-US" sz="2000" dirty="0"/>
          </a:p>
        </p:txBody>
      </p:sp>
      <p:sp>
        <p:nvSpPr>
          <p:cNvPr id="10" name="Text 8"/>
          <p:cNvSpPr txBox="1"/>
          <p:nvPr/>
        </p:nvSpPr>
        <p:spPr>
          <a:xfrm>
            <a:off x="1325880" y="2706624"/>
            <a:ext cx="10332720" cy="530352"/>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The missing 40% discount, and a quote for the six workloads that could move (₹3.26 L estimate), with the first three by day 90.</a:t>
            </a:r>
            <a:endParaRPr lang="en-US" sz="1800" dirty="0"/>
          </a:p>
        </p:txBody>
      </p:sp>
      <p:sp>
        <p:nvSpPr>
          <p:cNvPr id="11" name="Shape 9"/>
          <p:cNvSpPr/>
          <p:nvPr/>
        </p:nvSpPr>
        <p:spPr>
          <a:xfrm>
            <a:off x="457200" y="3346704"/>
            <a:ext cx="640080" cy="640080"/>
          </a:xfrm>
          <a:prstGeom prst="ellipse">
            <a:avLst/>
          </a:prstGeom>
          <a:solidFill>
            <a:srgbClr val="7A1C1C"/>
          </a:solidFill>
          <a:ln w="12700">
            <a:solidFill>
              <a:srgbClr val="7A1C1C"/>
            </a:solidFill>
            <a:prstDash val="solid"/>
          </a:ln>
        </p:spPr>
        <p:txBody>
          <a:bodyPr/>
          <a:lstStyle/>
          <a:p>
            <a:endParaRPr lang="en-IN"/>
          </a:p>
        </p:txBody>
      </p:sp>
      <p:sp>
        <p:nvSpPr>
          <p:cNvPr id="12" name="Text 10"/>
          <p:cNvSpPr txBox="1"/>
          <p:nvPr/>
        </p:nvSpPr>
        <p:spPr>
          <a:xfrm>
            <a:off x="457200" y="3346704"/>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3" name="Text 11"/>
          <p:cNvSpPr txBox="1"/>
          <p:nvPr/>
        </p:nvSpPr>
        <p:spPr>
          <a:xfrm>
            <a:off x="1325880" y="3273552"/>
            <a:ext cx="10332720" cy="365760"/>
          </a:xfrm>
          <a:prstGeom prst="rect">
            <a:avLst/>
          </a:prstGeom>
          <a:noFill/>
          <a:ln/>
        </p:spPr>
        <p:txBody>
          <a:bodyPr wrap="square" lIns="0" tIns="0" rIns="0" bIns="0" rtlCol="0" anchor="ctr"/>
          <a:lstStyle/>
          <a:p>
            <a:pPr marL="0" indent="0">
              <a:buNone/>
            </a:pPr>
            <a:r>
              <a:rPr lang="en-US" sz="2000" b="1" dirty="0">
                <a:solidFill>
                  <a:srgbClr val="33475B"/>
                </a:solidFill>
                <a:latin typeface="Calibri" pitchFamily="34" charset="0"/>
                <a:ea typeface="Calibri" pitchFamily="34" charset="-122"/>
                <a:cs typeface="Calibri" pitchFamily="34" charset="-120"/>
              </a:rPr>
              <a:t>Start the legal and security review now</a:t>
            </a:r>
            <a:endParaRPr lang="en-US" sz="2000" dirty="0"/>
          </a:p>
        </p:txBody>
      </p:sp>
      <p:sp>
        <p:nvSpPr>
          <p:cNvPr id="14" name="Text 12"/>
          <p:cNvSpPr txBox="1"/>
          <p:nvPr/>
        </p:nvSpPr>
        <p:spPr>
          <a:xfrm>
            <a:off x="1325880" y="3657600"/>
            <a:ext cx="10332720" cy="530352"/>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Data location and customer contracts, before any workload moves. ABHA is the first flagged as regulated.</a:t>
            </a:r>
            <a:endParaRPr lang="en-US" sz="1800" dirty="0"/>
          </a:p>
        </p:txBody>
      </p:sp>
      <p:sp>
        <p:nvSpPr>
          <p:cNvPr id="15" name="Shape 13"/>
          <p:cNvSpPr/>
          <p:nvPr/>
        </p:nvSpPr>
        <p:spPr>
          <a:xfrm>
            <a:off x="457200" y="4297680"/>
            <a:ext cx="640080" cy="640080"/>
          </a:xfrm>
          <a:prstGeom prst="ellipse">
            <a:avLst/>
          </a:prstGeom>
          <a:solidFill>
            <a:srgbClr val="7A1C1C"/>
          </a:solidFill>
          <a:ln w="12700">
            <a:solidFill>
              <a:srgbClr val="7A1C1C"/>
            </a:solidFill>
            <a:prstDash val="solid"/>
          </a:ln>
        </p:spPr>
        <p:txBody>
          <a:bodyPr/>
          <a:lstStyle/>
          <a:p>
            <a:endParaRPr lang="en-IN"/>
          </a:p>
        </p:txBody>
      </p:sp>
      <p:sp>
        <p:nvSpPr>
          <p:cNvPr id="16" name="Text 14"/>
          <p:cNvSpPr txBox="1"/>
          <p:nvPr/>
        </p:nvSpPr>
        <p:spPr>
          <a:xfrm>
            <a:off x="457200" y="429768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7" name="Text 15"/>
          <p:cNvSpPr txBox="1"/>
          <p:nvPr/>
        </p:nvSpPr>
        <p:spPr>
          <a:xfrm>
            <a:off x="1325880" y="4224528"/>
            <a:ext cx="10332720" cy="365760"/>
          </a:xfrm>
          <a:prstGeom prst="rect">
            <a:avLst/>
          </a:prstGeom>
          <a:noFill/>
          <a:ln/>
        </p:spPr>
        <p:txBody>
          <a:bodyPr wrap="square" lIns="0" tIns="0" rIns="0" bIns="0" rtlCol="0" anchor="ctr"/>
          <a:lstStyle/>
          <a:p>
            <a:pPr marL="0" indent="0">
              <a:buNone/>
            </a:pPr>
            <a:r>
              <a:rPr lang="en-US" sz="2000" b="1" dirty="0">
                <a:solidFill>
                  <a:srgbClr val="33475B"/>
                </a:solidFill>
                <a:latin typeface="Calibri" pitchFamily="34" charset="0"/>
                <a:ea typeface="Calibri" pitchFamily="34" charset="-122"/>
                <a:cs typeface="Calibri" pitchFamily="34" charset="-120"/>
              </a:rPr>
              <a:t>Set aside budget for capacity fixes</a:t>
            </a:r>
            <a:endParaRPr lang="en-US" sz="2000" dirty="0"/>
          </a:p>
        </p:txBody>
      </p:sp>
      <p:sp>
        <p:nvSpPr>
          <p:cNvPr id="18" name="Text 16"/>
          <p:cNvSpPr txBox="1"/>
          <p:nvPr/>
        </p:nvSpPr>
        <p:spPr>
          <a:xfrm>
            <a:off x="1325880" y="4608576"/>
            <a:ext cx="10332720" cy="530352"/>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19 servers are short of CPU, memory or disk. DevOps and DBA to size the amount in week 1.</a:t>
            </a:r>
            <a:endParaRPr lang="en-US" sz="1800" dirty="0"/>
          </a:p>
        </p:txBody>
      </p:sp>
      <p:sp>
        <p:nvSpPr>
          <p:cNvPr id="19" name="Shape 17"/>
          <p:cNvSpPr/>
          <p:nvPr/>
        </p:nvSpPr>
        <p:spPr>
          <a:xfrm>
            <a:off x="457200" y="5248656"/>
            <a:ext cx="640080" cy="640080"/>
          </a:xfrm>
          <a:prstGeom prst="ellipse">
            <a:avLst/>
          </a:prstGeom>
          <a:solidFill>
            <a:srgbClr val="7A1C1C"/>
          </a:solidFill>
          <a:ln w="12700">
            <a:solidFill>
              <a:srgbClr val="7A1C1C"/>
            </a:solidFill>
            <a:prstDash val="solid"/>
          </a:ln>
        </p:spPr>
        <p:txBody>
          <a:bodyPr/>
          <a:lstStyle/>
          <a:p>
            <a:endParaRPr lang="en-IN"/>
          </a:p>
        </p:txBody>
      </p:sp>
      <p:sp>
        <p:nvSpPr>
          <p:cNvPr id="20" name="Text 18"/>
          <p:cNvSpPr txBox="1"/>
          <p:nvPr/>
        </p:nvSpPr>
        <p:spPr>
          <a:xfrm>
            <a:off x="457200" y="5248656"/>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21" name="Text 19"/>
          <p:cNvSpPr txBox="1"/>
          <p:nvPr/>
        </p:nvSpPr>
        <p:spPr>
          <a:xfrm>
            <a:off x="1325880" y="5175504"/>
            <a:ext cx="10332720" cy="365760"/>
          </a:xfrm>
          <a:prstGeom prst="rect">
            <a:avLst/>
          </a:prstGeom>
          <a:noFill/>
          <a:ln/>
        </p:spPr>
        <p:txBody>
          <a:bodyPr wrap="square" lIns="0" tIns="0" rIns="0" bIns="0" rtlCol="0" anchor="ctr"/>
          <a:lstStyle/>
          <a:p>
            <a:pPr marL="0" indent="0">
              <a:buNone/>
            </a:pPr>
            <a:r>
              <a:rPr lang="en-US" sz="2000" b="1" dirty="0">
                <a:solidFill>
                  <a:srgbClr val="33475B"/>
                </a:solidFill>
                <a:latin typeface="Calibri" pitchFamily="34" charset="0"/>
                <a:ea typeface="Calibri" pitchFamily="34" charset="-122"/>
                <a:cs typeface="Calibri" pitchFamily="34" charset="-120"/>
              </a:rPr>
              <a:t>Review progress at day 30 and day 90</a:t>
            </a:r>
            <a:endParaRPr lang="en-US" sz="2000" dirty="0"/>
          </a:p>
        </p:txBody>
      </p:sp>
      <p:sp>
        <p:nvSpPr>
          <p:cNvPr id="22" name="Text 20"/>
          <p:cNvSpPr txBox="1"/>
          <p:nvPr/>
        </p:nvSpPr>
        <p:spPr>
          <a:xfrm>
            <a:off x="1325880" y="5559552"/>
            <a:ext cx="10332720" cy="530352"/>
          </a:xfrm>
          <a:prstGeom prst="rect">
            <a:avLst/>
          </a:prstGeom>
          <a:noFill/>
          <a:ln/>
        </p:spPr>
        <p:txBody>
          <a:bodyPr wrap="square" lIns="0" tIns="0" rIns="0" bIns="0" rtlCol="0" anchor="t"/>
          <a:lstStyle/>
          <a:p>
            <a:pPr marL="0" indent="0">
              <a:buNone/>
            </a:pPr>
            <a:r>
              <a:rPr lang="en-US" sz="1800" dirty="0">
                <a:solidFill>
                  <a:srgbClr val="1D2733"/>
                </a:solidFill>
                <a:latin typeface="Calibri" pitchFamily="34" charset="0"/>
                <a:ea typeface="Calibri" pitchFamily="34" charset="-122"/>
                <a:cs typeface="Calibri" pitchFamily="34" charset="-120"/>
              </a:rPr>
              <a:t>Report proven, confirmed and assumed savings separately against the 15–20% goal (₹10.2 L to ₹13.6 L a month).</a:t>
            </a:r>
            <a:endParaRPr lang="en-US" sz="1800" dirty="0"/>
          </a:p>
        </p:txBody>
      </p:sp>
      <p:sp>
        <p:nvSpPr>
          <p:cNvPr id="25" name="Slide Number Placeholder 0"/>
          <p:cNvSpPr>
            <a:spLocks noGrp="1"/>
          </p:cNvSpPr>
          <p:nvPr>
            <p:ph type="sldNum" sz="quarter" idx="4294967295"/>
          </p:nvPr>
        </p:nvSpPr>
        <p:spPr>
          <a:xfrm>
            <a:off x="10817352" y="6382512"/>
            <a:ext cx="914400" cy="347472"/>
          </a:xfrm>
          <a:prstGeom prst="rect">
            <a:avLst/>
          </a:prstGeom>
          <a:extLst>
            <a:ext uri="{C572A759-6A51-4108-AA02-DFA0A04FC94B}">
              <ma14:wrappingTextBoxFlag xmlns:ma14="http://schemas.microsoft.com/office/mac/drawingml/2011/main" xmlns="" val="0"/>
            </a:ext>
          </a:extLst>
        </p:spPr>
        <p:txBody>
          <a:bodyPr/>
          <a:lstStyle>
            <a:lvl1pPr>
              <a:defRPr sz="1600">
                <a:solidFill>
                  <a:srgbClr val="556273"/>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5044</Words>
  <Application>Microsoft Office PowerPoint</Application>
  <PresentationFormat>Widescreen</PresentationFormat>
  <Paragraphs>826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Cloud spend is ₹68.1 L a month, up 9% since April</vt:lpstr>
      <vt:lpstr>WebberStop drives the rise, led by Kubernetes and GPU charges</vt:lpstr>
      <vt:lpstr>Paid capacity is mostly idle: servers use 8% of billed vCPU</vt:lpstr>
      <vt:lpstr>How firm each number is</vt:lpstr>
      <vt:lpstr>The 90-day target: up to ₹14.7 L a month, 22% of spend</vt:lpstr>
      <vt:lpstr>The roadmap: quick wins first, then size, then move</vt:lpstr>
      <vt:lpstr>Step 1 · Quick wins and urgent fixes</vt:lpstr>
      <vt:lpstr>Step 2 · Switch off, right-size and tune</vt:lpstr>
      <vt:lpstr>Step 3 · Move Azure workloads to WebberStop</vt:lpstr>
      <vt:lpstr>Step 4 · Keep improving</vt:lpstr>
      <vt:lpstr>Switch off the old Azure side of moved servers</vt:lpstr>
      <vt:lpstr>Confirm silent servers, then stop paying for them</vt:lpstr>
      <vt:lpstr>Ask WebberStop for the missing 40% discount</vt:lpstr>
      <vt:lpstr>Release unused IPs and charges for retired servers</vt:lpstr>
      <vt:lpstr>Fix servers short of CPU, memory or disk</vt:lpstr>
      <vt:lpstr>Put monitoring on billed servers nobody measures</vt:lpstr>
      <vt:lpstr>Explain Kubernetes growth and curb idle workloads</vt:lpstr>
      <vt:lpstr>Switch off servers that are almost unused</vt:lpstr>
      <vt:lpstr>Right-size servers whose load allows a smaller size</vt:lpstr>
      <vt:lpstr>Shrink over-provisioned disks</vt:lpstr>
      <vt:lpstr>Reserve and trim what stays on Azure and in backup</vt:lpstr>
      <vt:lpstr>Move Azure workloads to WebberStop</vt:lpstr>
      <vt:lpstr>Before more workloads can move</vt:lpstr>
      <vt:lpstr>Tune the rest, and re-run the analysis monthly</vt:lpstr>
      <vt:lpstr>Who confirms what, and by when</vt:lpstr>
      <vt:lpstr>What we need from management this week</vt:lpstr>
    </vt:vector>
  </TitlesOfParts>
  <Company>MARG ERP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MARG cloud cost management plan</dc:title>
  <dc:subject>PptxGenJS Presentation</dc:subject>
  <dc:creator>Ram Nagaraja</dc:creator>
  <cp:lastModifiedBy>Ram Nagaraja</cp:lastModifiedBy>
  <cp:revision>2</cp:revision>
  <dcterms:created xsi:type="dcterms:W3CDTF">2026-10-20T10:01:26Z</dcterms:created>
  <dcterms:modified xsi:type="dcterms:W3CDTF">2026-10-20T10:05:14Z</dcterms:modified>
</cp:coreProperties>
</file>